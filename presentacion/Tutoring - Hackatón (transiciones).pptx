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6896873ebdf948cf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h6896873ebdf948cf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h6896873ebdf948cf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6896873ebdf948cf_3_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h6896873ebdf948cf_3_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h6896873ebdf948cf_3_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6896873ebdf948cf_3_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h6896873ebdf948cf_3_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h6896873ebdf948cf_3_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21ad73a8f27f1363_11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h21ad73a8f27f1363_11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h21ad73a8f27f1363_11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896873ebdf948cf_3_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h6896873ebdf948cf_3_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h6896873ebdf948cf_3_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6896873ebdf948cf_3_10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h6896873ebdf948cf_3_10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6896873ebdf948cf_3_10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6896873ebdf948cf_3_1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h6896873ebdf948cf_3_1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h6896873ebdf948cf_3_1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6896873ebdf948cf_3_1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h6896873ebdf948cf_3_1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6896873ebdf948cf_3_1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6896873ebdf948cf_3_1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h6896873ebdf948cf_3_1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h6896873ebdf948cf_3_1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6896873ebdf948cf_3_2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h6896873ebdf948cf_3_2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h6896873ebdf948cf_3_2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6896873ebdf948cf_3_18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h6896873ebdf948cf_3_18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6896873ebdf948cf_3_18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_center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claude-0/-home-claude/d13c7265-f088-5db4-933a-3af5cafd5191/scratchpad/deck/img/orb.png" id="58" name="Google Shape;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4576" y="240030"/>
            <a:ext cx="2674620" cy="267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5" title="8534af61-0c6f-4bb3-b590-06383b5f0d53-Photoroom.png"/>
          <p:cNvPicPr preferRelativeResize="0"/>
          <p:nvPr/>
        </p:nvPicPr>
        <p:blipFill rotWithShape="1">
          <a:blip r:embed="rId5">
            <a:alphaModFix/>
          </a:blip>
          <a:srcRect b="4053" l="0" r="0" t="4053"/>
          <a:stretch/>
        </p:blipFill>
        <p:spPr>
          <a:xfrm>
            <a:off x="2866847" y="2811881"/>
            <a:ext cx="905049" cy="9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3771900" y="2948940"/>
            <a:ext cx="274320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4100"/>
              <a:buFont typeface="Arial"/>
              <a:buNone/>
            </a:pPr>
            <a:r>
              <a:rPr b="1" i="0" lang="es-419" sz="41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Tutoring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0" y="3737610"/>
            <a:ext cx="914377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Simulaciones por voz · Mentor de 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0" y="4629150"/>
            <a:ext cx="914377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900"/>
              <a:buFont typeface="Arial"/>
              <a:buNone/>
            </a:pPr>
            <a:r>
              <a:rPr b="0" i="0" lang="es-419" sz="9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Hackathon · Inserción laboral junior · San Miguel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.png" id="68" name="Google Shape;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/>
        </p:nvSpPr>
        <p:spPr>
          <a:xfrm>
            <a:off x="519565" y="994515"/>
            <a:ext cx="43890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12000"/>
              <a:buFont typeface="Arial"/>
              <a:buNone/>
            </a:pPr>
            <a:r>
              <a:rPr b="1" i="0" lang="es-419" sz="12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519565" y="2709015"/>
            <a:ext cx="4251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2400"/>
              <a:buFont typeface="Arial"/>
              <a:buNone/>
            </a:pPr>
            <a:r>
              <a:rPr b="1" i="0" lang="es-419" sz="2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de las tareas base de un junior hoy las resuelve la 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486400" y="1200150"/>
            <a:ext cx="3086100" cy="1200150"/>
          </a:xfrm>
          <a:prstGeom prst="roundRect">
            <a:avLst>
              <a:gd fmla="val 9143" name="adj"/>
            </a:avLst>
          </a:prstGeom>
          <a:solidFill>
            <a:srgbClr val="FBFAFD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5726430" y="1577340"/>
            <a:ext cx="425196" cy="425196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8477" y="167938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6309360" y="1453896"/>
            <a:ext cx="21259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Un junior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309360" y="1748790"/>
            <a:ext cx="21259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2600"/>
              <a:buFont typeface="Arial"/>
              <a:buNone/>
            </a:pPr>
            <a:r>
              <a:rPr b="1" i="0" lang="es-419" sz="26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1 semana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486400" y="2640330"/>
            <a:ext cx="3086100" cy="1200150"/>
          </a:xfrm>
          <a:prstGeom prst="roundRect">
            <a:avLst>
              <a:gd fmla="val 9143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5726430" y="3017520"/>
            <a:ext cx="425196" cy="425196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8477" y="311956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6309360" y="2894076"/>
            <a:ext cx="21259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La 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6309360" y="3188970"/>
            <a:ext cx="21259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2600"/>
              <a:buFont typeface="Arial"/>
              <a:buNone/>
            </a:pPr>
            <a:r>
              <a:rPr b="1" i="0" lang="es-419" sz="26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minutos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.png"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48640" y="48006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2900"/>
              <a:buFont typeface="Arial"/>
              <a:buNone/>
            </a:pPr>
            <a:r>
              <a:rPr b="1" i="0" lang="es-419" sz="29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Un círculo que nadie rompe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1371600" y="1303020"/>
            <a:ext cx="2674620" cy="10287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1371600" y="1474470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Sin experiencia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371600" y="1817370"/>
            <a:ext cx="26746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no te contratan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095494" y="1303020"/>
            <a:ext cx="2674620" cy="10287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5095494" y="1474470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Sin contratación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5095494" y="1817370"/>
            <a:ext cx="26746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no hay experiencia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17"/>
          <p:cNvCxnSpPr/>
          <p:nvPr/>
        </p:nvCxnSpPr>
        <p:spPr>
          <a:xfrm>
            <a:off x="4149090" y="1577340"/>
            <a:ext cx="843534" cy="0"/>
          </a:xfrm>
          <a:prstGeom prst="straightConnector1">
            <a:avLst/>
          </a:prstGeom>
          <a:noFill/>
          <a:ln cap="flat" cmpd="sng" w="31750">
            <a:solidFill>
              <a:srgbClr val="6E52B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p17"/>
          <p:cNvCxnSpPr/>
          <p:nvPr/>
        </p:nvCxnSpPr>
        <p:spPr>
          <a:xfrm>
            <a:off x="4149090" y="2057400"/>
            <a:ext cx="843534" cy="0"/>
          </a:xfrm>
          <a:prstGeom prst="straightConnector1">
            <a:avLst/>
          </a:prstGeom>
          <a:noFill/>
          <a:ln cap="flat" cmpd="sng" w="31750">
            <a:solidFill>
              <a:srgbClr val="6E52B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6" name="Google Shape;96;p17"/>
          <p:cNvSpPr/>
          <p:nvPr/>
        </p:nvSpPr>
        <p:spPr>
          <a:xfrm>
            <a:off x="548640" y="2948940"/>
            <a:ext cx="2571750" cy="1508760"/>
          </a:xfrm>
          <a:prstGeom prst="roundRect">
            <a:avLst>
              <a:gd fmla="val 7273" name="adj"/>
            </a:avLst>
          </a:prstGeom>
          <a:solidFill>
            <a:srgbClr val="FBFAFD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788670" y="3154680"/>
            <a:ext cx="425196" cy="425196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717" y="325672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1337310" y="3236976"/>
            <a:ext cx="16459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788670" y="3737610"/>
            <a:ext cx="212598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Contratar sin experiencia es un riesgo.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271266" y="2948940"/>
            <a:ext cx="2571750" cy="1508760"/>
          </a:xfrm>
          <a:prstGeom prst="roundRect">
            <a:avLst>
              <a:gd fmla="val 7273" name="adj"/>
            </a:avLst>
          </a:prstGeom>
          <a:solidFill>
            <a:srgbClr val="FBFAFD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3511296" y="3154680"/>
            <a:ext cx="425196" cy="425196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3343" y="325672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4059936" y="3236976"/>
            <a:ext cx="16459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Estudiante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511296" y="3737610"/>
            <a:ext cx="212598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Nadie le da la primera oportunidad.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993892" y="2948940"/>
            <a:ext cx="2571750" cy="1508760"/>
          </a:xfrm>
          <a:prstGeom prst="roundRect">
            <a:avLst>
              <a:gd fmla="val 7273" name="adj"/>
            </a:avLst>
          </a:prstGeom>
          <a:solidFill>
            <a:srgbClr val="FBFAFD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233922" y="3154680"/>
            <a:ext cx="425196" cy="425196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5969" y="325672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6782562" y="3236976"/>
            <a:ext cx="16459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Senior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233922" y="3737610"/>
            <a:ext cx="212598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Formar le quita tiempo que no tiene.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.png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812" y="0"/>
            <a:ext cx="914377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548640" y="411480"/>
            <a:ext cx="2057400" cy="315468"/>
          </a:xfrm>
          <a:prstGeom prst="roundRect">
            <a:avLst>
              <a:gd fmla="val 50000" name="adj"/>
            </a:avLst>
          </a:prstGeom>
          <a:solidFill>
            <a:srgbClr val="DCD2F0"/>
          </a:solidFill>
          <a:ln cap="flat" cmpd="sng" w="12700">
            <a:solidFill>
              <a:srgbClr val="DCD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548640" y="411480"/>
            <a:ext cx="20574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1000"/>
              <a:buFont typeface="Arial"/>
              <a:buNone/>
            </a:pPr>
            <a:r>
              <a:rPr b="1" i="0" lang="es-419" sz="1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MODELO DE NEGOCIO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548640" y="857250"/>
            <a:ext cx="80924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3300"/>
              <a:buFont typeface="Arial"/>
              <a:buNone/>
            </a:pPr>
            <a:r>
              <a:rPr b="1" i="0" lang="es-419" sz="29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USD 39</a:t>
            </a:r>
            <a:r>
              <a:rPr b="1" i="0" lang="es-419" sz="29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 por junior por mes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548650" y="1748799"/>
            <a:ext cx="2571900" cy="2190900"/>
          </a:xfrm>
          <a:prstGeom prst="roundRect">
            <a:avLst>
              <a:gd fmla="val 4507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1200150" y="2054510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300"/>
              <a:buFont typeface="Arial"/>
              <a:buNone/>
            </a:pPr>
            <a:r>
              <a:rPr b="1" lang="es-419" sz="1200">
                <a:solidFill>
                  <a:srgbClr val="17161B"/>
                </a:solidFill>
              </a:rPr>
              <a:t>Ahorra más de lo que cuesta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788670" y="2576918"/>
            <a:ext cx="212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USD 140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788670" y="3247434"/>
            <a:ext cx="212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100"/>
              <a:buFont typeface="Arial"/>
              <a:buNone/>
            </a:pPr>
            <a:r>
              <a:rPr b="0" i="0" lang="es-419" sz="13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de ahorro vs. USD 39 de costo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271275" y="1748799"/>
            <a:ext cx="2571600" cy="2190900"/>
          </a:xfrm>
          <a:prstGeom prst="roundRect">
            <a:avLst>
              <a:gd fmla="val 4507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3922776" y="2054510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300"/>
              <a:buFont typeface="Arial"/>
              <a:buNone/>
            </a:pPr>
            <a:r>
              <a:rPr b="1" i="0" lang="es-419" sz="13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Poco al lado del sueldo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3511296" y="2576918"/>
            <a:ext cx="212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~4%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3511296" y="3247434"/>
            <a:ext cx="212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100"/>
              <a:buFont typeface="Arial"/>
              <a:buNone/>
            </a:pPr>
            <a:r>
              <a:rPr b="0" i="0" lang="es-419" sz="13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del sueldo de un junior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993900" y="1748799"/>
            <a:ext cx="2571900" cy="2190900"/>
          </a:xfrm>
          <a:prstGeom prst="roundRect">
            <a:avLst>
              <a:gd fmla="val 4507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645402" y="2054510"/>
            <a:ext cx="181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300"/>
              <a:buFont typeface="Arial"/>
              <a:buNone/>
            </a:pPr>
            <a:r>
              <a:rPr b="1" i="0" lang="es-419" sz="13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Menos que la IA </a:t>
            </a:r>
            <a:r>
              <a:rPr b="1" lang="es-419" sz="1300">
                <a:solidFill>
                  <a:srgbClr val="17161B"/>
                </a:solidFill>
              </a:rPr>
              <a:t>convencional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6233922" y="2576918"/>
            <a:ext cx="212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&lt; $200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233922" y="3247434"/>
            <a:ext cx="212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100"/>
              <a:buFont typeface="Arial"/>
              <a:buNone/>
            </a:pPr>
            <a:r>
              <a:rPr b="0" i="0" lang="es-419" sz="13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lo que cuesta la IA por 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1062990" y="4354843"/>
            <a:ext cx="1577400" cy="315600"/>
          </a:xfrm>
          <a:prstGeom prst="roundRect">
            <a:avLst>
              <a:gd fmla="val 50000" name="adj"/>
            </a:avLst>
          </a:prstGeom>
          <a:solidFill>
            <a:srgbClr val="DCD2F0"/>
          </a:solidFill>
          <a:ln cap="flat" cmpd="sng" w="12700">
            <a:solidFill>
              <a:srgbClr val="DCD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3768475" y="4354830"/>
            <a:ext cx="1577400" cy="315600"/>
          </a:xfrm>
          <a:prstGeom prst="roundRect">
            <a:avLst>
              <a:gd fmla="val 50000" name="adj"/>
            </a:avLst>
          </a:prstGeom>
          <a:solidFill>
            <a:srgbClr val="DCD2F0"/>
          </a:solidFill>
          <a:ln cap="flat" cmpd="sng" w="12700">
            <a:solidFill>
              <a:srgbClr val="DCD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491" y="2006427"/>
            <a:ext cx="382900" cy="3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4163" y="2021278"/>
            <a:ext cx="382875" cy="37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775" y="2003090"/>
            <a:ext cx="411450" cy="4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/>
          <p:nvPr/>
        </p:nvSpPr>
        <p:spPr>
          <a:xfrm>
            <a:off x="6473950" y="4354780"/>
            <a:ext cx="1577400" cy="315600"/>
          </a:xfrm>
          <a:prstGeom prst="roundRect">
            <a:avLst>
              <a:gd fmla="val 50000" name="adj"/>
            </a:avLst>
          </a:prstGeom>
          <a:solidFill>
            <a:srgbClr val="DCD2F0"/>
          </a:solidFill>
          <a:ln cap="flat" cmpd="sng" w="12700">
            <a:solidFill>
              <a:srgbClr val="DCD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2999" y="4338448"/>
            <a:ext cx="1577400" cy="3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1062990" y="4354768"/>
            <a:ext cx="157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1 a 5 juniors  </a:t>
            </a:r>
            <a:r>
              <a:rPr b="1" i="0" lang="es-419" sz="1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USD 39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68486" y="4338448"/>
            <a:ext cx="1577400" cy="3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3768475" y="4354768"/>
            <a:ext cx="157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6 a 20  </a:t>
            </a:r>
            <a:r>
              <a:rPr b="1" i="0" lang="es-419" sz="1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USD 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3949" y="4338448"/>
            <a:ext cx="1577400" cy="3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6508223" y="4354780"/>
            <a:ext cx="157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Más de 20  </a:t>
            </a:r>
            <a:r>
              <a:rPr b="1" i="0" lang="es-419" sz="1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1" i="0" lang="es-419" sz="1000" u="none" cap="none" strike="noStrike">
                <a:solidFill>
                  <a:srgbClr val="6E52B0"/>
                </a:solidFill>
              </a:rPr>
              <a:t>SD 25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548640" y="480060"/>
            <a:ext cx="80924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2900"/>
              <a:buFont typeface="Arial"/>
              <a:buNone/>
            </a:pPr>
            <a:r>
              <a:rPr b="1" i="0" lang="es-419" sz="29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El criterio del senior, convertido en un </a:t>
            </a:r>
            <a:r>
              <a:rPr b="1" i="0" lang="es-419" sz="29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agente.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548640" y="2091690"/>
            <a:ext cx="2194560" cy="130302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754380" y="2297430"/>
            <a:ext cx="425196" cy="425196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427" y="239947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1303020" y="2366010"/>
            <a:ext cx="13716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700"/>
              <a:buFont typeface="Arial"/>
              <a:buNone/>
            </a:pPr>
            <a:r>
              <a:rPr b="1" i="0" lang="es-419" sz="17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Senior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754380" y="2811780"/>
            <a:ext cx="1851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Carga el contexto una sola vez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19"/>
          <p:cNvCxnSpPr/>
          <p:nvPr/>
        </p:nvCxnSpPr>
        <p:spPr>
          <a:xfrm>
            <a:off x="2846070" y="2743200"/>
            <a:ext cx="617220" cy="0"/>
          </a:xfrm>
          <a:prstGeom prst="straightConnector1">
            <a:avLst/>
          </a:prstGeom>
          <a:noFill/>
          <a:ln cap="flat" cmpd="sng" w="31750">
            <a:solidFill>
              <a:srgbClr val="9B7FD6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/tmp/claude-0/-home-claude/d13c7265-f088-5db4-933a-3af5cafd5191/scratchpad/deck/img/orb.png" id="157" name="Google Shape;15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7550" y="1680210"/>
            <a:ext cx="2125980" cy="21259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3360420" y="3669030"/>
            <a:ext cx="19202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Agente de 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19"/>
          <p:cNvCxnSpPr/>
          <p:nvPr/>
        </p:nvCxnSpPr>
        <p:spPr>
          <a:xfrm flipH="1" rot="10800000">
            <a:off x="5212080" y="1920240"/>
            <a:ext cx="685800" cy="617220"/>
          </a:xfrm>
          <a:prstGeom prst="straightConnector1">
            <a:avLst/>
          </a:prstGeom>
          <a:noFill/>
          <a:ln cap="flat" cmpd="sng" w="31750">
            <a:solidFill>
              <a:srgbClr val="9B7F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19"/>
          <p:cNvCxnSpPr/>
          <p:nvPr/>
        </p:nvCxnSpPr>
        <p:spPr>
          <a:xfrm>
            <a:off x="5212080" y="2948940"/>
            <a:ext cx="685800" cy="617220"/>
          </a:xfrm>
          <a:prstGeom prst="straightConnector1">
            <a:avLst/>
          </a:prstGeom>
          <a:noFill/>
          <a:ln cap="flat" cmpd="sng" w="31750">
            <a:solidFill>
              <a:srgbClr val="9B7F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19"/>
          <p:cNvSpPr/>
          <p:nvPr/>
        </p:nvSpPr>
        <p:spPr>
          <a:xfrm>
            <a:off x="6000750" y="1337310"/>
            <a:ext cx="2606040" cy="116586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6206490" y="1543050"/>
            <a:ext cx="425196" cy="425196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8537" y="164509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755130" y="1577340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Antes de contratar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206490" y="202311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Simulación por voz + informe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000750" y="2983230"/>
            <a:ext cx="2606040" cy="116586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2DC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5B4A8A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206490" y="3188970"/>
            <a:ext cx="425196" cy="425196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8537" y="329101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755130" y="3223260"/>
            <a:ext cx="17830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Después de contratar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6206490" y="366903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Mentor del equipo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48640" y="1200150"/>
            <a:ext cx="336042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3000"/>
              <a:buFont typeface="Arial"/>
              <a:buNone/>
            </a:pPr>
            <a:r>
              <a:rPr b="1" i="0" lang="es-419" sz="3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Las habilidades </a:t>
            </a:r>
            <a:r>
              <a:rPr b="1" i="0" lang="es-419" sz="3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blandas</a:t>
            </a:r>
            <a:r>
              <a:rPr b="1" i="0" lang="es-419" sz="3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 se miden.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48640" y="2777490"/>
            <a:ext cx="342900" cy="342900"/>
          </a:xfrm>
          <a:prstGeom prst="ellipse">
            <a:avLst/>
          </a:prstGeom>
          <a:solidFill>
            <a:srgbClr val="6E52B0"/>
          </a:solidFill>
          <a:ln cap="flat" cmpd="sng" w="12700">
            <a:solidFill>
              <a:srgbClr val="6E5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48640" y="27774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028700" y="2763774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Elegí una situación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48640" y="3360420"/>
            <a:ext cx="342900" cy="342900"/>
          </a:xfrm>
          <a:prstGeom prst="ellipse">
            <a:avLst/>
          </a:prstGeom>
          <a:solidFill>
            <a:srgbClr val="6E52B0"/>
          </a:solidFill>
          <a:ln cap="flat" cmpd="sng" w="12700">
            <a:solidFill>
              <a:srgbClr val="6E5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48640" y="336042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028700" y="3346704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Hablá por voz con un cliente simulado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48640" y="3943350"/>
            <a:ext cx="342900" cy="342900"/>
          </a:xfrm>
          <a:prstGeom prst="ellipse">
            <a:avLst/>
          </a:prstGeom>
          <a:solidFill>
            <a:srgbClr val="6E52B0"/>
          </a:solidFill>
          <a:ln cap="flat" cmpd="sng" w="12700">
            <a:solidFill>
              <a:srgbClr val="6E5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48640" y="39433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028700" y="3929634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Recibí tu informe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155948" y="966978"/>
            <a:ext cx="4546854" cy="2949449"/>
          </a:xfrm>
          <a:prstGeom prst="roundRect">
            <a:avLst>
              <a:gd fmla="val 4650" name="adj"/>
            </a:avLst>
          </a:prstGeom>
          <a:solidFill>
            <a:srgbClr val="FFFFFF">
              <a:alpha val="54902"/>
            </a:srgbClr>
          </a:solidFill>
          <a:ln cap="flat" cmpd="sng" w="127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5B4A8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d13c7265-f088-5db4-933a-3af5cafd5191/scratchpad/deck/img/llamada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062990"/>
            <a:ext cx="4354830" cy="27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452628" y="966978"/>
            <a:ext cx="4546854" cy="2943110"/>
          </a:xfrm>
          <a:prstGeom prst="roundRect">
            <a:avLst>
              <a:gd fmla="val 4660" name="adj"/>
            </a:avLst>
          </a:prstGeom>
          <a:solidFill>
            <a:srgbClr val="FFFFFF">
              <a:alpha val="54902"/>
            </a:srgbClr>
          </a:solidFill>
          <a:ln cap="flat" cmpd="sng" w="127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5B4A8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d13c7265-f088-5db4-933a-3af5cafd5191/scratchpad/deck/img/inform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062990"/>
            <a:ext cx="4354830" cy="275108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5314950" y="685800"/>
            <a:ext cx="1920240" cy="315468"/>
          </a:xfrm>
          <a:prstGeom prst="roundRect">
            <a:avLst>
              <a:gd fmla="val 50000" name="adj"/>
            </a:avLst>
          </a:prstGeom>
          <a:solidFill>
            <a:srgbClr val="DCD2F0"/>
          </a:solidFill>
          <a:ln cap="flat" cmpd="sng" w="12700">
            <a:solidFill>
              <a:srgbClr val="DCD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314950" y="685800"/>
            <a:ext cx="192024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1000"/>
              <a:buFont typeface="Arial"/>
              <a:buNone/>
            </a:pPr>
            <a:r>
              <a:rPr b="1" i="0" lang="es-419" sz="1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PARA LA EMPRESA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314950" y="1200150"/>
            <a:ext cx="33604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3000"/>
              <a:buFont typeface="Arial"/>
              <a:buNone/>
            </a:pPr>
            <a:r>
              <a:rPr b="1" i="0" lang="es-419" sz="3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Evidencia, </a:t>
            </a:r>
            <a:r>
              <a:rPr b="1" i="0" lang="es-419" sz="3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no intuición.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314950" y="2434590"/>
            <a:ext cx="377190" cy="377190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5476" y="2525116"/>
            <a:ext cx="196139" cy="19613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29300" y="2434590"/>
            <a:ext cx="28803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Puntaje por criterio de la empresa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314950" y="2948940"/>
            <a:ext cx="377190" cy="377190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5476" y="3039466"/>
            <a:ext cx="196139" cy="19613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829300" y="2948940"/>
            <a:ext cx="28803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Cita textual como prueba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314950" y="3463290"/>
            <a:ext cx="377190" cy="377190"/>
          </a:xfrm>
          <a:prstGeom prst="ellipse">
            <a:avLst/>
          </a:prstGeom>
          <a:solidFill>
            <a:srgbClr val="EFE9FA"/>
          </a:solidFill>
          <a:ln cap="flat" cmpd="sng" w="12700">
            <a:solidFill>
              <a:srgbClr val="EFE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05476" y="3553816"/>
            <a:ext cx="196139" cy="19613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829300" y="3463290"/>
            <a:ext cx="28803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Fortalezas y qué mejorar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325898" y="4080510"/>
            <a:ext cx="3291900" cy="548700"/>
          </a:xfrm>
          <a:prstGeom prst="roundRect">
            <a:avLst>
              <a:gd fmla="val 20000" name="adj"/>
            </a:avLst>
          </a:prstGeom>
          <a:solidFill>
            <a:srgbClr val="6E52B0"/>
          </a:solidFill>
          <a:ln cap="flat" cmpd="sng" w="12700">
            <a:solidFill>
              <a:srgbClr val="6E5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325898" y="4080510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informe no decide. Decide una persona.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548640" y="685800"/>
            <a:ext cx="1783080" cy="315468"/>
          </a:xfrm>
          <a:prstGeom prst="roundRect">
            <a:avLst>
              <a:gd fmla="val 50000" name="adj"/>
            </a:avLst>
          </a:prstGeom>
          <a:solidFill>
            <a:srgbClr val="DCD2F0"/>
          </a:solidFill>
          <a:ln cap="flat" cmpd="sng" w="12700">
            <a:solidFill>
              <a:srgbClr val="DCD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48640" y="685800"/>
            <a:ext cx="17830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1000"/>
              <a:buFont typeface="Arial"/>
              <a:buNone/>
            </a:pPr>
            <a:r>
              <a:rPr b="1" i="0" lang="es-419" sz="10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PARA EL JUNIOR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48640" y="1200150"/>
            <a:ext cx="34290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2900"/>
              <a:buFont typeface="Arial"/>
              <a:buNone/>
            </a:pPr>
            <a:r>
              <a:rPr b="1" i="0" lang="es-419" sz="29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Un mentor que explica el cómo y el </a:t>
            </a:r>
            <a:r>
              <a:rPr b="1" i="0" lang="es-419" sz="29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porqué.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48640" y="2708910"/>
            <a:ext cx="1645920" cy="356616"/>
          </a:xfrm>
          <a:prstGeom prst="roundRect">
            <a:avLst>
              <a:gd fmla="val 23077" name="adj"/>
            </a:avLst>
          </a:prstGeom>
          <a:solidFill>
            <a:srgbClr val="EAF1FA"/>
          </a:solidFill>
          <a:ln cap="flat" cmpd="sng" w="12700">
            <a:solidFill>
              <a:srgbClr val="EAF1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48640" y="2708910"/>
            <a:ext cx="16459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6FB5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rPr>
              <a:t>Cómo se hace</a:t>
            </a:r>
            <a:endParaRPr b="0" i="0" sz="1100" u="none" cap="none" strike="noStrike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2297430" y="2708910"/>
            <a:ext cx="1645920" cy="356616"/>
          </a:xfrm>
          <a:prstGeom prst="roundRect">
            <a:avLst>
              <a:gd fmla="val 23077" name="adj"/>
            </a:avLst>
          </a:prstGeom>
          <a:solidFill>
            <a:srgbClr val="E7F5EE"/>
          </a:solidFill>
          <a:ln cap="flat" cmpd="sng" w="12700">
            <a:solidFill>
              <a:srgbClr val="E7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2297430" y="2708910"/>
            <a:ext cx="16459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7A52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9B7FD6"/>
                </a:solidFill>
                <a:latin typeface="Arial"/>
                <a:ea typeface="Arial"/>
                <a:cs typeface="Arial"/>
                <a:sym typeface="Arial"/>
              </a:rPr>
              <a:t>Por qué importa</a:t>
            </a:r>
            <a:endParaRPr b="0" i="0" sz="1100" u="none" cap="none" strike="noStrike">
              <a:solidFill>
                <a:srgbClr val="9B7F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48640" y="3188970"/>
            <a:ext cx="1645920" cy="356616"/>
          </a:xfrm>
          <a:prstGeom prst="roundRect">
            <a:avLst>
              <a:gd fmla="val 23077" name="adj"/>
            </a:avLst>
          </a:prstGeom>
          <a:solidFill>
            <a:srgbClr val="F1ECFB"/>
          </a:solidFill>
          <a:ln cap="flat" cmpd="sng" w="12700">
            <a:solidFill>
              <a:srgbClr val="F1EC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48640" y="3188970"/>
            <a:ext cx="164592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Cómo lo hacemos acá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2297430" y="3188970"/>
            <a:ext cx="1645920" cy="356616"/>
          </a:xfrm>
          <a:prstGeom prst="roundRect">
            <a:avLst>
              <a:gd fmla="val 23077" name="adj"/>
            </a:avLst>
          </a:prstGeom>
          <a:solidFill>
            <a:srgbClr val="FCF1E2"/>
          </a:solidFill>
          <a:ln cap="flat" cmpd="sng" w="12700">
            <a:solidFill>
              <a:srgbClr val="FCF1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2297492" y="3188920"/>
            <a:ext cx="1645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590C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9B7FD6"/>
                </a:solidFill>
                <a:latin typeface="Arial"/>
                <a:ea typeface="Arial"/>
                <a:cs typeface="Arial"/>
                <a:sym typeface="Arial"/>
              </a:rPr>
              <a:t>Tu turno</a:t>
            </a:r>
            <a:endParaRPr b="0" i="0" sz="1100" u="none" cap="none" strike="noStrike">
              <a:solidFill>
                <a:srgbClr val="9B7F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48640" y="3840480"/>
            <a:ext cx="34290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Te ayuda a resolver. No te da todo servido.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155948" y="966978"/>
            <a:ext cx="4546854" cy="2949449"/>
          </a:xfrm>
          <a:prstGeom prst="roundRect">
            <a:avLst>
              <a:gd fmla="val 4650" name="adj"/>
            </a:avLst>
          </a:prstGeom>
          <a:solidFill>
            <a:srgbClr val="FFFFFF">
              <a:alpha val="54902"/>
            </a:srgbClr>
          </a:solidFill>
          <a:ln cap="flat" cmpd="sng" w="127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5B4A8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d13c7265-f088-5db4-933a-3af5cafd5191/scratchpad/deck/img/mentor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062990"/>
            <a:ext cx="4354830" cy="27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48640" y="1079719"/>
            <a:ext cx="3291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Cargá el contexto una sola vez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48640" y="2691349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Contexto, escenarios y criterios a medida.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48640" y="3377149"/>
            <a:ext cx="1028700" cy="31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FC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48640" y="3377149"/>
            <a:ext cx="1028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1659636" y="3377149"/>
            <a:ext cx="1028700" cy="31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FC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659636" y="3377149"/>
            <a:ext cx="1028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Gastronomía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2770632" y="3377149"/>
            <a:ext cx="1028700" cy="31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FC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2770632" y="3377149"/>
            <a:ext cx="1028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Comercio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48640" y="3802345"/>
            <a:ext cx="1028700" cy="31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FC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48640" y="3802345"/>
            <a:ext cx="1028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Salud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1659636" y="3802345"/>
            <a:ext cx="1028700" cy="31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FC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659636" y="3802345"/>
            <a:ext cx="1028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Industria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2770632" y="3802345"/>
            <a:ext cx="1028700" cy="31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CFC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2770632" y="3802345"/>
            <a:ext cx="1028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1000"/>
              <a:buFont typeface="Arial"/>
              <a:buNone/>
            </a:pPr>
            <a:r>
              <a:rPr b="0" i="0" lang="es-419" sz="10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155948" y="864108"/>
            <a:ext cx="4546854" cy="3067328"/>
          </a:xfrm>
          <a:prstGeom prst="roundRect">
            <a:avLst>
              <a:gd fmla="val 4472" name="adj"/>
            </a:avLst>
          </a:prstGeom>
          <a:solidFill>
            <a:srgbClr val="FFFFFF">
              <a:alpha val="54902"/>
            </a:srgbClr>
          </a:solidFill>
          <a:ln cap="flat" cmpd="sng" w="127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50800">
              <a:srgbClr val="5B4A8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d13c7265-f088-5db4-933a-3af5cafd5191/scratchpad/deck/img/empresa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960120"/>
            <a:ext cx="4354830" cy="2875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_center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claude-0/-home-claude/d13c7265-f088-5db4-933a-3af5cafd5191/scratchpad/deck/img/orb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7506" y="274320"/>
            <a:ext cx="150876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342900" y="1885950"/>
            <a:ext cx="845797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4500"/>
              <a:buFont typeface="Arial"/>
              <a:buNone/>
            </a:pPr>
            <a:r>
              <a:rPr b="1" i="0" lang="es-419" sz="45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No hay senior sin </a:t>
            </a:r>
            <a:r>
              <a:rPr b="1" i="0" lang="es-419" sz="45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junior.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1028700" y="2846070"/>
            <a:ext cx="7086371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B6B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5F5B6B"/>
                </a:solidFill>
                <a:latin typeface="Arial"/>
                <a:ea typeface="Arial"/>
                <a:cs typeface="Arial"/>
                <a:sym typeface="Arial"/>
              </a:rPr>
              <a:t>Tutoring forma a los que vienen con el criterio de los que están.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claude-0/-home-claude/d13c7265-f088-5db4-933a-3af5cafd5191/scratchpad/deck/img/bg_center.png" id="267" name="Google Shape;2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claude-0/-home-claude/d13c7265-f088-5db4-933a-3af5cafd5191/scratchpad/deck/img/orb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6026" y="377190"/>
            <a:ext cx="233172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0" y="2708910"/>
            <a:ext cx="914377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61B"/>
              </a:buClr>
              <a:buSzPts val="4100"/>
              <a:buFont typeface="Arial"/>
              <a:buNone/>
            </a:pPr>
            <a:r>
              <a:rPr b="1" i="0" lang="es-419" sz="4100" u="none" cap="none" strike="noStrike">
                <a:solidFill>
                  <a:srgbClr val="17161B"/>
                </a:solidFill>
                <a:latin typeface="Arial"/>
                <a:ea typeface="Arial"/>
                <a:cs typeface="Arial"/>
                <a:sym typeface="Arial"/>
              </a:rPr>
              <a:t>Veámoslo en vivo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0" y="3497580"/>
            <a:ext cx="914377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52B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6E52B0"/>
                </a:solidFill>
                <a:latin typeface="Arial"/>
                <a:ea typeface="Arial"/>
                <a:cs typeface="Arial"/>
                <a:sym typeface="Arial"/>
              </a:rPr>
              <a:t>Simulación por voz  →  Informe  →  Mentor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