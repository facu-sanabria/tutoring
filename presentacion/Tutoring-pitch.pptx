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en 10 segundos. "Somos [nombres]. Vamos a hablar de qué pasa con los juniors ahora que la IA hace su trabajo, y qué construimos para resolverlo."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Arrancar con el dato de la charla: el 80% de las tareas base que antes le llevaban una semana a un junior, hoy la IA las resuelve en minutos, por unos 200 al mes. Pregunta al jurado: ¿qué empresa va a pagar un sueldo junior frente a eso? Resultado: las empresas dejan de contratar juniors.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junior tenía dos valores: producía poco, pero aprendía el oficio. La IA cubre lo productivo, pero lo pedagógico quedó sin resolver. Si hoy nadie forma juniors, ¿de dónde salen los seniors dentro de 10 o 20 años? Es un problema de escala que afecta a cualquier empresa que use tecnología, no solo a las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actor tiene su versión del problema. La empresa no ve retorno inmediato y contratar sin experiencia es un riesgo; además, si forma a alguien, puede perderlo con la competencia. El estudiante queda afuera porque le piden experiencia. Y el senior, si sigue enseñando tareas que hoy hace un clic, pierde productividad. Nadie rompe el círculo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es una plataforma: el senior (o el dueño, o el encargado) carga una sola vez el contexto de su empresa: cómo trabajan, cómo tratan al cliente, cómo encaran un problema. Con eso, un agente de IA acompaña a la persona en dos momentos: antes de contratarla, con simulaciones por voz que miden sus habilidades blandas; y después, como mentor que le explica cómo se hace cada cosa y por qué. Sirve para una software factory y también para un restaurante.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parte, antes de contratar. El estudiante elige una situación que definió la empresa, por ejemplo una clienta molesta porque sus pacientes reciben dos recordatorios. Habla por voz, como una llamada real: el cliente lo interpreta la IA, se enoja si lo apuran y se calma si lo escuchan, y se lo puede interrumpir. Lo que se pone en juego son las habilidades blandas: escuchar, preguntar, explicar sin tecnicismos, no prometer de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colgar, la IA analiza la conversación con los criterios que definió la empresa y arma un informe para el empleador: un puntaje por criterio, y cada puntaje con una cita textual de lo que dijo el candidato. No es una opinión: es evidencia. Y un punto de uso responsable de la IA: el informe nunca recomienda contratar ni descartar. La decisión la toma una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después de contratar. El junior tiene un mentor entrenado con el contexto de la empresa. Cada respuesta separa lo operativo o técnico, el porqué de negocio y la regla de la casa, y termina con una pregunta para que piense. Si tiene que resolver una tarea, lo ayuda de verdad, paso a paso, sin darle todo servido: aprende sin perder tiempo. Así se recupera el valor pedagógico que la IA había dejado huérfano.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lado de la empresa, el senior o el dueño carga una sola vez su contexto: propósito del negocio, cómo trabajan, cómo tratan al cliente, criterios de calidad, y los contextos propios que quiera agregar, como 'Atención en el salón' en un restaurante. También define los escenarios de simulación y los criterios de evaluación. Deja de repetir lo mismo a cada persona nueva y su criterio queda en la empresa aunque él se vaya.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(cerca de 1:30). 1) Estudiante: escenario 'Recordatorios duplicados', hablar 30-40 segundos con Laura y colgar. 2) Mostrar el informe: puntaje, una cita como evidencia y la frase de que decide una persona. 3) Junior: una pregunta al mentor y mostrar los bloques de colores. 4) Si sobra tiempo: en Empresa, cargar el ejemplo del restaurante para mostrar que sirve para otro rubro. Plan B si falla la conexión: 'npm run demo' o el video grabado.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Herramientas como ChatGPT o Copilot resuelven la tarea: le dan la respuesta al junior. Tutoring hace lo contrario: forma a la persona, con el conocimiento propio de cada empresa y no uno genérico. La empresa contrata con evidencia observable en lugar de solo un CV. Y el senior deja de enseñar lo mismo una y otra vez: lo carga una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propuesta: ajustar o sacar según lo que defina el equipo.] El siguiente paso es un piloto con empresas de San Miguel, integrado a las prácticas profesionales de las universidades, para que la formación no la pague una sola empresa. Después, sumar más rubros y escenarios. Es una solución 360: empresas, universidades, estado local y estudiantes.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una frase: la IA puede hacer el trabajo del junior, pero no puede reemplazar el camino que lo convierte en senior. Tutoring forma a los que vienen, con el criterio de los que están. Gracias. Quedamos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d13c7265-f088-5db4-933a-3af5cafd5191/scratchpad/deck/img/bg_cent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claude/d13c7265-f088-5db4-933a-3af5cafd5191/scratchpad/deck/img/orb.png">    </p:cNvPr>
          <p:cNvPicPr>
            <a:picLocks noChangeAspect="1"/>
          </p:cNvPicPr>
          <p:nvPr/>
        </p:nvPicPr>
        <p:blipFill>
          <a:blip r:embed="rId2"/>
          <a:stretch>
            <a:fillRect/>
          </a:stretch>
        </p:blipFill>
        <p:spPr>
          <a:xfrm>
            <a:off x="4312768" y="320040"/>
            <a:ext cx="3566160" cy="3566160"/>
          </a:xfrm>
          <a:prstGeom prst="rect">
            <a:avLst/>
          </a:prstGeom>
        </p:spPr>
      </p:pic>
      <p:pic>
        <p:nvPicPr>
          <p:cNvPr id="4" name="Image 2" descr="/tmp/claude-0/-home-claude/d13c7265-f088-5db4-933a-3af5cafd5191/scratchpad/deck/img/logo.png">    </p:cNvPr>
          <p:cNvPicPr>
            <a:picLocks noChangeAspect="1"/>
          </p:cNvPicPr>
          <p:nvPr/>
        </p:nvPicPr>
        <p:blipFill>
          <a:blip r:embed="rId3"/>
          <a:stretch>
            <a:fillRect/>
          </a:stretch>
        </p:blipFill>
        <p:spPr>
          <a:xfrm>
            <a:off x="4114800" y="3977640"/>
            <a:ext cx="749808" cy="749808"/>
          </a:xfrm>
          <a:prstGeom prst="rect">
            <a:avLst/>
          </a:prstGeom>
        </p:spPr>
      </p:pic>
      <p:sp>
        <p:nvSpPr>
          <p:cNvPr id="5" name="Text 0"/>
          <p:cNvSpPr txBox="1"/>
          <p:nvPr/>
        </p:nvSpPr>
        <p:spPr>
          <a:xfrm>
            <a:off x="5029200" y="3931920"/>
            <a:ext cx="3657600" cy="841248"/>
          </a:xfrm>
          <a:prstGeom prst="rect">
            <a:avLst/>
          </a:prstGeom>
          <a:noFill/>
          <a:ln/>
        </p:spPr>
        <p:txBody>
          <a:bodyPr wrap="square" lIns="0" tIns="0" rIns="0" bIns="0" rtlCol="0" anchor="ctr"/>
          <a:lstStyle/>
          <a:p>
            <a:pPr indent="0" marL="0">
              <a:buNone/>
            </a:pPr>
            <a:r>
              <a:rPr lang="en-US" sz="5400" b="1" dirty="0">
                <a:solidFill>
                  <a:srgbClr val="17161B"/>
                </a:solidFill>
                <a:latin typeface="Arial" pitchFamily="34" charset="0"/>
                <a:ea typeface="Arial" pitchFamily="34" charset="-122"/>
                <a:cs typeface="Arial" pitchFamily="34" charset="-120"/>
              </a:rPr>
              <a:t>Tutoring</a:t>
            </a:r>
            <a:endParaRPr lang="en-US" sz="5400" dirty="0"/>
          </a:p>
        </p:txBody>
      </p:sp>
      <p:sp>
        <p:nvSpPr>
          <p:cNvPr id="6" name="Text 1"/>
          <p:cNvSpPr txBox="1"/>
          <p:nvPr/>
        </p:nvSpPr>
        <p:spPr>
          <a:xfrm>
            <a:off x="0" y="4983480"/>
            <a:ext cx="12191695" cy="457200"/>
          </a:xfrm>
          <a:prstGeom prst="rect">
            <a:avLst/>
          </a:prstGeom>
          <a:noFill/>
          <a:ln/>
        </p:spPr>
        <p:txBody>
          <a:bodyPr wrap="square" lIns="0" tIns="0" rIns="0" bIns="0" rtlCol="0" anchor="t"/>
          <a:lstStyle/>
          <a:p>
            <a:pPr algn="ctr" indent="0" marL="0">
              <a:buNone/>
            </a:pPr>
            <a:r>
              <a:rPr lang="en-US" sz="2200" dirty="0">
                <a:solidFill>
                  <a:srgbClr val="6E52B0"/>
                </a:solidFill>
                <a:latin typeface="Arial" pitchFamily="34" charset="0"/>
                <a:ea typeface="Arial" pitchFamily="34" charset="-122"/>
                <a:cs typeface="Arial" pitchFamily="34" charset="-120"/>
              </a:rPr>
              <a:t>Simulaciones por voz · Mentor de IA</a:t>
            </a:r>
            <a:endParaRPr lang="en-US" sz="2200" dirty="0"/>
          </a:p>
        </p:txBody>
      </p:sp>
      <p:sp>
        <p:nvSpPr>
          <p:cNvPr id="7" name="Text 2"/>
          <p:cNvSpPr txBox="1"/>
          <p:nvPr/>
        </p:nvSpPr>
        <p:spPr>
          <a:xfrm>
            <a:off x="0" y="6172200"/>
            <a:ext cx="12191695" cy="320040"/>
          </a:xfrm>
          <a:prstGeom prst="rect">
            <a:avLst/>
          </a:prstGeom>
          <a:noFill/>
          <a:ln/>
        </p:spPr>
        <p:txBody>
          <a:bodyPr wrap="square" lIns="0" tIns="0" rIns="0" bIns="0" rtlCol="0" anchor="t"/>
          <a:lstStyle/>
          <a:p>
            <a:pPr algn="ctr" indent="0" marL="0">
              <a:buNone/>
            </a:pPr>
            <a:r>
              <a:rPr lang="en-US" sz="1200" dirty="0">
                <a:solidFill>
                  <a:srgbClr val="5F5B6B"/>
                </a:solidFill>
                <a:latin typeface="Arial" pitchFamily="34" charset="0"/>
                <a:ea typeface="Arial" pitchFamily="34" charset="-122"/>
                <a:cs typeface="Arial" pitchFamily="34" charset="-120"/>
              </a:rPr>
              <a:t>Hackathon · Inserción laboral junior · San Miguel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960120"/>
            <a:ext cx="5852160" cy="2103120"/>
          </a:xfrm>
          <a:prstGeom prst="rect">
            <a:avLst/>
          </a:prstGeom>
          <a:noFill/>
          <a:ln/>
        </p:spPr>
        <p:txBody>
          <a:bodyPr wrap="square" lIns="0" tIns="0" rIns="0" bIns="0" rtlCol="0" anchor="t"/>
          <a:lstStyle/>
          <a:p>
            <a:pPr indent="0" marL="0">
              <a:buNone/>
            </a:pPr>
            <a:r>
              <a:rPr lang="en-US" sz="16000" b="1" dirty="0">
                <a:solidFill>
                  <a:srgbClr val="6E52B0"/>
                </a:solidFill>
                <a:latin typeface="Arial" pitchFamily="34" charset="0"/>
                <a:ea typeface="Arial" pitchFamily="34" charset="-122"/>
                <a:cs typeface="Arial" pitchFamily="34" charset="-120"/>
              </a:rPr>
              <a:t>80%</a:t>
            </a:r>
            <a:endParaRPr lang="en-US" sz="16000" dirty="0"/>
          </a:p>
        </p:txBody>
      </p:sp>
      <p:sp>
        <p:nvSpPr>
          <p:cNvPr id="4" name="Text 1"/>
          <p:cNvSpPr txBox="1"/>
          <p:nvPr/>
        </p:nvSpPr>
        <p:spPr>
          <a:xfrm>
            <a:off x="731520" y="3246120"/>
            <a:ext cx="5669280" cy="1280160"/>
          </a:xfrm>
          <a:prstGeom prst="rect">
            <a:avLst/>
          </a:prstGeom>
          <a:noFill/>
          <a:ln/>
        </p:spPr>
        <p:txBody>
          <a:bodyPr wrap="square" lIns="0" tIns="0" rIns="0" bIns="0" rtlCol="0" anchor="t"/>
          <a:lstStyle/>
          <a:p>
            <a:pPr indent="0" marL="0">
              <a:buNone/>
            </a:pPr>
            <a:r>
              <a:rPr lang="en-US" sz="3200" b="1" dirty="0">
                <a:solidFill>
                  <a:srgbClr val="17161B"/>
                </a:solidFill>
                <a:latin typeface="Arial" pitchFamily="34" charset="0"/>
                <a:ea typeface="Arial" pitchFamily="34" charset="-122"/>
                <a:cs typeface="Arial" pitchFamily="34" charset="-120"/>
              </a:rPr>
              <a:t>de las tareas base de un junior hoy las resuelve la IA.</a:t>
            </a:r>
            <a:endParaRPr lang="en-US" sz="3200" dirty="0"/>
          </a:p>
        </p:txBody>
      </p:sp>
      <p:sp>
        <p:nvSpPr>
          <p:cNvPr id="5" name="Text 2"/>
          <p:cNvSpPr txBox="1"/>
          <p:nvPr/>
        </p:nvSpPr>
        <p:spPr>
          <a:xfrm>
            <a:off x="731520" y="4709160"/>
            <a:ext cx="5669280" cy="457200"/>
          </a:xfrm>
          <a:prstGeom prst="rect">
            <a:avLst/>
          </a:prstGeom>
          <a:noFill/>
          <a:ln/>
        </p:spPr>
        <p:txBody>
          <a:bodyPr wrap="square" lIns="0" tIns="0" rIns="0" bIns="0" rtlCol="0" anchor="t"/>
          <a:lstStyle/>
          <a:p>
            <a:pPr indent="0" marL="0">
              <a:buNone/>
            </a:pPr>
            <a:r>
              <a:rPr lang="en-US" sz="2000" dirty="0">
                <a:solidFill>
                  <a:srgbClr val="5F5B6B"/>
                </a:solidFill>
                <a:latin typeface="Arial" pitchFamily="34" charset="0"/>
                <a:ea typeface="Arial" pitchFamily="34" charset="-122"/>
                <a:cs typeface="Arial" pitchFamily="34" charset="-120"/>
              </a:rPr>
              <a:t>En minutos. Por unos $200 al mes.</a:t>
            </a:r>
            <a:endParaRPr lang="en-US" sz="2000" dirty="0"/>
          </a:p>
        </p:txBody>
      </p:sp>
      <p:sp>
        <p:nvSpPr>
          <p:cNvPr id="6" name="Shape 3"/>
          <p:cNvSpPr/>
          <p:nvPr/>
        </p:nvSpPr>
        <p:spPr>
          <a:xfrm>
            <a:off x="7315200" y="1600200"/>
            <a:ext cx="4114800" cy="1600200"/>
          </a:xfrm>
          <a:prstGeom prst="roundRect">
            <a:avLst>
              <a:gd name="adj" fmla="val 914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7" name="Shape 4"/>
          <p:cNvSpPr/>
          <p:nvPr/>
        </p:nvSpPr>
        <p:spPr>
          <a:xfrm>
            <a:off x="7635240" y="2103120"/>
            <a:ext cx="566928" cy="566928"/>
          </a:xfrm>
          <a:prstGeom prst="ellipse">
            <a:avLst/>
          </a:prstGeom>
          <a:solidFill>
            <a:srgbClr val="EFE9FA"/>
          </a:solidFill>
          <a:ln w="12700">
            <a:solidFill>
              <a:srgbClr val="EFE9FA"/>
            </a:solidFill>
            <a:prstDash val="solid"/>
          </a:ln>
        </p:spPr>
      </p:sp>
      <p:pic>
        <p:nvPicPr>
          <p:cNvPr id="8" name="Image 1" descr="preencoded.png">    </p:cNvPr>
          <p:cNvPicPr>
            <a:picLocks noChangeAspect="1"/>
          </p:cNvPicPr>
          <p:nvPr/>
        </p:nvPicPr>
        <p:blipFill>
          <a:blip r:embed="rId2"/>
          <a:stretch>
            <a:fillRect/>
          </a:stretch>
        </p:blipFill>
        <p:spPr>
          <a:xfrm>
            <a:off x="7771303" y="2239183"/>
            <a:ext cx="294803" cy="294803"/>
          </a:xfrm>
          <a:prstGeom prst="rect">
            <a:avLst/>
          </a:prstGeom>
        </p:spPr>
      </p:pic>
      <p:sp>
        <p:nvSpPr>
          <p:cNvPr id="9" name="Text 5"/>
          <p:cNvSpPr txBox="1"/>
          <p:nvPr/>
        </p:nvSpPr>
        <p:spPr>
          <a:xfrm>
            <a:off x="8412480" y="1938528"/>
            <a:ext cx="28346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Un junior</a:t>
            </a:r>
            <a:endParaRPr lang="en-US" sz="1800" dirty="0"/>
          </a:p>
        </p:txBody>
      </p:sp>
      <p:sp>
        <p:nvSpPr>
          <p:cNvPr id="10" name="Text 6"/>
          <p:cNvSpPr txBox="1"/>
          <p:nvPr/>
        </p:nvSpPr>
        <p:spPr>
          <a:xfrm>
            <a:off x="8412480" y="2331720"/>
            <a:ext cx="2834640" cy="640080"/>
          </a:xfrm>
          <a:prstGeom prst="rect">
            <a:avLst/>
          </a:prstGeom>
          <a:noFill/>
          <a:ln/>
        </p:spPr>
        <p:txBody>
          <a:bodyPr wrap="square" lIns="0" tIns="0" rIns="0" bIns="0" rtlCol="0" anchor="t"/>
          <a:lstStyle/>
          <a:p>
            <a:pPr indent="0" marL="0">
              <a:buNone/>
            </a:pPr>
            <a:r>
              <a:rPr lang="en-US" sz="3400" b="1" dirty="0">
                <a:solidFill>
                  <a:srgbClr val="17161B"/>
                </a:solidFill>
                <a:latin typeface="Arial" pitchFamily="34" charset="0"/>
                <a:ea typeface="Arial" pitchFamily="34" charset="-122"/>
                <a:cs typeface="Arial" pitchFamily="34" charset="-120"/>
              </a:rPr>
              <a:t>1 semana</a:t>
            </a:r>
            <a:endParaRPr lang="en-US" sz="3400" dirty="0"/>
          </a:p>
        </p:txBody>
      </p:sp>
      <p:sp>
        <p:nvSpPr>
          <p:cNvPr id="11" name="Shape 7"/>
          <p:cNvSpPr/>
          <p:nvPr/>
        </p:nvSpPr>
        <p:spPr>
          <a:xfrm>
            <a:off x="7315200" y="3520440"/>
            <a:ext cx="4114800" cy="1600200"/>
          </a:xfrm>
          <a:prstGeom prst="roundRect">
            <a:avLst>
              <a:gd name="adj" fmla="val 9143"/>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2" name="Shape 8"/>
          <p:cNvSpPr/>
          <p:nvPr/>
        </p:nvSpPr>
        <p:spPr>
          <a:xfrm>
            <a:off x="7635240" y="4023360"/>
            <a:ext cx="566928" cy="566928"/>
          </a:xfrm>
          <a:prstGeom prst="ellipse">
            <a:avLst/>
          </a:prstGeom>
          <a:solidFill>
            <a:srgbClr val="EFE9FA"/>
          </a:solidFill>
          <a:ln w="12700">
            <a:solidFill>
              <a:srgbClr val="EFE9FA"/>
            </a:solidFill>
            <a:prstDash val="solid"/>
          </a:ln>
        </p:spPr>
      </p:sp>
      <p:pic>
        <p:nvPicPr>
          <p:cNvPr id="13" name="Image 2" descr="preencoded.png">    </p:cNvPr>
          <p:cNvPicPr>
            <a:picLocks noChangeAspect="1"/>
          </p:cNvPicPr>
          <p:nvPr/>
        </p:nvPicPr>
        <p:blipFill>
          <a:blip r:embed="rId3"/>
          <a:stretch>
            <a:fillRect/>
          </a:stretch>
        </p:blipFill>
        <p:spPr>
          <a:xfrm>
            <a:off x="7771303" y="4159423"/>
            <a:ext cx="294803" cy="294803"/>
          </a:xfrm>
          <a:prstGeom prst="rect">
            <a:avLst/>
          </a:prstGeom>
        </p:spPr>
      </p:pic>
      <p:sp>
        <p:nvSpPr>
          <p:cNvPr id="14" name="Text 9"/>
          <p:cNvSpPr txBox="1"/>
          <p:nvPr/>
        </p:nvSpPr>
        <p:spPr>
          <a:xfrm>
            <a:off x="8412480" y="3858768"/>
            <a:ext cx="28346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La IA</a:t>
            </a:r>
            <a:endParaRPr lang="en-US" sz="1800" dirty="0"/>
          </a:p>
        </p:txBody>
      </p:sp>
      <p:sp>
        <p:nvSpPr>
          <p:cNvPr id="15" name="Text 10"/>
          <p:cNvSpPr txBox="1"/>
          <p:nvPr/>
        </p:nvSpPr>
        <p:spPr>
          <a:xfrm>
            <a:off x="8412480" y="4251960"/>
            <a:ext cx="2834640" cy="640080"/>
          </a:xfrm>
          <a:prstGeom prst="rect">
            <a:avLst/>
          </a:prstGeom>
          <a:noFill/>
          <a:ln/>
        </p:spPr>
        <p:txBody>
          <a:bodyPr wrap="square" lIns="0" tIns="0" rIns="0" bIns="0" rtlCol="0" anchor="t"/>
          <a:lstStyle/>
          <a:p>
            <a:pPr indent="0" marL="0">
              <a:buNone/>
            </a:pPr>
            <a:r>
              <a:rPr lang="en-US" sz="3400" b="1" dirty="0">
                <a:solidFill>
                  <a:srgbClr val="6E52B0"/>
                </a:solidFill>
                <a:latin typeface="Arial" pitchFamily="34" charset="0"/>
                <a:ea typeface="Arial" pitchFamily="34" charset="-122"/>
                <a:cs typeface="Arial" pitchFamily="34" charset="-120"/>
              </a:rPr>
              <a:t>minutos</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1188720"/>
            <a:ext cx="10728655" cy="822960"/>
          </a:xfrm>
          <a:prstGeom prst="rect">
            <a:avLst/>
          </a:prstGeom>
          <a:noFill/>
          <a:ln/>
        </p:spPr>
        <p:txBody>
          <a:bodyPr wrap="square" lIns="0" tIns="0" rIns="0" bIns="0" rtlCol="0" anchor="t"/>
          <a:lstStyle/>
          <a:p>
            <a:pPr algn="ctr" indent="0" marL="0">
              <a:buNone/>
            </a:pPr>
            <a:r>
              <a:rPr lang="en-US" sz="4400" b="1" dirty="0">
                <a:solidFill>
                  <a:srgbClr val="17161B"/>
                </a:solidFill>
                <a:latin typeface="Arial" pitchFamily="34" charset="0"/>
                <a:ea typeface="Arial" pitchFamily="34" charset="-122"/>
                <a:cs typeface="Arial" pitchFamily="34" charset="-120"/>
              </a:rPr>
              <a:t>La IA se quedó con el trabajo.</a:t>
            </a:r>
            <a:endParaRPr lang="en-US" sz="4400" dirty="0"/>
          </a:p>
        </p:txBody>
      </p:sp>
      <p:sp>
        <p:nvSpPr>
          <p:cNvPr id="4" name="Text 1"/>
          <p:cNvSpPr txBox="1"/>
          <p:nvPr/>
        </p:nvSpPr>
        <p:spPr>
          <a:xfrm>
            <a:off x="731520" y="2011680"/>
            <a:ext cx="10728655" cy="822960"/>
          </a:xfrm>
          <a:prstGeom prst="rect">
            <a:avLst/>
          </a:prstGeom>
          <a:noFill/>
          <a:ln/>
        </p:spPr>
        <p:txBody>
          <a:bodyPr wrap="square" lIns="0" tIns="0" rIns="0" bIns="0" rtlCol="0" anchor="t"/>
          <a:lstStyle/>
          <a:p>
            <a:pPr algn="ctr" indent="0" marL="0">
              <a:buNone/>
            </a:pPr>
            <a:r>
              <a:rPr lang="en-US" sz="4400" b="1" dirty="0">
                <a:solidFill>
                  <a:srgbClr val="17161B"/>
                </a:solidFill>
                <a:latin typeface="Arial" pitchFamily="34" charset="0"/>
                <a:ea typeface="Arial" pitchFamily="34" charset="-122"/>
                <a:cs typeface="Arial" pitchFamily="34" charset="-120"/>
              </a:rPr>
              <a:t>Nadie se quedó con el </a:t>
            </a:r>
            <a:pPr algn="ctr" indent="0" marL="0">
              <a:buNone/>
            </a:pPr>
            <a:r>
              <a:rPr lang="en-US" sz="4400" b="1" dirty="0">
                <a:solidFill>
                  <a:srgbClr val="6E52B0"/>
                </a:solidFill>
                <a:latin typeface="Arial" pitchFamily="34" charset="0"/>
                <a:ea typeface="Arial" pitchFamily="34" charset="-122"/>
                <a:cs typeface="Arial" pitchFamily="34" charset="-120"/>
              </a:rPr>
              <a:t>aprendizaje.</a:t>
            </a:r>
            <a:endParaRPr lang="en-US" sz="4400" dirty="0"/>
          </a:p>
        </p:txBody>
      </p:sp>
      <p:sp>
        <p:nvSpPr>
          <p:cNvPr id="5" name="Shape 2"/>
          <p:cNvSpPr/>
          <p:nvPr/>
        </p:nvSpPr>
        <p:spPr>
          <a:xfrm>
            <a:off x="3108960" y="4160520"/>
            <a:ext cx="5943600" cy="0"/>
          </a:xfrm>
          <a:prstGeom prst="line">
            <a:avLst/>
          </a:prstGeom>
          <a:noFill/>
          <a:ln w="31750">
            <a:solidFill>
              <a:srgbClr val="9B7FD6"/>
            </a:solidFill>
            <a:prstDash val="solid"/>
            <a:tailEnd type="triangle"/>
          </a:ln>
        </p:spPr>
      </p:sp>
      <p:sp>
        <p:nvSpPr>
          <p:cNvPr id="6" name="Shape 3"/>
          <p:cNvSpPr/>
          <p:nvPr/>
        </p:nvSpPr>
        <p:spPr>
          <a:xfrm>
            <a:off x="2926080" y="3977640"/>
            <a:ext cx="365760" cy="365760"/>
          </a:xfrm>
          <a:prstGeom prst="ellipse">
            <a:avLst/>
          </a:prstGeom>
          <a:solidFill>
            <a:srgbClr val="6E52B0"/>
          </a:solidFill>
          <a:ln w="12700">
            <a:solidFill>
              <a:srgbClr val="6E52B0"/>
            </a:solidFill>
            <a:prstDash val="solid"/>
          </a:ln>
        </p:spPr>
      </p:sp>
      <p:sp>
        <p:nvSpPr>
          <p:cNvPr id="7" name="Shape 4"/>
          <p:cNvSpPr/>
          <p:nvPr/>
        </p:nvSpPr>
        <p:spPr>
          <a:xfrm>
            <a:off x="9052560" y="3977640"/>
            <a:ext cx="365760" cy="365760"/>
          </a:xfrm>
          <a:prstGeom prst="ellipse">
            <a:avLst/>
          </a:prstGeom>
          <a:solidFill>
            <a:srgbClr val="6E52B0"/>
          </a:solidFill>
          <a:ln w="12700">
            <a:solidFill>
              <a:srgbClr val="6E52B0"/>
            </a:solidFill>
            <a:prstDash val="solid"/>
          </a:ln>
        </p:spPr>
      </p:sp>
      <p:sp>
        <p:nvSpPr>
          <p:cNvPr id="8" name="Text 5"/>
          <p:cNvSpPr txBox="1"/>
          <p:nvPr/>
        </p:nvSpPr>
        <p:spPr>
          <a:xfrm>
            <a:off x="1737360" y="4480560"/>
            <a:ext cx="2743200" cy="36576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Hoy</a:t>
            </a:r>
            <a:endParaRPr lang="en-US" sz="1800" dirty="0"/>
          </a:p>
        </p:txBody>
      </p:sp>
      <p:sp>
        <p:nvSpPr>
          <p:cNvPr id="9" name="Text 6"/>
          <p:cNvSpPr txBox="1"/>
          <p:nvPr/>
        </p:nvSpPr>
        <p:spPr>
          <a:xfrm>
            <a:off x="1737360" y="4846320"/>
            <a:ext cx="2743200" cy="457200"/>
          </a:xfrm>
          <a:prstGeom prst="rect">
            <a:avLst/>
          </a:prstGeom>
          <a:noFill/>
          <a:ln/>
        </p:spPr>
        <p:txBody>
          <a:bodyPr wrap="square" lIns="0" tIns="0" rIns="0" bIns="0" rtlCol="0" anchor="t"/>
          <a:lstStyle/>
          <a:p>
            <a:pPr algn="ctr" indent="0" marL="0">
              <a:buNone/>
            </a:pPr>
            <a:r>
              <a:rPr lang="en-US" sz="2200" b="1" dirty="0">
                <a:solidFill>
                  <a:srgbClr val="17161B"/>
                </a:solidFill>
                <a:latin typeface="Arial" pitchFamily="34" charset="0"/>
                <a:ea typeface="Arial" pitchFamily="34" charset="-122"/>
                <a:cs typeface="Arial" pitchFamily="34" charset="-120"/>
              </a:rPr>
              <a:t>Nadie forma juniors</a:t>
            </a:r>
            <a:endParaRPr lang="en-US" sz="2200" dirty="0"/>
          </a:p>
        </p:txBody>
      </p:sp>
      <p:sp>
        <p:nvSpPr>
          <p:cNvPr id="10" name="Text 7"/>
          <p:cNvSpPr txBox="1"/>
          <p:nvPr/>
        </p:nvSpPr>
        <p:spPr>
          <a:xfrm>
            <a:off x="7863840" y="4480560"/>
            <a:ext cx="2743200" cy="36576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En 10 años</a:t>
            </a:r>
            <a:endParaRPr lang="en-US" sz="1800" dirty="0"/>
          </a:p>
        </p:txBody>
      </p:sp>
      <p:sp>
        <p:nvSpPr>
          <p:cNvPr id="11" name="Text 8"/>
          <p:cNvSpPr txBox="1"/>
          <p:nvPr/>
        </p:nvSpPr>
        <p:spPr>
          <a:xfrm>
            <a:off x="7863840" y="4846320"/>
            <a:ext cx="2743200" cy="457200"/>
          </a:xfrm>
          <a:prstGeom prst="rect">
            <a:avLst/>
          </a:prstGeom>
          <a:noFill/>
          <a:ln/>
        </p:spPr>
        <p:txBody>
          <a:bodyPr wrap="square" lIns="0" tIns="0" rIns="0" bIns="0" rtlCol="0" anchor="t"/>
          <a:lstStyle/>
          <a:p>
            <a:pPr algn="ctr" indent="0" marL="0">
              <a:buNone/>
            </a:pPr>
            <a:r>
              <a:rPr lang="en-US" sz="2200" b="1" dirty="0">
                <a:solidFill>
                  <a:srgbClr val="6E52B0"/>
                </a:solidFill>
                <a:latin typeface="Arial" pitchFamily="34" charset="0"/>
                <a:ea typeface="Arial" pitchFamily="34" charset="-122"/>
                <a:cs typeface="Arial" pitchFamily="34" charset="-120"/>
              </a:rPr>
              <a:t>No hay seniors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058400" cy="73152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Un círculo que nadie rompe</a:t>
            </a:r>
            <a:endParaRPr lang="en-US" sz="3800" dirty="0"/>
          </a:p>
        </p:txBody>
      </p:sp>
      <p:sp>
        <p:nvSpPr>
          <p:cNvPr id="4" name="Shape 1"/>
          <p:cNvSpPr/>
          <p:nvPr/>
        </p:nvSpPr>
        <p:spPr>
          <a:xfrm>
            <a:off x="1828800" y="1737360"/>
            <a:ext cx="3566160" cy="1371600"/>
          </a:xfrm>
          <a:prstGeom prst="roundRect">
            <a:avLst>
              <a:gd name="adj" fmla="val 10667"/>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5" name="Text 2"/>
          <p:cNvSpPr txBox="1"/>
          <p:nvPr/>
        </p:nvSpPr>
        <p:spPr>
          <a:xfrm>
            <a:off x="1828800" y="1965960"/>
            <a:ext cx="3566160" cy="457200"/>
          </a:xfrm>
          <a:prstGeom prst="rect">
            <a:avLst/>
          </a:prstGeom>
          <a:noFill/>
          <a:ln/>
        </p:spPr>
        <p:txBody>
          <a:bodyPr wrap="square" lIns="0" tIns="0" rIns="0" bIns="0" rtlCol="0" anchor="t"/>
          <a:lstStyle/>
          <a:p>
            <a:pPr algn="ctr" indent="0" marL="0">
              <a:buNone/>
            </a:pPr>
            <a:r>
              <a:rPr lang="en-US" sz="2400" b="1" dirty="0">
                <a:solidFill>
                  <a:srgbClr val="17161B"/>
                </a:solidFill>
                <a:latin typeface="Arial" pitchFamily="34" charset="0"/>
                <a:ea typeface="Arial" pitchFamily="34" charset="-122"/>
                <a:cs typeface="Arial" pitchFamily="34" charset="-120"/>
              </a:rPr>
              <a:t>Sin experiencia</a:t>
            </a:r>
            <a:endParaRPr lang="en-US" sz="2400" dirty="0"/>
          </a:p>
        </p:txBody>
      </p:sp>
      <p:sp>
        <p:nvSpPr>
          <p:cNvPr id="6" name="Text 3"/>
          <p:cNvSpPr txBox="1"/>
          <p:nvPr/>
        </p:nvSpPr>
        <p:spPr>
          <a:xfrm>
            <a:off x="1828800" y="2423160"/>
            <a:ext cx="3566160" cy="41148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no te contratan</a:t>
            </a:r>
            <a:endParaRPr lang="en-US" sz="1800" dirty="0"/>
          </a:p>
        </p:txBody>
      </p:sp>
      <p:sp>
        <p:nvSpPr>
          <p:cNvPr id="7" name="Shape 4"/>
          <p:cNvSpPr/>
          <p:nvPr/>
        </p:nvSpPr>
        <p:spPr>
          <a:xfrm>
            <a:off x="6793992" y="1737360"/>
            <a:ext cx="3566160" cy="1371600"/>
          </a:xfrm>
          <a:prstGeom prst="roundRect">
            <a:avLst>
              <a:gd name="adj" fmla="val 10667"/>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8" name="Text 5"/>
          <p:cNvSpPr txBox="1"/>
          <p:nvPr/>
        </p:nvSpPr>
        <p:spPr>
          <a:xfrm>
            <a:off x="6793992" y="1965960"/>
            <a:ext cx="3566160" cy="457200"/>
          </a:xfrm>
          <a:prstGeom prst="rect">
            <a:avLst/>
          </a:prstGeom>
          <a:noFill/>
          <a:ln/>
        </p:spPr>
        <p:txBody>
          <a:bodyPr wrap="square" lIns="0" tIns="0" rIns="0" bIns="0" rtlCol="0" anchor="t"/>
          <a:lstStyle/>
          <a:p>
            <a:pPr algn="ctr" indent="0" marL="0">
              <a:buNone/>
            </a:pPr>
            <a:r>
              <a:rPr lang="en-US" sz="2400" b="1" dirty="0">
                <a:solidFill>
                  <a:srgbClr val="17161B"/>
                </a:solidFill>
                <a:latin typeface="Arial" pitchFamily="34" charset="0"/>
                <a:ea typeface="Arial" pitchFamily="34" charset="-122"/>
                <a:cs typeface="Arial" pitchFamily="34" charset="-120"/>
              </a:rPr>
              <a:t>Sin contratación</a:t>
            </a:r>
            <a:endParaRPr lang="en-US" sz="2400" dirty="0"/>
          </a:p>
        </p:txBody>
      </p:sp>
      <p:sp>
        <p:nvSpPr>
          <p:cNvPr id="9" name="Text 6"/>
          <p:cNvSpPr txBox="1"/>
          <p:nvPr/>
        </p:nvSpPr>
        <p:spPr>
          <a:xfrm>
            <a:off x="6793992" y="2423160"/>
            <a:ext cx="3566160" cy="41148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no hay experiencia</a:t>
            </a:r>
            <a:endParaRPr lang="en-US" sz="1800" dirty="0"/>
          </a:p>
        </p:txBody>
      </p:sp>
      <p:sp>
        <p:nvSpPr>
          <p:cNvPr id="10" name="Shape 7"/>
          <p:cNvSpPr/>
          <p:nvPr/>
        </p:nvSpPr>
        <p:spPr>
          <a:xfrm>
            <a:off x="5532120" y="2103120"/>
            <a:ext cx="1124712" cy="0"/>
          </a:xfrm>
          <a:prstGeom prst="line">
            <a:avLst/>
          </a:prstGeom>
          <a:noFill/>
          <a:ln w="31750">
            <a:solidFill>
              <a:srgbClr val="6E52B0"/>
            </a:solidFill>
            <a:prstDash val="solid"/>
            <a:tailEnd type="triangle"/>
          </a:ln>
        </p:spPr>
      </p:sp>
      <p:sp>
        <p:nvSpPr>
          <p:cNvPr id="11" name="Shape 8"/>
          <p:cNvSpPr/>
          <p:nvPr/>
        </p:nvSpPr>
        <p:spPr>
          <a:xfrm>
            <a:off x="5532120" y="2743200"/>
            <a:ext cx="1124712" cy="0"/>
          </a:xfrm>
          <a:prstGeom prst="line">
            <a:avLst/>
          </a:prstGeom>
          <a:noFill/>
          <a:ln w="31750">
            <a:solidFill>
              <a:srgbClr val="6E52B0"/>
            </a:solidFill>
            <a:prstDash val="solid"/>
            <a:headEnd type="triangle"/>
          </a:ln>
        </p:spPr>
      </p:sp>
      <p:sp>
        <p:nvSpPr>
          <p:cNvPr id="12" name="Shape 9"/>
          <p:cNvSpPr/>
          <p:nvPr/>
        </p:nvSpPr>
        <p:spPr>
          <a:xfrm>
            <a:off x="731520" y="3931920"/>
            <a:ext cx="3429000" cy="2011680"/>
          </a:xfrm>
          <a:prstGeom prst="roundRect">
            <a:avLst>
              <a:gd name="adj" fmla="val 727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3" name="Shape 10"/>
          <p:cNvSpPr/>
          <p:nvPr/>
        </p:nvSpPr>
        <p:spPr>
          <a:xfrm>
            <a:off x="1051560" y="4206240"/>
            <a:ext cx="566928" cy="566928"/>
          </a:xfrm>
          <a:prstGeom prst="ellipse">
            <a:avLst/>
          </a:prstGeom>
          <a:solidFill>
            <a:srgbClr val="EFE9FA"/>
          </a:solidFill>
          <a:ln w="12700">
            <a:solidFill>
              <a:srgbClr val="EFE9FA"/>
            </a:solidFill>
            <a:prstDash val="solid"/>
          </a:ln>
        </p:spPr>
      </p:sp>
      <p:pic>
        <p:nvPicPr>
          <p:cNvPr id="14" name="Image 1" descr="preencoded.png">    </p:cNvPr>
          <p:cNvPicPr>
            <a:picLocks noChangeAspect="1"/>
          </p:cNvPicPr>
          <p:nvPr/>
        </p:nvPicPr>
        <p:blipFill>
          <a:blip r:embed="rId2"/>
          <a:stretch>
            <a:fillRect/>
          </a:stretch>
        </p:blipFill>
        <p:spPr>
          <a:xfrm>
            <a:off x="1187623" y="4342303"/>
            <a:ext cx="294803" cy="294803"/>
          </a:xfrm>
          <a:prstGeom prst="rect">
            <a:avLst/>
          </a:prstGeom>
        </p:spPr>
      </p:pic>
      <p:sp>
        <p:nvSpPr>
          <p:cNvPr id="15" name="Text 11"/>
          <p:cNvSpPr txBox="1"/>
          <p:nvPr/>
        </p:nvSpPr>
        <p:spPr>
          <a:xfrm>
            <a:off x="1783080" y="4315968"/>
            <a:ext cx="2194560" cy="411480"/>
          </a:xfrm>
          <a:prstGeom prst="rect">
            <a:avLst/>
          </a:prstGeom>
          <a:noFill/>
          <a:ln/>
        </p:spPr>
        <p:txBody>
          <a:bodyPr wrap="square" lIns="0" tIns="0" rIns="0" bIns="0" rtlCol="0" anchor="t"/>
          <a:lstStyle/>
          <a:p>
            <a:pPr indent="0" marL="0">
              <a:buNone/>
            </a:pPr>
            <a:r>
              <a:rPr lang="en-US" sz="2000" b="1" dirty="0">
                <a:solidFill>
                  <a:srgbClr val="17161B"/>
                </a:solidFill>
                <a:latin typeface="Arial" pitchFamily="34" charset="0"/>
                <a:ea typeface="Arial" pitchFamily="34" charset="-122"/>
                <a:cs typeface="Arial" pitchFamily="34" charset="-120"/>
              </a:rPr>
              <a:t>Empresa</a:t>
            </a:r>
            <a:endParaRPr lang="en-US" sz="2000" dirty="0"/>
          </a:p>
        </p:txBody>
      </p:sp>
      <p:sp>
        <p:nvSpPr>
          <p:cNvPr id="16" name="Text 12"/>
          <p:cNvSpPr txBox="1"/>
          <p:nvPr/>
        </p:nvSpPr>
        <p:spPr>
          <a:xfrm>
            <a:off x="1051560" y="4983480"/>
            <a:ext cx="2834640" cy="77724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Contratar sin experiencia es un riesgo.</a:t>
            </a:r>
            <a:endParaRPr lang="en-US" sz="1700" dirty="0"/>
          </a:p>
        </p:txBody>
      </p:sp>
      <p:sp>
        <p:nvSpPr>
          <p:cNvPr id="17" name="Shape 13"/>
          <p:cNvSpPr/>
          <p:nvPr/>
        </p:nvSpPr>
        <p:spPr>
          <a:xfrm>
            <a:off x="4361688" y="3931920"/>
            <a:ext cx="3429000" cy="2011680"/>
          </a:xfrm>
          <a:prstGeom prst="roundRect">
            <a:avLst>
              <a:gd name="adj" fmla="val 727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8" name="Shape 14"/>
          <p:cNvSpPr/>
          <p:nvPr/>
        </p:nvSpPr>
        <p:spPr>
          <a:xfrm>
            <a:off x="4681728" y="4206240"/>
            <a:ext cx="566928" cy="566928"/>
          </a:xfrm>
          <a:prstGeom prst="ellipse">
            <a:avLst/>
          </a:prstGeom>
          <a:solidFill>
            <a:srgbClr val="EFE9FA"/>
          </a:solidFill>
          <a:ln w="12700">
            <a:solidFill>
              <a:srgbClr val="EFE9FA"/>
            </a:solidFill>
            <a:prstDash val="solid"/>
          </a:ln>
        </p:spPr>
      </p:sp>
      <p:pic>
        <p:nvPicPr>
          <p:cNvPr id="19" name="Image 2" descr="preencoded.png">    </p:cNvPr>
          <p:cNvPicPr>
            <a:picLocks noChangeAspect="1"/>
          </p:cNvPicPr>
          <p:nvPr/>
        </p:nvPicPr>
        <p:blipFill>
          <a:blip r:embed="rId3"/>
          <a:stretch>
            <a:fillRect/>
          </a:stretch>
        </p:blipFill>
        <p:spPr>
          <a:xfrm>
            <a:off x="4817791" y="4342303"/>
            <a:ext cx="294803" cy="294803"/>
          </a:xfrm>
          <a:prstGeom prst="rect">
            <a:avLst/>
          </a:prstGeom>
        </p:spPr>
      </p:pic>
      <p:sp>
        <p:nvSpPr>
          <p:cNvPr id="20" name="Text 15"/>
          <p:cNvSpPr txBox="1"/>
          <p:nvPr/>
        </p:nvSpPr>
        <p:spPr>
          <a:xfrm>
            <a:off x="5413248" y="4315968"/>
            <a:ext cx="2194560" cy="411480"/>
          </a:xfrm>
          <a:prstGeom prst="rect">
            <a:avLst/>
          </a:prstGeom>
          <a:noFill/>
          <a:ln/>
        </p:spPr>
        <p:txBody>
          <a:bodyPr wrap="square" lIns="0" tIns="0" rIns="0" bIns="0" rtlCol="0" anchor="t"/>
          <a:lstStyle/>
          <a:p>
            <a:pPr indent="0" marL="0">
              <a:buNone/>
            </a:pPr>
            <a:r>
              <a:rPr lang="en-US" sz="2000" b="1" dirty="0">
                <a:solidFill>
                  <a:srgbClr val="17161B"/>
                </a:solidFill>
                <a:latin typeface="Arial" pitchFamily="34" charset="0"/>
                <a:ea typeface="Arial" pitchFamily="34" charset="-122"/>
                <a:cs typeface="Arial" pitchFamily="34" charset="-120"/>
              </a:rPr>
              <a:t>Estudiante</a:t>
            </a:r>
            <a:endParaRPr lang="en-US" sz="2000" dirty="0"/>
          </a:p>
        </p:txBody>
      </p:sp>
      <p:sp>
        <p:nvSpPr>
          <p:cNvPr id="21" name="Text 16"/>
          <p:cNvSpPr txBox="1"/>
          <p:nvPr/>
        </p:nvSpPr>
        <p:spPr>
          <a:xfrm>
            <a:off x="4681728" y="4983480"/>
            <a:ext cx="2834640" cy="77724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Nadie le da la primera oportunidad.</a:t>
            </a:r>
            <a:endParaRPr lang="en-US" sz="1700" dirty="0"/>
          </a:p>
        </p:txBody>
      </p:sp>
      <p:sp>
        <p:nvSpPr>
          <p:cNvPr id="22" name="Shape 17"/>
          <p:cNvSpPr/>
          <p:nvPr/>
        </p:nvSpPr>
        <p:spPr>
          <a:xfrm>
            <a:off x="7991856" y="3931920"/>
            <a:ext cx="3429000" cy="2011680"/>
          </a:xfrm>
          <a:prstGeom prst="roundRect">
            <a:avLst>
              <a:gd name="adj" fmla="val 727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3" name="Shape 18"/>
          <p:cNvSpPr/>
          <p:nvPr/>
        </p:nvSpPr>
        <p:spPr>
          <a:xfrm>
            <a:off x="8311896" y="4206240"/>
            <a:ext cx="566928" cy="566928"/>
          </a:xfrm>
          <a:prstGeom prst="ellipse">
            <a:avLst/>
          </a:prstGeom>
          <a:solidFill>
            <a:srgbClr val="EFE9FA"/>
          </a:solidFill>
          <a:ln w="12700">
            <a:solidFill>
              <a:srgbClr val="EFE9FA"/>
            </a:solidFill>
            <a:prstDash val="solid"/>
          </a:ln>
        </p:spPr>
      </p:sp>
      <p:pic>
        <p:nvPicPr>
          <p:cNvPr id="24" name="Image 3" descr="preencoded.png">    </p:cNvPr>
          <p:cNvPicPr>
            <a:picLocks noChangeAspect="1"/>
          </p:cNvPicPr>
          <p:nvPr/>
        </p:nvPicPr>
        <p:blipFill>
          <a:blip r:embed="rId4"/>
          <a:stretch>
            <a:fillRect/>
          </a:stretch>
        </p:blipFill>
        <p:spPr>
          <a:xfrm>
            <a:off x="8447959" y="4342303"/>
            <a:ext cx="294803" cy="294803"/>
          </a:xfrm>
          <a:prstGeom prst="rect">
            <a:avLst/>
          </a:prstGeom>
        </p:spPr>
      </p:pic>
      <p:sp>
        <p:nvSpPr>
          <p:cNvPr id="25" name="Text 19"/>
          <p:cNvSpPr txBox="1"/>
          <p:nvPr/>
        </p:nvSpPr>
        <p:spPr>
          <a:xfrm>
            <a:off x="9043416" y="4315968"/>
            <a:ext cx="2194560" cy="411480"/>
          </a:xfrm>
          <a:prstGeom prst="rect">
            <a:avLst/>
          </a:prstGeom>
          <a:noFill/>
          <a:ln/>
        </p:spPr>
        <p:txBody>
          <a:bodyPr wrap="square" lIns="0" tIns="0" rIns="0" bIns="0" rtlCol="0" anchor="t"/>
          <a:lstStyle/>
          <a:p>
            <a:pPr indent="0" marL="0">
              <a:buNone/>
            </a:pPr>
            <a:r>
              <a:rPr lang="en-US" sz="2000" b="1" dirty="0">
                <a:solidFill>
                  <a:srgbClr val="17161B"/>
                </a:solidFill>
                <a:latin typeface="Arial" pitchFamily="34" charset="0"/>
                <a:ea typeface="Arial" pitchFamily="34" charset="-122"/>
                <a:cs typeface="Arial" pitchFamily="34" charset="-120"/>
              </a:rPr>
              <a:t>Senior</a:t>
            </a:r>
            <a:endParaRPr lang="en-US" sz="2000" dirty="0"/>
          </a:p>
        </p:txBody>
      </p:sp>
      <p:sp>
        <p:nvSpPr>
          <p:cNvPr id="26" name="Text 20"/>
          <p:cNvSpPr txBox="1"/>
          <p:nvPr/>
        </p:nvSpPr>
        <p:spPr>
          <a:xfrm>
            <a:off x="8311896" y="4983480"/>
            <a:ext cx="2834640" cy="77724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Formar le quita tiempo que no tiene.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789920" cy="82296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El criterio del senior, convertido en un </a:t>
            </a:r>
            <a:pPr indent="0" marL="0">
              <a:buNone/>
            </a:pPr>
            <a:r>
              <a:rPr lang="en-US" sz="3800" b="1" dirty="0">
                <a:solidFill>
                  <a:srgbClr val="6E52B0"/>
                </a:solidFill>
                <a:latin typeface="Arial" pitchFamily="34" charset="0"/>
                <a:ea typeface="Arial" pitchFamily="34" charset="-122"/>
                <a:cs typeface="Arial" pitchFamily="34" charset="-120"/>
              </a:rPr>
              <a:t>agente.</a:t>
            </a:r>
            <a:endParaRPr lang="en-US" sz="3800" dirty="0"/>
          </a:p>
        </p:txBody>
      </p:sp>
      <p:sp>
        <p:nvSpPr>
          <p:cNvPr id="4" name="Shape 1"/>
          <p:cNvSpPr/>
          <p:nvPr/>
        </p:nvSpPr>
        <p:spPr>
          <a:xfrm>
            <a:off x="731520" y="2788920"/>
            <a:ext cx="2926080" cy="1737360"/>
          </a:xfrm>
          <a:prstGeom prst="roundRect">
            <a:avLst>
              <a:gd name="adj" fmla="val 8421"/>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5" name="Shape 2"/>
          <p:cNvSpPr/>
          <p:nvPr/>
        </p:nvSpPr>
        <p:spPr>
          <a:xfrm>
            <a:off x="1005840" y="3063240"/>
            <a:ext cx="566928" cy="566928"/>
          </a:xfrm>
          <a:prstGeom prst="ellipse">
            <a:avLst/>
          </a:prstGeom>
          <a:solidFill>
            <a:srgbClr val="EFE9FA"/>
          </a:solidFill>
          <a:ln w="12700">
            <a:solidFill>
              <a:srgbClr val="EFE9FA"/>
            </a:solidFill>
            <a:prstDash val="solid"/>
          </a:ln>
        </p:spPr>
      </p:sp>
      <p:pic>
        <p:nvPicPr>
          <p:cNvPr id="6" name="Image 1" descr="preencoded.png">    </p:cNvPr>
          <p:cNvPicPr>
            <a:picLocks noChangeAspect="1"/>
          </p:cNvPicPr>
          <p:nvPr/>
        </p:nvPicPr>
        <p:blipFill>
          <a:blip r:embed="rId2"/>
          <a:stretch>
            <a:fillRect/>
          </a:stretch>
        </p:blipFill>
        <p:spPr>
          <a:xfrm>
            <a:off x="1141903" y="3199303"/>
            <a:ext cx="294803" cy="294803"/>
          </a:xfrm>
          <a:prstGeom prst="rect">
            <a:avLst/>
          </a:prstGeom>
        </p:spPr>
      </p:pic>
      <p:sp>
        <p:nvSpPr>
          <p:cNvPr id="7" name="Text 3"/>
          <p:cNvSpPr txBox="1"/>
          <p:nvPr/>
        </p:nvSpPr>
        <p:spPr>
          <a:xfrm>
            <a:off x="1737360" y="3154680"/>
            <a:ext cx="1828800" cy="411480"/>
          </a:xfrm>
          <a:prstGeom prst="rect">
            <a:avLst/>
          </a:prstGeom>
          <a:noFill/>
          <a:ln/>
        </p:spPr>
        <p:txBody>
          <a:bodyPr wrap="square" lIns="0" tIns="0" rIns="0" bIns="0" rtlCol="0" anchor="t"/>
          <a:lstStyle/>
          <a:p>
            <a:pPr indent="0" marL="0">
              <a:buNone/>
            </a:pPr>
            <a:r>
              <a:rPr lang="en-US" sz="2200" b="1" dirty="0">
                <a:solidFill>
                  <a:srgbClr val="17161B"/>
                </a:solidFill>
                <a:latin typeface="Arial" pitchFamily="34" charset="0"/>
                <a:ea typeface="Arial" pitchFamily="34" charset="-122"/>
                <a:cs typeface="Arial" pitchFamily="34" charset="-120"/>
              </a:rPr>
              <a:t>Senior</a:t>
            </a:r>
            <a:endParaRPr lang="en-US" sz="2200" dirty="0"/>
          </a:p>
        </p:txBody>
      </p:sp>
      <p:sp>
        <p:nvSpPr>
          <p:cNvPr id="8" name="Text 4"/>
          <p:cNvSpPr txBox="1"/>
          <p:nvPr/>
        </p:nvSpPr>
        <p:spPr>
          <a:xfrm>
            <a:off x="1005840" y="3749040"/>
            <a:ext cx="2468880" cy="640080"/>
          </a:xfrm>
          <a:prstGeom prst="rect">
            <a:avLst/>
          </a:prstGeom>
          <a:noFill/>
          <a:ln/>
        </p:spPr>
        <p:txBody>
          <a:bodyPr wrap="square" lIns="0" tIns="0" rIns="0" bIns="0" rtlCol="0" anchor="t"/>
          <a:lstStyle/>
          <a:p>
            <a:pPr indent="0" marL="0">
              <a:buNone/>
            </a:pPr>
            <a:r>
              <a:rPr lang="en-US" sz="1600" dirty="0">
                <a:solidFill>
                  <a:srgbClr val="5F5B6B"/>
                </a:solidFill>
                <a:latin typeface="Arial" pitchFamily="34" charset="0"/>
                <a:ea typeface="Arial" pitchFamily="34" charset="-122"/>
                <a:cs typeface="Arial" pitchFamily="34" charset="-120"/>
              </a:rPr>
              <a:t>Carga el contexto una sola vez</a:t>
            </a:r>
            <a:endParaRPr lang="en-US" sz="1600" dirty="0"/>
          </a:p>
        </p:txBody>
      </p:sp>
      <p:sp>
        <p:nvSpPr>
          <p:cNvPr id="9" name="Shape 5"/>
          <p:cNvSpPr/>
          <p:nvPr/>
        </p:nvSpPr>
        <p:spPr>
          <a:xfrm>
            <a:off x="3794760" y="3657600"/>
            <a:ext cx="822960" cy="0"/>
          </a:xfrm>
          <a:prstGeom prst="line">
            <a:avLst/>
          </a:prstGeom>
          <a:noFill/>
          <a:ln w="31750">
            <a:solidFill>
              <a:srgbClr val="9B7FD6"/>
            </a:solidFill>
            <a:prstDash val="solid"/>
            <a:tailEnd type="triangle"/>
          </a:ln>
        </p:spPr>
      </p:sp>
      <p:pic>
        <p:nvPicPr>
          <p:cNvPr id="10" name="Image 2" descr="/tmp/claude-0/-home-claude/d13c7265-f088-5db4-933a-3af5cafd5191/scratchpad/deck/img/orb.png">    </p:cNvPr>
          <p:cNvPicPr>
            <a:picLocks noChangeAspect="1"/>
          </p:cNvPicPr>
          <p:nvPr/>
        </p:nvPicPr>
        <p:blipFill>
          <a:blip r:embed="rId3"/>
          <a:stretch>
            <a:fillRect/>
          </a:stretch>
        </p:blipFill>
        <p:spPr>
          <a:xfrm>
            <a:off x="4343400" y="2240280"/>
            <a:ext cx="2834640" cy="2834640"/>
          </a:xfrm>
          <a:prstGeom prst="rect">
            <a:avLst/>
          </a:prstGeom>
        </p:spPr>
      </p:pic>
      <p:sp>
        <p:nvSpPr>
          <p:cNvPr id="11" name="Text 6"/>
          <p:cNvSpPr txBox="1"/>
          <p:nvPr/>
        </p:nvSpPr>
        <p:spPr>
          <a:xfrm>
            <a:off x="4480560" y="4892040"/>
            <a:ext cx="256032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Agente de IA</a:t>
            </a:r>
            <a:endParaRPr lang="en-US" sz="1800" dirty="0"/>
          </a:p>
        </p:txBody>
      </p:sp>
      <p:sp>
        <p:nvSpPr>
          <p:cNvPr id="12" name="Shape 7"/>
          <p:cNvSpPr/>
          <p:nvPr/>
        </p:nvSpPr>
        <p:spPr>
          <a:xfrm flipV="1">
            <a:off x="6949440" y="2560320"/>
            <a:ext cx="914400" cy="822960"/>
          </a:xfrm>
          <a:prstGeom prst="line">
            <a:avLst/>
          </a:prstGeom>
          <a:noFill/>
          <a:ln w="31750">
            <a:solidFill>
              <a:srgbClr val="9B7FD6"/>
            </a:solidFill>
            <a:prstDash val="solid"/>
            <a:tailEnd type="triangle"/>
          </a:ln>
        </p:spPr>
      </p:sp>
      <p:sp>
        <p:nvSpPr>
          <p:cNvPr id="13" name="Shape 8"/>
          <p:cNvSpPr/>
          <p:nvPr/>
        </p:nvSpPr>
        <p:spPr>
          <a:xfrm>
            <a:off x="6949440" y="3931920"/>
            <a:ext cx="914400" cy="822960"/>
          </a:xfrm>
          <a:prstGeom prst="line">
            <a:avLst/>
          </a:prstGeom>
          <a:noFill/>
          <a:ln w="31750">
            <a:solidFill>
              <a:srgbClr val="9B7FD6"/>
            </a:solidFill>
            <a:prstDash val="solid"/>
            <a:tailEnd type="triangle"/>
          </a:ln>
        </p:spPr>
      </p:sp>
      <p:sp>
        <p:nvSpPr>
          <p:cNvPr id="14" name="Shape 9"/>
          <p:cNvSpPr/>
          <p:nvPr/>
        </p:nvSpPr>
        <p:spPr>
          <a:xfrm>
            <a:off x="8001000" y="1783080"/>
            <a:ext cx="3474720" cy="1554480"/>
          </a:xfrm>
          <a:prstGeom prst="roundRect">
            <a:avLst>
              <a:gd name="adj" fmla="val 94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5" name="Shape 10"/>
          <p:cNvSpPr/>
          <p:nvPr/>
        </p:nvSpPr>
        <p:spPr>
          <a:xfrm>
            <a:off x="8275320" y="2057400"/>
            <a:ext cx="566928" cy="566928"/>
          </a:xfrm>
          <a:prstGeom prst="ellipse">
            <a:avLst/>
          </a:prstGeom>
          <a:solidFill>
            <a:srgbClr val="EFE9FA"/>
          </a:solidFill>
          <a:ln w="12700">
            <a:solidFill>
              <a:srgbClr val="EFE9FA"/>
            </a:solidFill>
            <a:prstDash val="solid"/>
          </a:ln>
        </p:spPr>
      </p:sp>
      <p:pic>
        <p:nvPicPr>
          <p:cNvPr id="16" name="Image 3" descr="preencoded.png">    </p:cNvPr>
          <p:cNvPicPr>
            <a:picLocks noChangeAspect="1"/>
          </p:cNvPicPr>
          <p:nvPr/>
        </p:nvPicPr>
        <p:blipFill>
          <a:blip r:embed="rId4"/>
          <a:stretch>
            <a:fillRect/>
          </a:stretch>
        </p:blipFill>
        <p:spPr>
          <a:xfrm>
            <a:off x="8411383" y="2193463"/>
            <a:ext cx="294803" cy="294803"/>
          </a:xfrm>
          <a:prstGeom prst="rect">
            <a:avLst/>
          </a:prstGeom>
        </p:spPr>
      </p:pic>
      <p:sp>
        <p:nvSpPr>
          <p:cNvPr id="17" name="Text 11"/>
          <p:cNvSpPr txBox="1"/>
          <p:nvPr/>
        </p:nvSpPr>
        <p:spPr>
          <a:xfrm>
            <a:off x="9006840" y="2103120"/>
            <a:ext cx="23774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Antes de contratar</a:t>
            </a:r>
            <a:endParaRPr lang="en-US" sz="1800" dirty="0"/>
          </a:p>
        </p:txBody>
      </p:sp>
      <p:sp>
        <p:nvSpPr>
          <p:cNvPr id="18" name="Text 12"/>
          <p:cNvSpPr txBox="1"/>
          <p:nvPr/>
        </p:nvSpPr>
        <p:spPr>
          <a:xfrm>
            <a:off x="8275320" y="2697480"/>
            <a:ext cx="3108960" cy="457200"/>
          </a:xfrm>
          <a:prstGeom prst="rect">
            <a:avLst/>
          </a:prstGeom>
          <a:noFill/>
          <a:ln/>
        </p:spPr>
        <p:txBody>
          <a:bodyPr wrap="square" lIns="0" tIns="0" rIns="0" bIns="0" rtlCol="0" anchor="t"/>
          <a:lstStyle/>
          <a:p>
            <a:pPr indent="0" marL="0">
              <a:buNone/>
            </a:pPr>
            <a:r>
              <a:rPr lang="en-US" sz="1800" b="1" dirty="0">
                <a:solidFill>
                  <a:srgbClr val="17161B"/>
                </a:solidFill>
                <a:latin typeface="Arial" pitchFamily="34" charset="0"/>
                <a:ea typeface="Arial" pitchFamily="34" charset="-122"/>
                <a:cs typeface="Arial" pitchFamily="34" charset="-120"/>
              </a:rPr>
              <a:t>Simulación por voz + informe</a:t>
            </a:r>
            <a:endParaRPr lang="en-US" sz="1800" dirty="0"/>
          </a:p>
        </p:txBody>
      </p:sp>
      <p:sp>
        <p:nvSpPr>
          <p:cNvPr id="19" name="Shape 13"/>
          <p:cNvSpPr/>
          <p:nvPr/>
        </p:nvSpPr>
        <p:spPr>
          <a:xfrm>
            <a:off x="8001000" y="3977640"/>
            <a:ext cx="3474720" cy="1554480"/>
          </a:xfrm>
          <a:prstGeom prst="roundRect">
            <a:avLst>
              <a:gd name="adj" fmla="val 94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0" name="Shape 14"/>
          <p:cNvSpPr/>
          <p:nvPr/>
        </p:nvSpPr>
        <p:spPr>
          <a:xfrm>
            <a:off x="8275320" y="4251960"/>
            <a:ext cx="566928" cy="566928"/>
          </a:xfrm>
          <a:prstGeom prst="ellipse">
            <a:avLst/>
          </a:prstGeom>
          <a:solidFill>
            <a:srgbClr val="EFE9FA"/>
          </a:solidFill>
          <a:ln w="12700">
            <a:solidFill>
              <a:srgbClr val="EFE9FA"/>
            </a:solidFill>
            <a:prstDash val="solid"/>
          </a:ln>
        </p:spPr>
      </p:sp>
      <p:pic>
        <p:nvPicPr>
          <p:cNvPr id="21" name="Image 4" descr="preencoded.png">    </p:cNvPr>
          <p:cNvPicPr>
            <a:picLocks noChangeAspect="1"/>
          </p:cNvPicPr>
          <p:nvPr/>
        </p:nvPicPr>
        <p:blipFill>
          <a:blip r:embed="rId5"/>
          <a:stretch>
            <a:fillRect/>
          </a:stretch>
        </p:blipFill>
        <p:spPr>
          <a:xfrm>
            <a:off x="8411383" y="4388023"/>
            <a:ext cx="294803" cy="294803"/>
          </a:xfrm>
          <a:prstGeom prst="rect">
            <a:avLst/>
          </a:prstGeom>
        </p:spPr>
      </p:pic>
      <p:sp>
        <p:nvSpPr>
          <p:cNvPr id="22" name="Text 15"/>
          <p:cNvSpPr txBox="1"/>
          <p:nvPr/>
        </p:nvSpPr>
        <p:spPr>
          <a:xfrm>
            <a:off x="9006840" y="4297680"/>
            <a:ext cx="23774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Después de contratar</a:t>
            </a:r>
            <a:endParaRPr lang="en-US" sz="1800" dirty="0"/>
          </a:p>
        </p:txBody>
      </p:sp>
      <p:sp>
        <p:nvSpPr>
          <p:cNvPr id="23" name="Text 16"/>
          <p:cNvSpPr txBox="1"/>
          <p:nvPr/>
        </p:nvSpPr>
        <p:spPr>
          <a:xfrm>
            <a:off x="8275320" y="4892040"/>
            <a:ext cx="3108960" cy="457200"/>
          </a:xfrm>
          <a:prstGeom prst="rect">
            <a:avLst/>
          </a:prstGeom>
          <a:noFill/>
          <a:ln/>
        </p:spPr>
        <p:txBody>
          <a:bodyPr wrap="square" lIns="0" tIns="0" rIns="0" bIns="0" rtlCol="0" anchor="t"/>
          <a:lstStyle/>
          <a:p>
            <a:pPr indent="0" marL="0">
              <a:buNone/>
            </a:pPr>
            <a:r>
              <a:rPr lang="en-US" sz="1800" b="1" dirty="0">
                <a:solidFill>
                  <a:srgbClr val="17161B"/>
                </a:solidFill>
                <a:latin typeface="Arial" pitchFamily="34" charset="0"/>
                <a:ea typeface="Arial" pitchFamily="34" charset="-122"/>
                <a:cs typeface="Arial" pitchFamily="34" charset="-120"/>
              </a:rPr>
              <a:t>Mentor del equipo</a:t>
            </a:r>
            <a:endParaRPr lang="en-US" sz="1800" dirty="0"/>
          </a:p>
        </p:txBody>
      </p:sp>
      <p:sp>
        <p:nvSpPr>
          <p:cNvPr id="24" name="Shape 17"/>
          <p:cNvSpPr/>
          <p:nvPr/>
        </p:nvSpPr>
        <p:spPr>
          <a:xfrm>
            <a:off x="731520" y="5989320"/>
            <a:ext cx="2926080" cy="420624"/>
          </a:xfrm>
          <a:prstGeom prst="roundRect">
            <a:avLst>
              <a:gd name="adj" fmla="val 50000"/>
            </a:avLst>
          </a:prstGeom>
          <a:solidFill>
            <a:srgbClr val="DCD2F0"/>
          </a:solidFill>
          <a:ln w="12700">
            <a:solidFill>
              <a:srgbClr val="DCD2F0"/>
            </a:solidFill>
            <a:prstDash val="solid"/>
          </a:ln>
        </p:spPr>
      </p:sp>
      <p:sp>
        <p:nvSpPr>
          <p:cNvPr id="25" name="Text 18"/>
          <p:cNvSpPr txBox="1"/>
          <p:nvPr/>
        </p:nvSpPr>
        <p:spPr>
          <a:xfrm>
            <a:off x="731520" y="5989320"/>
            <a:ext cx="292608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CUALQUIER RUBRO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20" y="914400"/>
            <a:ext cx="2834640" cy="420624"/>
          </a:xfrm>
          <a:prstGeom prst="roundRect">
            <a:avLst>
              <a:gd name="adj" fmla="val 50000"/>
            </a:avLst>
          </a:prstGeom>
          <a:solidFill>
            <a:srgbClr val="DCD2F0"/>
          </a:solidFill>
          <a:ln w="12700">
            <a:solidFill>
              <a:srgbClr val="DCD2F0"/>
            </a:solidFill>
            <a:prstDash val="solid"/>
          </a:ln>
        </p:spPr>
      </p:sp>
      <p:sp>
        <p:nvSpPr>
          <p:cNvPr id="4" name="Text 1"/>
          <p:cNvSpPr txBox="1"/>
          <p:nvPr/>
        </p:nvSpPr>
        <p:spPr>
          <a:xfrm>
            <a:off x="731520" y="914400"/>
            <a:ext cx="283464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EL ESTUDIANTE</a:t>
            </a:r>
            <a:endParaRPr lang="en-US" sz="1300" dirty="0"/>
          </a:p>
        </p:txBody>
      </p:sp>
      <p:sp>
        <p:nvSpPr>
          <p:cNvPr id="5" name="Text 2"/>
          <p:cNvSpPr txBox="1"/>
          <p:nvPr/>
        </p:nvSpPr>
        <p:spPr>
          <a:xfrm>
            <a:off x="731520" y="1600200"/>
            <a:ext cx="4480560" cy="1737360"/>
          </a:xfrm>
          <a:prstGeom prst="rect">
            <a:avLst/>
          </a:prstGeom>
          <a:noFill/>
          <a:ln/>
        </p:spPr>
        <p:txBody>
          <a:bodyPr wrap="square" lIns="0" tIns="0" rIns="0" bIns="0" rtlCol="0" anchor="t"/>
          <a:lstStyle/>
          <a:p>
            <a:pPr indent="0" marL="0">
              <a:buNone/>
            </a:pPr>
            <a:r>
              <a:rPr lang="en-US" sz="4000" b="1" dirty="0">
                <a:solidFill>
                  <a:srgbClr val="17161B"/>
                </a:solidFill>
                <a:latin typeface="Arial" pitchFamily="34" charset="0"/>
                <a:ea typeface="Arial" pitchFamily="34" charset="-122"/>
                <a:cs typeface="Arial" pitchFamily="34" charset="-120"/>
              </a:rPr>
              <a:t>Las habilidades </a:t>
            </a:r>
            <a:pPr indent="0" marL="0">
              <a:buNone/>
            </a:pPr>
            <a:r>
              <a:rPr lang="en-US" sz="4000" b="1" dirty="0">
                <a:solidFill>
                  <a:srgbClr val="6E52B0"/>
                </a:solidFill>
                <a:latin typeface="Arial" pitchFamily="34" charset="0"/>
                <a:ea typeface="Arial" pitchFamily="34" charset="-122"/>
                <a:cs typeface="Arial" pitchFamily="34" charset="-120"/>
              </a:rPr>
              <a:t>blandas</a:t>
            </a:r>
            <a:pPr indent="0" marL="0">
              <a:buNone/>
            </a:pPr>
            <a:r>
              <a:rPr lang="en-US" sz="4000" b="1" dirty="0">
                <a:solidFill>
                  <a:srgbClr val="17161B"/>
                </a:solidFill>
                <a:latin typeface="Arial" pitchFamily="34" charset="0"/>
                <a:ea typeface="Arial" pitchFamily="34" charset="-122"/>
                <a:cs typeface="Arial" pitchFamily="34" charset="-120"/>
              </a:rPr>
              <a:t> se miden.</a:t>
            </a:r>
            <a:endParaRPr lang="en-US" sz="4000" dirty="0"/>
          </a:p>
        </p:txBody>
      </p:sp>
      <p:sp>
        <p:nvSpPr>
          <p:cNvPr id="6" name="Shape 3"/>
          <p:cNvSpPr/>
          <p:nvPr/>
        </p:nvSpPr>
        <p:spPr>
          <a:xfrm>
            <a:off x="731520" y="3703320"/>
            <a:ext cx="457200" cy="457200"/>
          </a:xfrm>
          <a:prstGeom prst="ellipse">
            <a:avLst/>
          </a:prstGeom>
          <a:solidFill>
            <a:srgbClr val="6E52B0"/>
          </a:solidFill>
          <a:ln w="12700">
            <a:solidFill>
              <a:srgbClr val="6E52B0"/>
            </a:solidFill>
            <a:prstDash val="solid"/>
          </a:ln>
        </p:spPr>
      </p:sp>
      <p:sp>
        <p:nvSpPr>
          <p:cNvPr id="7" name="Text 4"/>
          <p:cNvSpPr txBox="1"/>
          <p:nvPr/>
        </p:nvSpPr>
        <p:spPr>
          <a:xfrm>
            <a:off x="731520" y="3703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5"/>
          <p:cNvSpPr txBox="1"/>
          <p:nvPr/>
        </p:nvSpPr>
        <p:spPr>
          <a:xfrm>
            <a:off x="1371600" y="3685032"/>
            <a:ext cx="393192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Elegí una situación real</a:t>
            </a:r>
            <a:endParaRPr lang="en-US" sz="1900" dirty="0"/>
          </a:p>
        </p:txBody>
      </p:sp>
      <p:sp>
        <p:nvSpPr>
          <p:cNvPr id="9" name="Shape 6"/>
          <p:cNvSpPr/>
          <p:nvPr/>
        </p:nvSpPr>
        <p:spPr>
          <a:xfrm>
            <a:off x="731520" y="4480560"/>
            <a:ext cx="457200" cy="457200"/>
          </a:xfrm>
          <a:prstGeom prst="ellipse">
            <a:avLst/>
          </a:prstGeom>
          <a:solidFill>
            <a:srgbClr val="6E52B0"/>
          </a:solidFill>
          <a:ln w="12700">
            <a:solidFill>
              <a:srgbClr val="6E52B0"/>
            </a:solidFill>
            <a:prstDash val="solid"/>
          </a:ln>
        </p:spPr>
      </p:sp>
      <p:sp>
        <p:nvSpPr>
          <p:cNvPr id="10" name="Text 7"/>
          <p:cNvSpPr txBox="1"/>
          <p:nvPr/>
        </p:nvSpPr>
        <p:spPr>
          <a:xfrm>
            <a:off x="731520" y="4480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8"/>
          <p:cNvSpPr txBox="1"/>
          <p:nvPr/>
        </p:nvSpPr>
        <p:spPr>
          <a:xfrm>
            <a:off x="1371600" y="4462272"/>
            <a:ext cx="393192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Hablá por voz con un cliente simulado</a:t>
            </a:r>
            <a:endParaRPr lang="en-US" sz="1900" dirty="0"/>
          </a:p>
        </p:txBody>
      </p:sp>
      <p:sp>
        <p:nvSpPr>
          <p:cNvPr id="12" name="Shape 9"/>
          <p:cNvSpPr/>
          <p:nvPr/>
        </p:nvSpPr>
        <p:spPr>
          <a:xfrm>
            <a:off x="731520" y="5257800"/>
            <a:ext cx="457200" cy="457200"/>
          </a:xfrm>
          <a:prstGeom prst="ellipse">
            <a:avLst/>
          </a:prstGeom>
          <a:solidFill>
            <a:srgbClr val="6E52B0"/>
          </a:solidFill>
          <a:ln w="12700">
            <a:solidFill>
              <a:srgbClr val="6E52B0"/>
            </a:solidFill>
            <a:prstDash val="solid"/>
          </a:ln>
        </p:spPr>
      </p:sp>
      <p:sp>
        <p:nvSpPr>
          <p:cNvPr id="13" name="Text 10"/>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1"/>
          <p:cNvSpPr txBox="1"/>
          <p:nvPr/>
        </p:nvSpPr>
        <p:spPr>
          <a:xfrm>
            <a:off x="1371600" y="5239512"/>
            <a:ext cx="393192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Recibí tu informe</a:t>
            </a:r>
            <a:endParaRPr lang="en-US" sz="1900" dirty="0"/>
          </a:p>
        </p:txBody>
      </p:sp>
      <p:sp>
        <p:nvSpPr>
          <p:cNvPr id="15" name="Shape 12"/>
          <p:cNvSpPr/>
          <p:nvPr/>
        </p:nvSpPr>
        <p:spPr>
          <a:xfrm>
            <a:off x="5541264" y="1289304"/>
            <a:ext cx="6062472" cy="3932599"/>
          </a:xfrm>
          <a:prstGeom prst="roundRect">
            <a:avLst>
              <a:gd name="adj" fmla="val 4650"/>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16" name="Image 1" descr="/tmp/claude-0/-home-claude/d13c7265-f088-5db4-933a-3af5cafd5191/scratchpad/deck/img/llamada.png">    </p:cNvPr>
          <p:cNvPicPr>
            <a:picLocks noChangeAspect="1"/>
          </p:cNvPicPr>
          <p:nvPr/>
        </p:nvPicPr>
        <p:blipFill>
          <a:blip r:embed="rId2"/>
          <a:stretch>
            <a:fillRect/>
          </a:stretch>
        </p:blipFill>
        <p:spPr>
          <a:xfrm>
            <a:off x="5669280" y="1417320"/>
            <a:ext cx="5806440" cy="36765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3504" y="1289304"/>
            <a:ext cx="6062472" cy="3924147"/>
          </a:xfrm>
          <a:prstGeom prst="roundRect">
            <a:avLst>
              <a:gd name="adj" fmla="val 4660"/>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4" name="Image 1" descr="/tmp/claude-0/-home-claude/d13c7265-f088-5db4-933a-3af5cafd5191/scratchpad/deck/img/informe.png">    </p:cNvPr>
          <p:cNvPicPr>
            <a:picLocks noChangeAspect="1"/>
          </p:cNvPicPr>
          <p:nvPr/>
        </p:nvPicPr>
        <p:blipFill>
          <a:blip r:embed="rId2"/>
          <a:stretch>
            <a:fillRect/>
          </a:stretch>
        </p:blipFill>
        <p:spPr>
          <a:xfrm>
            <a:off x="731520" y="1417320"/>
            <a:ext cx="5806440" cy="3668115"/>
          </a:xfrm>
          <a:prstGeom prst="rect">
            <a:avLst/>
          </a:prstGeom>
        </p:spPr>
      </p:pic>
      <p:sp>
        <p:nvSpPr>
          <p:cNvPr id="5" name="Shape 1"/>
          <p:cNvSpPr/>
          <p:nvPr/>
        </p:nvSpPr>
        <p:spPr>
          <a:xfrm>
            <a:off x="7086600" y="914400"/>
            <a:ext cx="2560320" cy="420624"/>
          </a:xfrm>
          <a:prstGeom prst="roundRect">
            <a:avLst>
              <a:gd name="adj" fmla="val 50000"/>
            </a:avLst>
          </a:prstGeom>
          <a:solidFill>
            <a:srgbClr val="DCD2F0"/>
          </a:solidFill>
          <a:ln w="12700">
            <a:solidFill>
              <a:srgbClr val="DCD2F0"/>
            </a:solidFill>
            <a:prstDash val="solid"/>
          </a:ln>
        </p:spPr>
      </p:sp>
      <p:sp>
        <p:nvSpPr>
          <p:cNvPr id="6" name="Text 2"/>
          <p:cNvSpPr txBox="1"/>
          <p:nvPr/>
        </p:nvSpPr>
        <p:spPr>
          <a:xfrm>
            <a:off x="7086600" y="914400"/>
            <a:ext cx="256032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LA EMPRESA</a:t>
            </a:r>
            <a:endParaRPr lang="en-US" sz="1300" dirty="0"/>
          </a:p>
        </p:txBody>
      </p:sp>
      <p:sp>
        <p:nvSpPr>
          <p:cNvPr id="7" name="Text 3"/>
          <p:cNvSpPr txBox="1"/>
          <p:nvPr/>
        </p:nvSpPr>
        <p:spPr>
          <a:xfrm>
            <a:off x="7086600" y="1600200"/>
            <a:ext cx="4480560" cy="1371600"/>
          </a:xfrm>
          <a:prstGeom prst="rect">
            <a:avLst/>
          </a:prstGeom>
          <a:noFill/>
          <a:ln/>
        </p:spPr>
        <p:txBody>
          <a:bodyPr wrap="square" lIns="0" tIns="0" rIns="0" bIns="0" rtlCol="0" anchor="t"/>
          <a:lstStyle/>
          <a:p>
            <a:pPr indent="0" marL="0">
              <a:buNone/>
            </a:pPr>
            <a:r>
              <a:rPr lang="en-US" sz="4000" b="1" dirty="0">
                <a:solidFill>
                  <a:srgbClr val="17161B"/>
                </a:solidFill>
                <a:latin typeface="Arial" pitchFamily="34" charset="0"/>
                <a:ea typeface="Arial" pitchFamily="34" charset="-122"/>
                <a:cs typeface="Arial" pitchFamily="34" charset="-120"/>
              </a:rPr>
              <a:t>Evidencia, </a:t>
            </a:r>
            <a:pPr indent="0" marL="0">
              <a:buNone/>
            </a:pPr>
            <a:r>
              <a:rPr lang="en-US" sz="4000" b="1" dirty="0">
                <a:solidFill>
                  <a:srgbClr val="6E52B0"/>
                </a:solidFill>
                <a:latin typeface="Arial" pitchFamily="34" charset="0"/>
                <a:ea typeface="Arial" pitchFamily="34" charset="-122"/>
                <a:cs typeface="Arial" pitchFamily="34" charset="-120"/>
              </a:rPr>
              <a:t>no intuición.</a:t>
            </a:r>
            <a:endParaRPr lang="en-US" sz="4000" dirty="0"/>
          </a:p>
        </p:txBody>
      </p:sp>
      <p:sp>
        <p:nvSpPr>
          <p:cNvPr id="8" name="Shape 4"/>
          <p:cNvSpPr/>
          <p:nvPr/>
        </p:nvSpPr>
        <p:spPr>
          <a:xfrm>
            <a:off x="7086600" y="3246120"/>
            <a:ext cx="502920" cy="502920"/>
          </a:xfrm>
          <a:prstGeom prst="ellipse">
            <a:avLst/>
          </a:prstGeom>
          <a:solidFill>
            <a:srgbClr val="EFE9FA"/>
          </a:solidFill>
          <a:ln w="12700">
            <a:solidFill>
              <a:srgbClr val="EFE9FA"/>
            </a:solidFill>
            <a:prstDash val="solid"/>
          </a:ln>
        </p:spPr>
      </p:sp>
      <p:pic>
        <p:nvPicPr>
          <p:cNvPr id="9" name="Image 2" descr="preencoded.png">    </p:cNvPr>
          <p:cNvPicPr>
            <a:picLocks noChangeAspect="1"/>
          </p:cNvPicPr>
          <p:nvPr/>
        </p:nvPicPr>
        <p:blipFill>
          <a:blip r:embed="rId3"/>
          <a:stretch>
            <a:fillRect/>
          </a:stretch>
        </p:blipFill>
        <p:spPr>
          <a:xfrm>
            <a:off x="7207301" y="3366821"/>
            <a:ext cx="261518" cy="261518"/>
          </a:xfrm>
          <a:prstGeom prst="rect">
            <a:avLst/>
          </a:prstGeom>
        </p:spPr>
      </p:pic>
      <p:sp>
        <p:nvSpPr>
          <p:cNvPr id="10" name="Text 5"/>
          <p:cNvSpPr txBox="1"/>
          <p:nvPr/>
        </p:nvSpPr>
        <p:spPr>
          <a:xfrm>
            <a:off x="7772400" y="3246120"/>
            <a:ext cx="384048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Puntaje por criterio de la empresa</a:t>
            </a:r>
            <a:endParaRPr lang="en-US" sz="1900" dirty="0"/>
          </a:p>
        </p:txBody>
      </p:sp>
      <p:sp>
        <p:nvSpPr>
          <p:cNvPr id="11" name="Shape 6"/>
          <p:cNvSpPr/>
          <p:nvPr/>
        </p:nvSpPr>
        <p:spPr>
          <a:xfrm>
            <a:off x="7086600" y="3931920"/>
            <a:ext cx="502920" cy="502920"/>
          </a:xfrm>
          <a:prstGeom prst="ellipse">
            <a:avLst/>
          </a:prstGeom>
          <a:solidFill>
            <a:srgbClr val="EFE9FA"/>
          </a:solidFill>
          <a:ln w="12700">
            <a:solidFill>
              <a:srgbClr val="EFE9FA"/>
            </a:solidFill>
            <a:prstDash val="solid"/>
          </a:ln>
        </p:spPr>
      </p:sp>
      <p:pic>
        <p:nvPicPr>
          <p:cNvPr id="12" name="Image 3" descr="preencoded.png">    </p:cNvPr>
          <p:cNvPicPr>
            <a:picLocks noChangeAspect="1"/>
          </p:cNvPicPr>
          <p:nvPr/>
        </p:nvPicPr>
        <p:blipFill>
          <a:blip r:embed="rId4"/>
          <a:stretch>
            <a:fillRect/>
          </a:stretch>
        </p:blipFill>
        <p:spPr>
          <a:xfrm>
            <a:off x="7207301" y="4052621"/>
            <a:ext cx="261518" cy="261518"/>
          </a:xfrm>
          <a:prstGeom prst="rect">
            <a:avLst/>
          </a:prstGeom>
        </p:spPr>
      </p:pic>
      <p:sp>
        <p:nvSpPr>
          <p:cNvPr id="13" name="Text 7"/>
          <p:cNvSpPr txBox="1"/>
          <p:nvPr/>
        </p:nvSpPr>
        <p:spPr>
          <a:xfrm>
            <a:off x="7772400" y="3931920"/>
            <a:ext cx="384048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Cita textual como prueba</a:t>
            </a:r>
            <a:endParaRPr lang="en-US" sz="1900" dirty="0"/>
          </a:p>
        </p:txBody>
      </p:sp>
      <p:sp>
        <p:nvSpPr>
          <p:cNvPr id="14" name="Shape 8"/>
          <p:cNvSpPr/>
          <p:nvPr/>
        </p:nvSpPr>
        <p:spPr>
          <a:xfrm>
            <a:off x="7086600" y="4617720"/>
            <a:ext cx="502920" cy="502920"/>
          </a:xfrm>
          <a:prstGeom prst="ellipse">
            <a:avLst/>
          </a:prstGeom>
          <a:solidFill>
            <a:srgbClr val="EFE9FA"/>
          </a:solidFill>
          <a:ln w="12700">
            <a:solidFill>
              <a:srgbClr val="EFE9FA"/>
            </a:solidFill>
            <a:prstDash val="solid"/>
          </a:ln>
        </p:spPr>
      </p:sp>
      <p:pic>
        <p:nvPicPr>
          <p:cNvPr id="15" name="Image 4" descr="preencoded.png">    </p:cNvPr>
          <p:cNvPicPr>
            <a:picLocks noChangeAspect="1"/>
          </p:cNvPicPr>
          <p:nvPr/>
        </p:nvPicPr>
        <p:blipFill>
          <a:blip r:embed="rId5"/>
          <a:stretch>
            <a:fillRect/>
          </a:stretch>
        </p:blipFill>
        <p:spPr>
          <a:xfrm>
            <a:off x="7207301" y="4738421"/>
            <a:ext cx="261518" cy="261518"/>
          </a:xfrm>
          <a:prstGeom prst="rect">
            <a:avLst/>
          </a:prstGeom>
        </p:spPr>
      </p:pic>
      <p:sp>
        <p:nvSpPr>
          <p:cNvPr id="16" name="Text 9"/>
          <p:cNvSpPr txBox="1"/>
          <p:nvPr/>
        </p:nvSpPr>
        <p:spPr>
          <a:xfrm>
            <a:off x="7772400" y="4617720"/>
            <a:ext cx="384048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Fortalezas y qué mejorar</a:t>
            </a:r>
            <a:endParaRPr lang="en-US" sz="1900" dirty="0"/>
          </a:p>
        </p:txBody>
      </p:sp>
      <p:sp>
        <p:nvSpPr>
          <p:cNvPr id="17" name="Shape 10"/>
          <p:cNvSpPr/>
          <p:nvPr/>
        </p:nvSpPr>
        <p:spPr>
          <a:xfrm>
            <a:off x="7086600" y="5440680"/>
            <a:ext cx="4389120" cy="731520"/>
          </a:xfrm>
          <a:prstGeom prst="roundRect">
            <a:avLst>
              <a:gd name="adj" fmla="val 20000"/>
            </a:avLst>
          </a:prstGeom>
          <a:solidFill>
            <a:srgbClr val="6E52B0"/>
          </a:solidFill>
          <a:ln w="12700">
            <a:solidFill>
              <a:srgbClr val="6E52B0"/>
            </a:solidFill>
            <a:prstDash val="solid"/>
          </a:ln>
        </p:spPr>
      </p:sp>
      <p:sp>
        <p:nvSpPr>
          <p:cNvPr id="18" name="Text 11"/>
          <p:cNvSpPr txBox="1"/>
          <p:nvPr/>
        </p:nvSpPr>
        <p:spPr>
          <a:xfrm>
            <a:off x="7086600" y="5440680"/>
            <a:ext cx="43891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El informe no decide. Decide una persona.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20" y="914400"/>
            <a:ext cx="2377440" cy="420624"/>
          </a:xfrm>
          <a:prstGeom prst="roundRect">
            <a:avLst>
              <a:gd name="adj" fmla="val 50000"/>
            </a:avLst>
          </a:prstGeom>
          <a:solidFill>
            <a:srgbClr val="DCD2F0"/>
          </a:solidFill>
          <a:ln w="12700">
            <a:solidFill>
              <a:srgbClr val="DCD2F0"/>
            </a:solidFill>
            <a:prstDash val="solid"/>
          </a:ln>
        </p:spPr>
      </p:sp>
      <p:sp>
        <p:nvSpPr>
          <p:cNvPr id="4" name="Text 1"/>
          <p:cNvSpPr txBox="1"/>
          <p:nvPr/>
        </p:nvSpPr>
        <p:spPr>
          <a:xfrm>
            <a:off x="731520" y="914400"/>
            <a:ext cx="237744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EL JUNIOR</a:t>
            </a:r>
            <a:endParaRPr lang="en-US" sz="1300" dirty="0"/>
          </a:p>
        </p:txBody>
      </p:sp>
      <p:sp>
        <p:nvSpPr>
          <p:cNvPr id="5" name="Text 2"/>
          <p:cNvSpPr txBox="1"/>
          <p:nvPr/>
        </p:nvSpPr>
        <p:spPr>
          <a:xfrm>
            <a:off x="731520" y="1600200"/>
            <a:ext cx="4572000" cy="173736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Un mentor que explica el cómo y el </a:t>
            </a:r>
            <a:pPr indent="0" marL="0">
              <a:buNone/>
            </a:pPr>
            <a:r>
              <a:rPr lang="en-US" sz="3800" b="1" dirty="0">
                <a:solidFill>
                  <a:srgbClr val="6E52B0"/>
                </a:solidFill>
                <a:latin typeface="Arial" pitchFamily="34" charset="0"/>
                <a:ea typeface="Arial" pitchFamily="34" charset="-122"/>
                <a:cs typeface="Arial" pitchFamily="34" charset="-120"/>
              </a:rPr>
              <a:t>porqué.</a:t>
            </a:r>
            <a:endParaRPr lang="en-US" sz="3800" dirty="0"/>
          </a:p>
        </p:txBody>
      </p:sp>
      <p:sp>
        <p:nvSpPr>
          <p:cNvPr id="6" name="Shape 3"/>
          <p:cNvSpPr/>
          <p:nvPr/>
        </p:nvSpPr>
        <p:spPr>
          <a:xfrm>
            <a:off x="731520" y="3611880"/>
            <a:ext cx="2194560" cy="475488"/>
          </a:xfrm>
          <a:prstGeom prst="roundRect">
            <a:avLst>
              <a:gd name="adj" fmla="val 23077"/>
            </a:avLst>
          </a:prstGeom>
          <a:solidFill>
            <a:srgbClr val="EAF1FA"/>
          </a:solidFill>
          <a:ln w="12700">
            <a:solidFill>
              <a:srgbClr val="EAF1FA"/>
            </a:solidFill>
            <a:prstDash val="solid"/>
          </a:ln>
        </p:spPr>
      </p:sp>
      <p:sp>
        <p:nvSpPr>
          <p:cNvPr id="7" name="Text 4"/>
          <p:cNvSpPr txBox="1"/>
          <p:nvPr/>
        </p:nvSpPr>
        <p:spPr>
          <a:xfrm>
            <a:off x="731520" y="3611880"/>
            <a:ext cx="2194560" cy="475488"/>
          </a:xfrm>
          <a:prstGeom prst="rect">
            <a:avLst/>
          </a:prstGeom>
          <a:noFill/>
          <a:ln/>
        </p:spPr>
        <p:txBody>
          <a:bodyPr wrap="square" lIns="0" tIns="0" rIns="0" bIns="0" rtlCol="0" anchor="ctr"/>
          <a:lstStyle/>
          <a:p>
            <a:pPr algn="ctr" indent="0" marL="0">
              <a:buNone/>
            </a:pPr>
            <a:r>
              <a:rPr lang="en-US" sz="1500" b="1" dirty="0">
                <a:solidFill>
                  <a:srgbClr val="3F6FB5"/>
                </a:solidFill>
                <a:latin typeface="Arial" pitchFamily="34" charset="0"/>
                <a:ea typeface="Arial" pitchFamily="34" charset="-122"/>
                <a:cs typeface="Arial" pitchFamily="34" charset="-120"/>
              </a:rPr>
              <a:t>Cómo se hace</a:t>
            </a:r>
            <a:endParaRPr lang="en-US" sz="1500" dirty="0"/>
          </a:p>
        </p:txBody>
      </p:sp>
      <p:sp>
        <p:nvSpPr>
          <p:cNvPr id="8" name="Shape 5"/>
          <p:cNvSpPr/>
          <p:nvPr/>
        </p:nvSpPr>
        <p:spPr>
          <a:xfrm>
            <a:off x="3063240" y="3611880"/>
            <a:ext cx="2194560" cy="475488"/>
          </a:xfrm>
          <a:prstGeom prst="roundRect">
            <a:avLst>
              <a:gd name="adj" fmla="val 23077"/>
            </a:avLst>
          </a:prstGeom>
          <a:solidFill>
            <a:srgbClr val="E7F5EE"/>
          </a:solidFill>
          <a:ln w="12700">
            <a:solidFill>
              <a:srgbClr val="E7F5EE"/>
            </a:solidFill>
            <a:prstDash val="solid"/>
          </a:ln>
        </p:spPr>
      </p:sp>
      <p:sp>
        <p:nvSpPr>
          <p:cNvPr id="9" name="Text 6"/>
          <p:cNvSpPr txBox="1"/>
          <p:nvPr/>
        </p:nvSpPr>
        <p:spPr>
          <a:xfrm>
            <a:off x="3063240" y="3611880"/>
            <a:ext cx="2194560" cy="475488"/>
          </a:xfrm>
          <a:prstGeom prst="rect">
            <a:avLst/>
          </a:prstGeom>
          <a:noFill/>
          <a:ln/>
        </p:spPr>
        <p:txBody>
          <a:bodyPr wrap="square" lIns="0" tIns="0" rIns="0" bIns="0" rtlCol="0" anchor="ctr"/>
          <a:lstStyle/>
          <a:p>
            <a:pPr algn="ctr" indent="0" marL="0">
              <a:buNone/>
            </a:pPr>
            <a:r>
              <a:rPr lang="en-US" sz="1500" b="1" dirty="0">
                <a:solidFill>
                  <a:srgbClr val="2F7A52"/>
                </a:solidFill>
                <a:latin typeface="Arial" pitchFamily="34" charset="0"/>
                <a:ea typeface="Arial" pitchFamily="34" charset="-122"/>
                <a:cs typeface="Arial" pitchFamily="34" charset="-120"/>
              </a:rPr>
              <a:t>Por qué importa</a:t>
            </a:r>
            <a:endParaRPr lang="en-US" sz="1500" dirty="0"/>
          </a:p>
        </p:txBody>
      </p:sp>
      <p:sp>
        <p:nvSpPr>
          <p:cNvPr id="10" name="Shape 7"/>
          <p:cNvSpPr/>
          <p:nvPr/>
        </p:nvSpPr>
        <p:spPr>
          <a:xfrm>
            <a:off x="731520" y="4251960"/>
            <a:ext cx="2194560" cy="475488"/>
          </a:xfrm>
          <a:prstGeom prst="roundRect">
            <a:avLst>
              <a:gd name="adj" fmla="val 23077"/>
            </a:avLst>
          </a:prstGeom>
          <a:solidFill>
            <a:srgbClr val="F1ECFB"/>
          </a:solidFill>
          <a:ln w="12700">
            <a:solidFill>
              <a:srgbClr val="F1ECFB"/>
            </a:solidFill>
            <a:prstDash val="solid"/>
          </a:ln>
        </p:spPr>
      </p:sp>
      <p:sp>
        <p:nvSpPr>
          <p:cNvPr id="11" name="Text 8"/>
          <p:cNvSpPr txBox="1"/>
          <p:nvPr/>
        </p:nvSpPr>
        <p:spPr>
          <a:xfrm>
            <a:off x="731520" y="4251960"/>
            <a:ext cx="2194560" cy="475488"/>
          </a:xfrm>
          <a:prstGeom prst="rect">
            <a:avLst/>
          </a:prstGeom>
          <a:noFill/>
          <a:ln/>
        </p:spPr>
        <p:txBody>
          <a:bodyPr wrap="square" lIns="0" tIns="0" rIns="0" bIns="0" rtlCol="0" anchor="ctr"/>
          <a:lstStyle/>
          <a:p>
            <a:pPr algn="ctr" indent="0" marL="0">
              <a:buNone/>
            </a:pPr>
            <a:r>
              <a:rPr lang="en-US" sz="1500" b="1" dirty="0">
                <a:solidFill>
                  <a:srgbClr val="6E52B0"/>
                </a:solidFill>
                <a:latin typeface="Arial" pitchFamily="34" charset="0"/>
                <a:ea typeface="Arial" pitchFamily="34" charset="-122"/>
                <a:cs typeface="Arial" pitchFamily="34" charset="-120"/>
              </a:rPr>
              <a:t>Cómo lo hacemos acá</a:t>
            </a:r>
            <a:endParaRPr lang="en-US" sz="1500" dirty="0"/>
          </a:p>
        </p:txBody>
      </p:sp>
      <p:sp>
        <p:nvSpPr>
          <p:cNvPr id="12" name="Shape 9"/>
          <p:cNvSpPr/>
          <p:nvPr/>
        </p:nvSpPr>
        <p:spPr>
          <a:xfrm>
            <a:off x="3063240" y="4251960"/>
            <a:ext cx="2194560" cy="475488"/>
          </a:xfrm>
          <a:prstGeom prst="roundRect">
            <a:avLst>
              <a:gd name="adj" fmla="val 23077"/>
            </a:avLst>
          </a:prstGeom>
          <a:solidFill>
            <a:srgbClr val="FCF1E2"/>
          </a:solidFill>
          <a:ln w="12700">
            <a:solidFill>
              <a:srgbClr val="FCF1E2"/>
            </a:solidFill>
            <a:prstDash val="solid"/>
          </a:ln>
        </p:spPr>
      </p:sp>
      <p:sp>
        <p:nvSpPr>
          <p:cNvPr id="13" name="Text 10"/>
          <p:cNvSpPr txBox="1"/>
          <p:nvPr/>
        </p:nvSpPr>
        <p:spPr>
          <a:xfrm>
            <a:off x="3063240" y="4251960"/>
            <a:ext cx="2194560" cy="475488"/>
          </a:xfrm>
          <a:prstGeom prst="rect">
            <a:avLst/>
          </a:prstGeom>
          <a:noFill/>
          <a:ln/>
        </p:spPr>
        <p:txBody>
          <a:bodyPr wrap="square" lIns="0" tIns="0" rIns="0" bIns="0" rtlCol="0" anchor="ctr"/>
          <a:lstStyle/>
          <a:p>
            <a:pPr algn="ctr" indent="0" marL="0">
              <a:buNone/>
            </a:pPr>
            <a:r>
              <a:rPr lang="en-US" sz="1500" b="1" dirty="0">
                <a:solidFill>
                  <a:srgbClr val="94590C"/>
                </a:solidFill>
                <a:latin typeface="Arial" pitchFamily="34" charset="0"/>
                <a:ea typeface="Arial" pitchFamily="34" charset="-122"/>
                <a:cs typeface="Arial" pitchFamily="34" charset="-120"/>
              </a:rPr>
              <a:t>Tu turno</a:t>
            </a:r>
            <a:endParaRPr lang="en-US" sz="1500" dirty="0"/>
          </a:p>
        </p:txBody>
      </p:sp>
      <p:sp>
        <p:nvSpPr>
          <p:cNvPr id="14" name="Text 11"/>
          <p:cNvSpPr txBox="1"/>
          <p:nvPr/>
        </p:nvSpPr>
        <p:spPr>
          <a:xfrm>
            <a:off x="731520" y="5120640"/>
            <a:ext cx="4572000" cy="822960"/>
          </a:xfrm>
          <a:prstGeom prst="rect">
            <a:avLst/>
          </a:prstGeom>
          <a:noFill/>
          <a:ln/>
        </p:spPr>
        <p:txBody>
          <a:bodyPr wrap="square" lIns="0" tIns="0" rIns="0" bIns="0" rtlCol="0" anchor="t"/>
          <a:lstStyle/>
          <a:p>
            <a:pPr indent="0" marL="0">
              <a:buNone/>
            </a:pPr>
            <a:r>
              <a:rPr lang="en-US" sz="2000" dirty="0">
                <a:solidFill>
                  <a:srgbClr val="5F5B6B"/>
                </a:solidFill>
                <a:latin typeface="Arial" pitchFamily="34" charset="0"/>
                <a:ea typeface="Arial" pitchFamily="34" charset="-122"/>
                <a:cs typeface="Arial" pitchFamily="34" charset="-120"/>
              </a:rPr>
              <a:t>Te ayuda a resolver. No te da todo servido.</a:t>
            </a:r>
            <a:endParaRPr lang="en-US" sz="2000" dirty="0"/>
          </a:p>
        </p:txBody>
      </p:sp>
      <p:sp>
        <p:nvSpPr>
          <p:cNvPr id="15" name="Shape 12"/>
          <p:cNvSpPr/>
          <p:nvPr/>
        </p:nvSpPr>
        <p:spPr>
          <a:xfrm>
            <a:off x="5541264" y="1289304"/>
            <a:ext cx="6062472" cy="3932599"/>
          </a:xfrm>
          <a:prstGeom prst="roundRect">
            <a:avLst>
              <a:gd name="adj" fmla="val 4650"/>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16" name="Image 1" descr="/tmp/claude-0/-home-claude/d13c7265-f088-5db4-933a-3af5cafd5191/scratchpad/deck/img/mentor.png">    </p:cNvPr>
          <p:cNvPicPr>
            <a:picLocks noChangeAspect="1"/>
          </p:cNvPicPr>
          <p:nvPr/>
        </p:nvPicPr>
        <p:blipFill>
          <a:blip r:embed="rId2"/>
          <a:stretch>
            <a:fillRect/>
          </a:stretch>
        </p:blipFill>
        <p:spPr>
          <a:xfrm>
            <a:off x="5669280" y="1417320"/>
            <a:ext cx="5806440" cy="3676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20" y="914400"/>
            <a:ext cx="2377440" cy="420624"/>
          </a:xfrm>
          <a:prstGeom prst="roundRect">
            <a:avLst>
              <a:gd name="adj" fmla="val 50000"/>
            </a:avLst>
          </a:prstGeom>
          <a:solidFill>
            <a:srgbClr val="DCD2F0"/>
          </a:solidFill>
          <a:ln w="12700">
            <a:solidFill>
              <a:srgbClr val="DCD2F0"/>
            </a:solidFill>
            <a:prstDash val="solid"/>
          </a:ln>
        </p:spPr>
      </p:sp>
      <p:sp>
        <p:nvSpPr>
          <p:cNvPr id="4" name="Text 1"/>
          <p:cNvSpPr txBox="1"/>
          <p:nvPr/>
        </p:nvSpPr>
        <p:spPr>
          <a:xfrm>
            <a:off x="731520" y="914400"/>
            <a:ext cx="237744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EL SENIOR</a:t>
            </a:r>
            <a:endParaRPr lang="en-US" sz="1300" dirty="0"/>
          </a:p>
        </p:txBody>
      </p:sp>
      <p:sp>
        <p:nvSpPr>
          <p:cNvPr id="5" name="Text 2"/>
          <p:cNvSpPr txBox="1"/>
          <p:nvPr/>
        </p:nvSpPr>
        <p:spPr>
          <a:xfrm>
            <a:off x="731520" y="1600200"/>
            <a:ext cx="4389120" cy="2011680"/>
          </a:xfrm>
          <a:prstGeom prst="rect">
            <a:avLst/>
          </a:prstGeom>
          <a:noFill/>
          <a:ln/>
        </p:spPr>
        <p:txBody>
          <a:bodyPr wrap="square" lIns="0" tIns="0" rIns="0" bIns="0" rtlCol="0" anchor="t"/>
          <a:lstStyle/>
          <a:p>
            <a:pPr indent="0" marL="0">
              <a:buNone/>
            </a:pPr>
            <a:r>
              <a:rPr lang="en-US" sz="4400" b="1" dirty="0">
                <a:solidFill>
                  <a:srgbClr val="17161B"/>
                </a:solidFill>
                <a:latin typeface="Arial" pitchFamily="34" charset="0"/>
                <a:ea typeface="Arial" pitchFamily="34" charset="-122"/>
                <a:cs typeface="Arial" pitchFamily="34" charset="-120"/>
              </a:rPr>
              <a:t>Cargá el contexto una sola vez</a:t>
            </a:r>
            <a:endParaRPr lang="en-US" sz="4400" dirty="0"/>
          </a:p>
        </p:txBody>
      </p:sp>
      <p:sp>
        <p:nvSpPr>
          <p:cNvPr id="6" name="Text 3"/>
          <p:cNvSpPr txBox="1"/>
          <p:nvPr/>
        </p:nvSpPr>
        <p:spPr>
          <a:xfrm>
            <a:off x="731520" y="3749040"/>
            <a:ext cx="4389120" cy="731520"/>
          </a:xfrm>
          <a:prstGeom prst="rect">
            <a:avLst/>
          </a:prstGeom>
          <a:noFill/>
          <a:ln/>
        </p:spPr>
        <p:txBody>
          <a:bodyPr wrap="square" lIns="0" tIns="0" rIns="0" bIns="0" rtlCol="0" anchor="t"/>
          <a:lstStyle/>
          <a:p>
            <a:pPr indent="0" marL="0">
              <a:buNone/>
            </a:pPr>
            <a:r>
              <a:rPr lang="en-US" sz="1900" dirty="0">
                <a:solidFill>
                  <a:srgbClr val="5F5B6B"/>
                </a:solidFill>
                <a:latin typeface="Arial" pitchFamily="34" charset="0"/>
                <a:ea typeface="Arial" pitchFamily="34" charset="-122"/>
                <a:cs typeface="Arial" pitchFamily="34" charset="-120"/>
              </a:rPr>
              <a:t>Contexto, escenarios y criterios a medida.</a:t>
            </a:r>
            <a:endParaRPr lang="en-US" sz="1900" dirty="0"/>
          </a:p>
        </p:txBody>
      </p:sp>
      <p:sp>
        <p:nvSpPr>
          <p:cNvPr id="7" name="Shape 4"/>
          <p:cNvSpPr/>
          <p:nvPr/>
        </p:nvSpPr>
        <p:spPr>
          <a:xfrm>
            <a:off x="731520" y="4663440"/>
            <a:ext cx="1371600" cy="420624"/>
          </a:xfrm>
          <a:prstGeom prst="roundRect">
            <a:avLst>
              <a:gd name="adj" fmla="val 50000"/>
            </a:avLst>
          </a:prstGeom>
          <a:solidFill>
            <a:srgbClr val="FFFFFF"/>
          </a:solidFill>
          <a:ln w="12700">
            <a:solidFill>
              <a:srgbClr val="CFC6E3"/>
            </a:solidFill>
            <a:prstDash val="solid"/>
          </a:ln>
        </p:spPr>
      </p:sp>
      <p:sp>
        <p:nvSpPr>
          <p:cNvPr id="8" name="Text 5"/>
          <p:cNvSpPr txBox="1"/>
          <p:nvPr/>
        </p:nvSpPr>
        <p:spPr>
          <a:xfrm>
            <a:off x="731520" y="4663440"/>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Software</a:t>
            </a:r>
            <a:endParaRPr lang="en-US" sz="1300" dirty="0"/>
          </a:p>
        </p:txBody>
      </p:sp>
      <p:sp>
        <p:nvSpPr>
          <p:cNvPr id="9" name="Shape 6"/>
          <p:cNvSpPr/>
          <p:nvPr/>
        </p:nvSpPr>
        <p:spPr>
          <a:xfrm>
            <a:off x="2212848" y="4663440"/>
            <a:ext cx="1371600" cy="420624"/>
          </a:xfrm>
          <a:prstGeom prst="roundRect">
            <a:avLst>
              <a:gd name="adj" fmla="val 50000"/>
            </a:avLst>
          </a:prstGeom>
          <a:solidFill>
            <a:srgbClr val="FFFFFF"/>
          </a:solidFill>
          <a:ln w="12700">
            <a:solidFill>
              <a:srgbClr val="CFC6E3"/>
            </a:solidFill>
            <a:prstDash val="solid"/>
          </a:ln>
        </p:spPr>
      </p:sp>
      <p:sp>
        <p:nvSpPr>
          <p:cNvPr id="10" name="Text 7"/>
          <p:cNvSpPr txBox="1"/>
          <p:nvPr/>
        </p:nvSpPr>
        <p:spPr>
          <a:xfrm>
            <a:off x="2212848" y="4663440"/>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Gastronomía</a:t>
            </a:r>
            <a:endParaRPr lang="en-US" sz="1300" dirty="0"/>
          </a:p>
        </p:txBody>
      </p:sp>
      <p:sp>
        <p:nvSpPr>
          <p:cNvPr id="11" name="Shape 8"/>
          <p:cNvSpPr/>
          <p:nvPr/>
        </p:nvSpPr>
        <p:spPr>
          <a:xfrm>
            <a:off x="3694176" y="4663440"/>
            <a:ext cx="1371600" cy="420624"/>
          </a:xfrm>
          <a:prstGeom prst="roundRect">
            <a:avLst>
              <a:gd name="adj" fmla="val 50000"/>
            </a:avLst>
          </a:prstGeom>
          <a:solidFill>
            <a:srgbClr val="FFFFFF"/>
          </a:solidFill>
          <a:ln w="12700">
            <a:solidFill>
              <a:srgbClr val="CFC6E3"/>
            </a:solidFill>
            <a:prstDash val="solid"/>
          </a:ln>
        </p:spPr>
      </p:sp>
      <p:sp>
        <p:nvSpPr>
          <p:cNvPr id="12" name="Text 9"/>
          <p:cNvSpPr txBox="1"/>
          <p:nvPr/>
        </p:nvSpPr>
        <p:spPr>
          <a:xfrm>
            <a:off x="3694176" y="4663440"/>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Comercio</a:t>
            </a:r>
            <a:endParaRPr lang="en-US" sz="1300" dirty="0"/>
          </a:p>
        </p:txBody>
      </p:sp>
      <p:sp>
        <p:nvSpPr>
          <p:cNvPr id="13" name="Shape 10"/>
          <p:cNvSpPr/>
          <p:nvPr/>
        </p:nvSpPr>
        <p:spPr>
          <a:xfrm>
            <a:off x="731520" y="5230368"/>
            <a:ext cx="1371600" cy="420624"/>
          </a:xfrm>
          <a:prstGeom prst="roundRect">
            <a:avLst>
              <a:gd name="adj" fmla="val 50000"/>
            </a:avLst>
          </a:prstGeom>
          <a:solidFill>
            <a:srgbClr val="FFFFFF"/>
          </a:solidFill>
          <a:ln w="12700">
            <a:solidFill>
              <a:srgbClr val="CFC6E3"/>
            </a:solidFill>
            <a:prstDash val="solid"/>
          </a:ln>
        </p:spPr>
      </p:sp>
      <p:sp>
        <p:nvSpPr>
          <p:cNvPr id="14" name="Text 11"/>
          <p:cNvSpPr txBox="1"/>
          <p:nvPr/>
        </p:nvSpPr>
        <p:spPr>
          <a:xfrm>
            <a:off x="731520" y="5230368"/>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Salud</a:t>
            </a:r>
            <a:endParaRPr lang="en-US" sz="1300" dirty="0"/>
          </a:p>
        </p:txBody>
      </p:sp>
      <p:sp>
        <p:nvSpPr>
          <p:cNvPr id="15" name="Shape 12"/>
          <p:cNvSpPr/>
          <p:nvPr/>
        </p:nvSpPr>
        <p:spPr>
          <a:xfrm>
            <a:off x="2212848" y="5230368"/>
            <a:ext cx="1371600" cy="420624"/>
          </a:xfrm>
          <a:prstGeom prst="roundRect">
            <a:avLst>
              <a:gd name="adj" fmla="val 50000"/>
            </a:avLst>
          </a:prstGeom>
          <a:solidFill>
            <a:srgbClr val="FFFFFF"/>
          </a:solidFill>
          <a:ln w="12700">
            <a:solidFill>
              <a:srgbClr val="CFC6E3"/>
            </a:solidFill>
            <a:prstDash val="solid"/>
          </a:ln>
        </p:spPr>
      </p:sp>
      <p:sp>
        <p:nvSpPr>
          <p:cNvPr id="16" name="Text 13"/>
          <p:cNvSpPr txBox="1"/>
          <p:nvPr/>
        </p:nvSpPr>
        <p:spPr>
          <a:xfrm>
            <a:off x="2212848" y="5230368"/>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Industria</a:t>
            </a:r>
            <a:endParaRPr lang="en-US" sz="1300" dirty="0"/>
          </a:p>
        </p:txBody>
      </p:sp>
      <p:sp>
        <p:nvSpPr>
          <p:cNvPr id="17" name="Shape 14"/>
          <p:cNvSpPr/>
          <p:nvPr/>
        </p:nvSpPr>
        <p:spPr>
          <a:xfrm>
            <a:off x="3694176" y="5230368"/>
            <a:ext cx="1371600" cy="420624"/>
          </a:xfrm>
          <a:prstGeom prst="roundRect">
            <a:avLst>
              <a:gd name="adj" fmla="val 50000"/>
            </a:avLst>
          </a:prstGeom>
          <a:solidFill>
            <a:srgbClr val="FFFFFF"/>
          </a:solidFill>
          <a:ln w="12700">
            <a:solidFill>
              <a:srgbClr val="CFC6E3"/>
            </a:solidFill>
            <a:prstDash val="solid"/>
          </a:ln>
        </p:spPr>
      </p:sp>
      <p:sp>
        <p:nvSpPr>
          <p:cNvPr id="18" name="Text 15"/>
          <p:cNvSpPr txBox="1"/>
          <p:nvPr/>
        </p:nvSpPr>
        <p:spPr>
          <a:xfrm>
            <a:off x="3694176" y="5230368"/>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Servicios</a:t>
            </a:r>
            <a:endParaRPr lang="en-US" sz="1300" dirty="0"/>
          </a:p>
        </p:txBody>
      </p:sp>
      <p:sp>
        <p:nvSpPr>
          <p:cNvPr id="19" name="Shape 16"/>
          <p:cNvSpPr/>
          <p:nvPr/>
        </p:nvSpPr>
        <p:spPr>
          <a:xfrm>
            <a:off x="5541264" y="1152144"/>
            <a:ext cx="6062472" cy="4089771"/>
          </a:xfrm>
          <a:prstGeom prst="roundRect">
            <a:avLst>
              <a:gd name="adj" fmla="val 4472"/>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20" name="Image 1" descr="/tmp/claude-0/-home-claude/d13c7265-f088-5db4-933a-3af5cafd5191/scratchpad/deck/img/empresa.png">    </p:cNvPr>
          <p:cNvPicPr>
            <a:picLocks noChangeAspect="1"/>
          </p:cNvPicPr>
          <p:nvPr/>
        </p:nvPicPr>
        <p:blipFill>
          <a:blip r:embed="rId2"/>
          <a:stretch>
            <a:fillRect/>
          </a:stretch>
        </p:blipFill>
        <p:spPr>
          <a:xfrm>
            <a:off x="5669280" y="1280160"/>
            <a:ext cx="5806440" cy="38337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claude-0/-home-claude/d13c7265-f088-5db4-933a-3af5cafd5191/scratchpad/deck/img/bg_cent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claude/d13c7265-f088-5db4-933a-3af5cafd5191/scratchpad/deck/img/orb.png">    </p:cNvPr>
          <p:cNvPicPr>
            <a:picLocks noChangeAspect="1"/>
          </p:cNvPicPr>
          <p:nvPr/>
        </p:nvPicPr>
        <p:blipFill>
          <a:blip r:embed="rId2"/>
          <a:stretch>
            <a:fillRect/>
          </a:stretch>
        </p:blipFill>
        <p:spPr>
          <a:xfrm>
            <a:off x="4541368" y="502920"/>
            <a:ext cx="3108960" cy="3108960"/>
          </a:xfrm>
          <a:prstGeom prst="rect">
            <a:avLst/>
          </a:prstGeom>
        </p:spPr>
      </p:pic>
      <p:sp>
        <p:nvSpPr>
          <p:cNvPr id="4" name="Text 0"/>
          <p:cNvSpPr txBox="1"/>
          <p:nvPr/>
        </p:nvSpPr>
        <p:spPr>
          <a:xfrm>
            <a:off x="0" y="3611880"/>
            <a:ext cx="12191695" cy="914400"/>
          </a:xfrm>
          <a:prstGeom prst="rect">
            <a:avLst/>
          </a:prstGeom>
          <a:noFill/>
          <a:ln/>
        </p:spPr>
        <p:txBody>
          <a:bodyPr wrap="square" lIns="0" tIns="0" rIns="0" bIns="0" rtlCol="0" anchor="t"/>
          <a:lstStyle/>
          <a:p>
            <a:pPr algn="ctr" indent="0" marL="0">
              <a:buNone/>
            </a:pPr>
            <a:r>
              <a:rPr lang="en-US" sz="5400" b="1" dirty="0">
                <a:solidFill>
                  <a:srgbClr val="17161B"/>
                </a:solidFill>
                <a:latin typeface="Arial" pitchFamily="34" charset="0"/>
                <a:ea typeface="Arial" pitchFamily="34" charset="-122"/>
                <a:cs typeface="Arial" pitchFamily="34" charset="-120"/>
              </a:rPr>
              <a:t>Veámoslo en vivo</a:t>
            </a:r>
            <a:endParaRPr lang="en-US" sz="5400" dirty="0"/>
          </a:p>
        </p:txBody>
      </p:sp>
      <p:sp>
        <p:nvSpPr>
          <p:cNvPr id="5" name="Text 1"/>
          <p:cNvSpPr txBox="1"/>
          <p:nvPr/>
        </p:nvSpPr>
        <p:spPr>
          <a:xfrm>
            <a:off x="0" y="4663440"/>
            <a:ext cx="12191695" cy="457200"/>
          </a:xfrm>
          <a:prstGeom prst="rect">
            <a:avLst/>
          </a:prstGeom>
          <a:noFill/>
          <a:ln/>
        </p:spPr>
        <p:txBody>
          <a:bodyPr wrap="square" lIns="0" tIns="0" rIns="0" bIns="0" rtlCol="0" anchor="t"/>
          <a:lstStyle/>
          <a:p>
            <a:pPr algn="ctr" indent="0" marL="0">
              <a:buNone/>
            </a:pPr>
            <a:r>
              <a:rPr lang="en-US" sz="2200" dirty="0">
                <a:solidFill>
                  <a:srgbClr val="6E52B0"/>
                </a:solidFill>
                <a:latin typeface="Arial" pitchFamily="34" charset="0"/>
                <a:ea typeface="Arial" pitchFamily="34" charset="-122"/>
                <a:cs typeface="Arial" pitchFamily="34" charset="-120"/>
              </a:rPr>
              <a:t>Simulación por voz  →  Informe  →  Mentor</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058400" cy="73152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Por qué es distinto</a:t>
            </a:r>
            <a:endParaRPr lang="en-US" sz="3800" dirty="0"/>
          </a:p>
        </p:txBody>
      </p:sp>
      <p:sp>
        <p:nvSpPr>
          <p:cNvPr id="4" name="Text 1"/>
          <p:cNvSpPr txBox="1"/>
          <p:nvPr/>
        </p:nvSpPr>
        <p:spPr>
          <a:xfrm>
            <a:off x="1097280" y="1691640"/>
            <a:ext cx="4572000" cy="411480"/>
          </a:xfrm>
          <a:prstGeom prst="rect">
            <a:avLst/>
          </a:prstGeom>
          <a:noFill/>
          <a:ln/>
        </p:spPr>
        <p:txBody>
          <a:bodyPr wrap="square" lIns="0" tIns="0" rIns="0" bIns="0" rtlCol="0" anchor="t"/>
          <a:lstStyle/>
          <a:p>
            <a:pPr indent="0" marL="0">
              <a:buNone/>
            </a:pPr>
            <a:r>
              <a:rPr lang="en-US" sz="1800" b="1" dirty="0">
                <a:solidFill>
                  <a:srgbClr val="5F5B6B"/>
                </a:solidFill>
                <a:latin typeface="Arial" pitchFamily="34" charset="0"/>
                <a:ea typeface="Arial" pitchFamily="34" charset="-122"/>
                <a:cs typeface="Arial" pitchFamily="34" charset="-120"/>
              </a:rPr>
              <a:t>Hoy</a:t>
            </a:r>
            <a:endParaRPr lang="en-US" sz="1800" dirty="0"/>
          </a:p>
        </p:txBody>
      </p:sp>
      <p:sp>
        <p:nvSpPr>
          <p:cNvPr id="5" name="Text 2"/>
          <p:cNvSpPr txBox="1"/>
          <p:nvPr/>
        </p:nvSpPr>
        <p:spPr>
          <a:xfrm>
            <a:off x="6537960" y="1691640"/>
            <a:ext cx="4572000" cy="411480"/>
          </a:xfrm>
          <a:prstGeom prst="rect">
            <a:avLst/>
          </a:prstGeom>
          <a:noFill/>
          <a:ln/>
        </p:spPr>
        <p:txBody>
          <a:bodyPr wrap="square" lIns="0" tIns="0" rIns="0" bIns="0" rtlCol="0" anchor="t"/>
          <a:lstStyle/>
          <a:p>
            <a:pPr indent="0" marL="0">
              <a:buNone/>
            </a:pPr>
            <a:r>
              <a:rPr lang="en-US" sz="1800" b="1" dirty="0">
                <a:solidFill>
                  <a:srgbClr val="6E52B0"/>
                </a:solidFill>
                <a:latin typeface="Arial" pitchFamily="34" charset="0"/>
                <a:ea typeface="Arial" pitchFamily="34" charset="-122"/>
                <a:cs typeface="Arial" pitchFamily="34" charset="-120"/>
              </a:rPr>
              <a:t>Con Tutoring</a:t>
            </a:r>
            <a:endParaRPr lang="en-US" sz="1800" dirty="0"/>
          </a:p>
        </p:txBody>
      </p:sp>
      <p:sp>
        <p:nvSpPr>
          <p:cNvPr id="6" name="Shape 3"/>
          <p:cNvSpPr/>
          <p:nvPr/>
        </p:nvSpPr>
        <p:spPr>
          <a:xfrm>
            <a:off x="731520" y="2240280"/>
            <a:ext cx="4937760" cy="749808"/>
          </a:xfrm>
          <a:prstGeom prst="roundRect">
            <a:avLst>
              <a:gd name="adj" fmla="val 17073"/>
            </a:avLst>
          </a:prstGeom>
          <a:solidFill>
            <a:srgbClr val="DDD6EA"/>
          </a:solidFill>
          <a:ln w="12700">
            <a:solidFill>
              <a:srgbClr val="DDD6EA"/>
            </a:solidFill>
            <a:prstDash val="solid"/>
          </a:ln>
        </p:spPr>
      </p:sp>
      <p:sp>
        <p:nvSpPr>
          <p:cNvPr id="7" name="Text 4"/>
          <p:cNvSpPr txBox="1"/>
          <p:nvPr/>
        </p:nvSpPr>
        <p:spPr>
          <a:xfrm>
            <a:off x="1097280" y="2240280"/>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La IA resuelve la tarea</a:t>
            </a:r>
            <a:endParaRPr lang="en-US" sz="2000" dirty="0"/>
          </a:p>
        </p:txBody>
      </p:sp>
      <p:sp>
        <p:nvSpPr>
          <p:cNvPr id="8" name="Shape 5"/>
          <p:cNvSpPr/>
          <p:nvPr/>
        </p:nvSpPr>
        <p:spPr>
          <a:xfrm>
            <a:off x="5760720" y="2615184"/>
            <a:ext cx="502920" cy="0"/>
          </a:xfrm>
          <a:prstGeom prst="line">
            <a:avLst/>
          </a:prstGeom>
          <a:noFill/>
          <a:ln w="25400">
            <a:solidFill>
              <a:srgbClr val="9B7FD6"/>
            </a:solidFill>
            <a:prstDash val="solid"/>
            <a:tailEnd type="triangle"/>
          </a:ln>
        </p:spPr>
      </p:sp>
      <p:sp>
        <p:nvSpPr>
          <p:cNvPr id="9" name="Shape 6"/>
          <p:cNvSpPr/>
          <p:nvPr/>
        </p:nvSpPr>
        <p:spPr>
          <a:xfrm>
            <a:off x="6355080" y="2240280"/>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0" name="Text 7"/>
          <p:cNvSpPr txBox="1"/>
          <p:nvPr/>
        </p:nvSpPr>
        <p:spPr>
          <a:xfrm>
            <a:off x="6675120" y="2240280"/>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El agente forma a la persona</a:t>
            </a:r>
            <a:endParaRPr lang="en-US" sz="2000" dirty="0"/>
          </a:p>
        </p:txBody>
      </p:sp>
      <p:sp>
        <p:nvSpPr>
          <p:cNvPr id="11" name="Shape 8"/>
          <p:cNvSpPr/>
          <p:nvPr/>
        </p:nvSpPr>
        <p:spPr>
          <a:xfrm>
            <a:off x="731520" y="3172968"/>
            <a:ext cx="4937760" cy="749808"/>
          </a:xfrm>
          <a:prstGeom prst="roundRect">
            <a:avLst>
              <a:gd name="adj" fmla="val 17073"/>
            </a:avLst>
          </a:prstGeom>
          <a:solidFill>
            <a:srgbClr val="DDD6EA"/>
          </a:solidFill>
          <a:ln w="12700">
            <a:solidFill>
              <a:srgbClr val="DDD6EA"/>
            </a:solidFill>
            <a:prstDash val="solid"/>
          </a:ln>
        </p:spPr>
      </p:sp>
      <p:sp>
        <p:nvSpPr>
          <p:cNvPr id="12" name="Text 9"/>
          <p:cNvSpPr txBox="1"/>
          <p:nvPr/>
        </p:nvSpPr>
        <p:spPr>
          <a:xfrm>
            <a:off x="1097280" y="3172968"/>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Conocimiento genérico</a:t>
            </a:r>
            <a:endParaRPr lang="en-US" sz="2000" dirty="0"/>
          </a:p>
        </p:txBody>
      </p:sp>
      <p:sp>
        <p:nvSpPr>
          <p:cNvPr id="13" name="Shape 10"/>
          <p:cNvSpPr/>
          <p:nvPr/>
        </p:nvSpPr>
        <p:spPr>
          <a:xfrm>
            <a:off x="5760720" y="3547872"/>
            <a:ext cx="502920" cy="0"/>
          </a:xfrm>
          <a:prstGeom prst="line">
            <a:avLst/>
          </a:prstGeom>
          <a:noFill/>
          <a:ln w="25400">
            <a:solidFill>
              <a:srgbClr val="9B7FD6"/>
            </a:solidFill>
            <a:prstDash val="solid"/>
            <a:tailEnd type="triangle"/>
          </a:ln>
        </p:spPr>
      </p:sp>
      <p:sp>
        <p:nvSpPr>
          <p:cNvPr id="14" name="Shape 11"/>
          <p:cNvSpPr/>
          <p:nvPr/>
        </p:nvSpPr>
        <p:spPr>
          <a:xfrm>
            <a:off x="6355080" y="3172968"/>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5" name="Text 12"/>
          <p:cNvSpPr txBox="1"/>
          <p:nvPr/>
        </p:nvSpPr>
        <p:spPr>
          <a:xfrm>
            <a:off x="6675120" y="3172968"/>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El contexto de tu empresa</a:t>
            </a:r>
            <a:endParaRPr lang="en-US" sz="2000" dirty="0"/>
          </a:p>
        </p:txBody>
      </p:sp>
      <p:sp>
        <p:nvSpPr>
          <p:cNvPr id="16" name="Shape 13"/>
          <p:cNvSpPr/>
          <p:nvPr/>
        </p:nvSpPr>
        <p:spPr>
          <a:xfrm>
            <a:off x="731520" y="4105656"/>
            <a:ext cx="4937760" cy="749808"/>
          </a:xfrm>
          <a:prstGeom prst="roundRect">
            <a:avLst>
              <a:gd name="adj" fmla="val 17073"/>
            </a:avLst>
          </a:prstGeom>
          <a:solidFill>
            <a:srgbClr val="DDD6EA"/>
          </a:solidFill>
          <a:ln w="12700">
            <a:solidFill>
              <a:srgbClr val="DDD6EA"/>
            </a:solidFill>
            <a:prstDash val="solid"/>
          </a:ln>
        </p:spPr>
      </p:sp>
      <p:sp>
        <p:nvSpPr>
          <p:cNvPr id="17" name="Text 14"/>
          <p:cNvSpPr txBox="1"/>
          <p:nvPr/>
        </p:nvSpPr>
        <p:spPr>
          <a:xfrm>
            <a:off x="1097280" y="4105656"/>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Contratar por CV y entrevista</a:t>
            </a:r>
            <a:endParaRPr lang="en-US" sz="2000" dirty="0"/>
          </a:p>
        </p:txBody>
      </p:sp>
      <p:sp>
        <p:nvSpPr>
          <p:cNvPr id="18" name="Shape 15"/>
          <p:cNvSpPr/>
          <p:nvPr/>
        </p:nvSpPr>
        <p:spPr>
          <a:xfrm>
            <a:off x="5760720" y="4480560"/>
            <a:ext cx="502920" cy="0"/>
          </a:xfrm>
          <a:prstGeom prst="line">
            <a:avLst/>
          </a:prstGeom>
          <a:noFill/>
          <a:ln w="25400">
            <a:solidFill>
              <a:srgbClr val="9B7FD6"/>
            </a:solidFill>
            <a:prstDash val="solid"/>
            <a:tailEnd type="triangle"/>
          </a:ln>
        </p:spPr>
      </p:sp>
      <p:sp>
        <p:nvSpPr>
          <p:cNvPr id="19" name="Shape 16"/>
          <p:cNvSpPr/>
          <p:nvPr/>
        </p:nvSpPr>
        <p:spPr>
          <a:xfrm>
            <a:off x="6355080" y="4105656"/>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0" name="Text 17"/>
          <p:cNvSpPr txBox="1"/>
          <p:nvPr/>
        </p:nvSpPr>
        <p:spPr>
          <a:xfrm>
            <a:off x="6675120" y="4105656"/>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Contratar con evidencia</a:t>
            </a:r>
            <a:endParaRPr lang="en-US" sz="2000" dirty="0"/>
          </a:p>
        </p:txBody>
      </p:sp>
      <p:sp>
        <p:nvSpPr>
          <p:cNvPr id="21" name="Shape 18"/>
          <p:cNvSpPr/>
          <p:nvPr/>
        </p:nvSpPr>
        <p:spPr>
          <a:xfrm>
            <a:off x="731520" y="5038344"/>
            <a:ext cx="4937760" cy="749808"/>
          </a:xfrm>
          <a:prstGeom prst="roundRect">
            <a:avLst>
              <a:gd name="adj" fmla="val 17073"/>
            </a:avLst>
          </a:prstGeom>
          <a:solidFill>
            <a:srgbClr val="DDD6EA"/>
          </a:solidFill>
          <a:ln w="12700">
            <a:solidFill>
              <a:srgbClr val="DDD6EA"/>
            </a:solidFill>
            <a:prstDash val="solid"/>
          </a:ln>
        </p:spPr>
      </p:sp>
      <p:sp>
        <p:nvSpPr>
          <p:cNvPr id="22" name="Text 19"/>
          <p:cNvSpPr txBox="1"/>
          <p:nvPr/>
        </p:nvSpPr>
        <p:spPr>
          <a:xfrm>
            <a:off x="1097280" y="5038344"/>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El senior repite lo mismo</a:t>
            </a:r>
            <a:endParaRPr lang="en-US" sz="2000" dirty="0"/>
          </a:p>
        </p:txBody>
      </p:sp>
      <p:sp>
        <p:nvSpPr>
          <p:cNvPr id="23" name="Shape 20"/>
          <p:cNvSpPr/>
          <p:nvPr/>
        </p:nvSpPr>
        <p:spPr>
          <a:xfrm>
            <a:off x="5760720" y="5413248"/>
            <a:ext cx="502920" cy="0"/>
          </a:xfrm>
          <a:prstGeom prst="line">
            <a:avLst/>
          </a:prstGeom>
          <a:noFill/>
          <a:ln w="25400">
            <a:solidFill>
              <a:srgbClr val="9B7FD6"/>
            </a:solidFill>
            <a:prstDash val="solid"/>
            <a:tailEnd type="triangle"/>
          </a:ln>
        </p:spPr>
      </p:sp>
      <p:sp>
        <p:nvSpPr>
          <p:cNvPr id="24" name="Shape 21"/>
          <p:cNvSpPr/>
          <p:nvPr/>
        </p:nvSpPr>
        <p:spPr>
          <a:xfrm>
            <a:off x="6355080" y="5038344"/>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5" name="Text 22"/>
          <p:cNvSpPr txBox="1"/>
          <p:nvPr/>
        </p:nvSpPr>
        <p:spPr>
          <a:xfrm>
            <a:off x="6675120" y="5038344"/>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El senior lo carga una vez</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058400" cy="73152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Próximos pasos</a:t>
            </a:r>
            <a:endParaRPr lang="en-US" sz="3800" dirty="0"/>
          </a:p>
        </p:txBody>
      </p:sp>
      <p:sp>
        <p:nvSpPr>
          <p:cNvPr id="4" name="Shape 1"/>
          <p:cNvSpPr/>
          <p:nvPr/>
        </p:nvSpPr>
        <p:spPr>
          <a:xfrm>
            <a:off x="2011680" y="3017520"/>
            <a:ext cx="8138160" cy="0"/>
          </a:xfrm>
          <a:prstGeom prst="line">
            <a:avLst/>
          </a:prstGeom>
          <a:noFill/>
          <a:ln w="31750">
            <a:solidFill>
              <a:srgbClr val="9B7FD6"/>
            </a:solidFill>
            <a:prstDash val="dash"/>
          </a:ln>
        </p:spPr>
      </p:sp>
      <p:sp>
        <p:nvSpPr>
          <p:cNvPr id="5" name="Shape 2"/>
          <p:cNvSpPr/>
          <p:nvPr/>
        </p:nvSpPr>
        <p:spPr>
          <a:xfrm>
            <a:off x="1508760" y="2514600"/>
            <a:ext cx="1005840" cy="1005840"/>
          </a:xfrm>
          <a:prstGeom prst="ellipse">
            <a:avLst/>
          </a:prstGeom>
          <a:solidFill>
            <a:srgbClr val="FFFFFF"/>
          </a:solidFill>
          <a:ln w="25400">
            <a:solidFill>
              <a:srgbClr val="9B7FD6"/>
            </a:solidFill>
            <a:prstDash val="solid"/>
          </a:ln>
        </p:spPr>
      </p:sp>
      <p:pic>
        <p:nvPicPr>
          <p:cNvPr id="6" name="Image 1" descr="preencoded.png">    </p:cNvPr>
          <p:cNvPicPr>
            <a:picLocks noChangeAspect="1"/>
          </p:cNvPicPr>
          <p:nvPr/>
        </p:nvPicPr>
        <p:blipFill>
          <a:blip r:embed="rId2"/>
          <a:stretch>
            <a:fillRect/>
          </a:stretch>
        </p:blipFill>
        <p:spPr>
          <a:xfrm>
            <a:off x="1755648" y="2761488"/>
            <a:ext cx="512064" cy="512064"/>
          </a:xfrm>
          <a:prstGeom prst="rect">
            <a:avLst/>
          </a:prstGeom>
        </p:spPr>
      </p:pic>
      <p:sp>
        <p:nvSpPr>
          <p:cNvPr id="7" name="Text 3"/>
          <p:cNvSpPr txBox="1"/>
          <p:nvPr/>
        </p:nvSpPr>
        <p:spPr>
          <a:xfrm>
            <a:off x="365760" y="3794760"/>
            <a:ext cx="329184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1</a:t>
            </a:r>
            <a:endParaRPr lang="en-US" sz="1800" dirty="0"/>
          </a:p>
        </p:txBody>
      </p:sp>
      <p:sp>
        <p:nvSpPr>
          <p:cNvPr id="8" name="Text 4"/>
          <p:cNvSpPr txBox="1"/>
          <p:nvPr/>
        </p:nvSpPr>
        <p:spPr>
          <a:xfrm>
            <a:off x="365760" y="4206240"/>
            <a:ext cx="3291840" cy="1005840"/>
          </a:xfrm>
          <a:prstGeom prst="rect">
            <a:avLst/>
          </a:prstGeom>
          <a:noFill/>
          <a:ln/>
        </p:spPr>
        <p:txBody>
          <a:bodyPr wrap="square" lIns="0" tIns="0" rIns="0" bIns="0" rtlCol="0" anchor="t"/>
          <a:lstStyle/>
          <a:p>
            <a:pPr algn="ctr" indent="0" marL="0">
              <a:buNone/>
            </a:pPr>
            <a:r>
              <a:rPr lang="en-US" sz="2000" b="1" dirty="0">
                <a:solidFill>
                  <a:srgbClr val="17161B"/>
                </a:solidFill>
                <a:latin typeface="Arial" pitchFamily="34" charset="0"/>
                <a:ea typeface="Arial" pitchFamily="34" charset="-122"/>
                <a:cs typeface="Arial" pitchFamily="34" charset="-120"/>
              </a:rPr>
              <a:t>Piloto con empresas de San Miguel</a:t>
            </a:r>
            <a:endParaRPr lang="en-US" sz="2000" dirty="0"/>
          </a:p>
        </p:txBody>
      </p:sp>
      <p:sp>
        <p:nvSpPr>
          <p:cNvPr id="9" name="Shape 5"/>
          <p:cNvSpPr/>
          <p:nvPr/>
        </p:nvSpPr>
        <p:spPr>
          <a:xfrm>
            <a:off x="5577840" y="2514600"/>
            <a:ext cx="1005840" cy="1005840"/>
          </a:xfrm>
          <a:prstGeom prst="ellipse">
            <a:avLst/>
          </a:prstGeom>
          <a:solidFill>
            <a:srgbClr val="FFFFFF"/>
          </a:solidFill>
          <a:ln w="25400">
            <a:solidFill>
              <a:srgbClr val="9B7FD6"/>
            </a:solidFill>
            <a:prstDash val="solid"/>
          </a:ln>
        </p:spPr>
      </p:sp>
      <p:pic>
        <p:nvPicPr>
          <p:cNvPr id="10" name="Image 2" descr="preencoded.png">    </p:cNvPr>
          <p:cNvPicPr>
            <a:picLocks noChangeAspect="1"/>
          </p:cNvPicPr>
          <p:nvPr/>
        </p:nvPicPr>
        <p:blipFill>
          <a:blip r:embed="rId3"/>
          <a:stretch>
            <a:fillRect/>
          </a:stretch>
        </p:blipFill>
        <p:spPr>
          <a:xfrm>
            <a:off x="5824728" y="2761488"/>
            <a:ext cx="512064" cy="512064"/>
          </a:xfrm>
          <a:prstGeom prst="rect">
            <a:avLst/>
          </a:prstGeom>
        </p:spPr>
      </p:pic>
      <p:sp>
        <p:nvSpPr>
          <p:cNvPr id="11" name="Text 6"/>
          <p:cNvSpPr txBox="1"/>
          <p:nvPr/>
        </p:nvSpPr>
        <p:spPr>
          <a:xfrm>
            <a:off x="4434840" y="3794760"/>
            <a:ext cx="329184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2</a:t>
            </a:r>
            <a:endParaRPr lang="en-US" sz="1800" dirty="0"/>
          </a:p>
        </p:txBody>
      </p:sp>
      <p:sp>
        <p:nvSpPr>
          <p:cNvPr id="12" name="Text 7"/>
          <p:cNvSpPr txBox="1"/>
          <p:nvPr/>
        </p:nvSpPr>
        <p:spPr>
          <a:xfrm>
            <a:off x="4434840" y="4206240"/>
            <a:ext cx="3291840" cy="1005840"/>
          </a:xfrm>
          <a:prstGeom prst="rect">
            <a:avLst/>
          </a:prstGeom>
          <a:noFill/>
          <a:ln/>
        </p:spPr>
        <p:txBody>
          <a:bodyPr wrap="square" lIns="0" tIns="0" rIns="0" bIns="0" rtlCol="0" anchor="t"/>
          <a:lstStyle/>
          <a:p>
            <a:pPr algn="ctr" indent="0" marL="0">
              <a:buNone/>
            </a:pPr>
            <a:r>
              <a:rPr lang="en-US" sz="2000" b="1" dirty="0">
                <a:solidFill>
                  <a:srgbClr val="17161B"/>
                </a:solidFill>
                <a:latin typeface="Arial" pitchFamily="34" charset="0"/>
                <a:ea typeface="Arial" pitchFamily="34" charset="-122"/>
                <a:cs typeface="Arial" pitchFamily="34" charset="-120"/>
              </a:rPr>
              <a:t>Prácticas profesionales con UTN y UTEC</a:t>
            </a:r>
            <a:endParaRPr lang="en-US" sz="2000" dirty="0"/>
          </a:p>
        </p:txBody>
      </p:sp>
      <p:sp>
        <p:nvSpPr>
          <p:cNvPr id="13" name="Shape 8"/>
          <p:cNvSpPr/>
          <p:nvPr/>
        </p:nvSpPr>
        <p:spPr>
          <a:xfrm>
            <a:off x="9646920" y="2514600"/>
            <a:ext cx="1005840" cy="1005840"/>
          </a:xfrm>
          <a:prstGeom prst="ellipse">
            <a:avLst/>
          </a:prstGeom>
          <a:solidFill>
            <a:srgbClr val="FFFFFF"/>
          </a:solidFill>
          <a:ln w="25400">
            <a:solidFill>
              <a:srgbClr val="9B7FD6"/>
            </a:solidFill>
            <a:prstDash val="solid"/>
          </a:ln>
        </p:spPr>
      </p:sp>
      <p:pic>
        <p:nvPicPr>
          <p:cNvPr id="14" name="Image 3" descr="preencoded.png">    </p:cNvPr>
          <p:cNvPicPr>
            <a:picLocks noChangeAspect="1"/>
          </p:cNvPicPr>
          <p:nvPr/>
        </p:nvPicPr>
        <p:blipFill>
          <a:blip r:embed="rId4"/>
          <a:stretch>
            <a:fillRect/>
          </a:stretch>
        </p:blipFill>
        <p:spPr>
          <a:xfrm>
            <a:off x="9893808" y="2761488"/>
            <a:ext cx="512064" cy="512064"/>
          </a:xfrm>
          <a:prstGeom prst="rect">
            <a:avLst/>
          </a:prstGeom>
        </p:spPr>
      </p:pic>
      <p:sp>
        <p:nvSpPr>
          <p:cNvPr id="15" name="Text 9"/>
          <p:cNvSpPr txBox="1"/>
          <p:nvPr/>
        </p:nvSpPr>
        <p:spPr>
          <a:xfrm>
            <a:off x="8503920" y="3794760"/>
            <a:ext cx="329184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3</a:t>
            </a:r>
            <a:endParaRPr lang="en-US" sz="1800" dirty="0"/>
          </a:p>
        </p:txBody>
      </p:sp>
      <p:sp>
        <p:nvSpPr>
          <p:cNvPr id="16" name="Text 10"/>
          <p:cNvSpPr txBox="1"/>
          <p:nvPr/>
        </p:nvSpPr>
        <p:spPr>
          <a:xfrm>
            <a:off x="8503920" y="4206240"/>
            <a:ext cx="3291840" cy="1005840"/>
          </a:xfrm>
          <a:prstGeom prst="rect">
            <a:avLst/>
          </a:prstGeom>
          <a:noFill/>
          <a:ln/>
        </p:spPr>
        <p:txBody>
          <a:bodyPr wrap="square" lIns="0" tIns="0" rIns="0" bIns="0" rtlCol="0" anchor="t"/>
          <a:lstStyle/>
          <a:p>
            <a:pPr algn="ctr" indent="0" marL="0">
              <a:buNone/>
            </a:pPr>
            <a:r>
              <a:rPr lang="en-US" sz="2000" b="1" dirty="0">
                <a:solidFill>
                  <a:srgbClr val="17161B"/>
                </a:solidFill>
                <a:latin typeface="Arial" pitchFamily="34" charset="0"/>
                <a:ea typeface="Arial" pitchFamily="34" charset="-122"/>
                <a:cs typeface="Arial" pitchFamily="34" charset="-120"/>
              </a:rPr>
              <a:t>Más rubros y escenarios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claude-0/-home-claude/d13c7265-f088-5db4-933a-3af5cafd5191/scratchpad/deck/img/bg_cent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claude/d13c7265-f088-5db4-933a-3af5cafd5191/scratchpad/deck/img/orb.png">    </p:cNvPr>
          <p:cNvPicPr>
            <a:picLocks noChangeAspect="1"/>
          </p:cNvPicPr>
          <p:nvPr/>
        </p:nvPicPr>
        <p:blipFill>
          <a:blip r:embed="rId2"/>
          <a:stretch>
            <a:fillRect/>
          </a:stretch>
        </p:blipFill>
        <p:spPr>
          <a:xfrm>
            <a:off x="5090008" y="365760"/>
            <a:ext cx="2011680" cy="2011680"/>
          </a:xfrm>
          <a:prstGeom prst="rect">
            <a:avLst/>
          </a:prstGeom>
        </p:spPr>
      </p:pic>
      <p:sp>
        <p:nvSpPr>
          <p:cNvPr id="4" name="Text 0"/>
          <p:cNvSpPr txBox="1"/>
          <p:nvPr/>
        </p:nvSpPr>
        <p:spPr>
          <a:xfrm>
            <a:off x="457200" y="2514600"/>
            <a:ext cx="11277295" cy="1097280"/>
          </a:xfrm>
          <a:prstGeom prst="rect">
            <a:avLst/>
          </a:prstGeom>
          <a:noFill/>
          <a:ln/>
        </p:spPr>
        <p:txBody>
          <a:bodyPr wrap="square" lIns="0" tIns="0" rIns="0" bIns="0" rtlCol="0" anchor="t"/>
          <a:lstStyle/>
          <a:p>
            <a:pPr algn="ctr" indent="0" marL="0">
              <a:buNone/>
            </a:pPr>
            <a:r>
              <a:rPr lang="en-US" sz="6000" b="1" dirty="0">
                <a:solidFill>
                  <a:srgbClr val="17161B"/>
                </a:solidFill>
                <a:latin typeface="Arial" pitchFamily="34" charset="0"/>
                <a:ea typeface="Arial" pitchFamily="34" charset="-122"/>
                <a:cs typeface="Arial" pitchFamily="34" charset="-120"/>
              </a:rPr>
              <a:t>No hay senior sin </a:t>
            </a:r>
            <a:pPr algn="ctr" indent="0" marL="0">
              <a:buNone/>
            </a:pPr>
            <a:r>
              <a:rPr lang="en-US" sz="6000" b="1" dirty="0">
                <a:solidFill>
                  <a:srgbClr val="6E52B0"/>
                </a:solidFill>
                <a:latin typeface="Arial" pitchFamily="34" charset="0"/>
                <a:ea typeface="Arial" pitchFamily="34" charset="-122"/>
                <a:cs typeface="Arial" pitchFamily="34" charset="-120"/>
              </a:rPr>
              <a:t>junior.</a:t>
            </a:r>
            <a:endParaRPr lang="en-US" sz="6000" dirty="0"/>
          </a:p>
        </p:txBody>
      </p:sp>
      <p:sp>
        <p:nvSpPr>
          <p:cNvPr id="5" name="Text 1"/>
          <p:cNvSpPr txBox="1"/>
          <p:nvPr/>
        </p:nvSpPr>
        <p:spPr>
          <a:xfrm>
            <a:off x="1371600" y="3794760"/>
            <a:ext cx="9448495" cy="822960"/>
          </a:xfrm>
          <a:prstGeom prst="rect">
            <a:avLst/>
          </a:prstGeom>
          <a:noFill/>
          <a:ln/>
        </p:spPr>
        <p:txBody>
          <a:bodyPr wrap="square" lIns="0" tIns="0" rIns="0" bIns="0" rtlCol="0" anchor="t"/>
          <a:lstStyle/>
          <a:p>
            <a:pPr algn="ctr" indent="0" marL="0">
              <a:buNone/>
            </a:pPr>
            <a:r>
              <a:rPr lang="en-US" sz="2400" dirty="0">
                <a:solidFill>
                  <a:srgbClr val="5F5B6B"/>
                </a:solidFill>
                <a:latin typeface="Arial" pitchFamily="34" charset="0"/>
                <a:ea typeface="Arial" pitchFamily="34" charset="-122"/>
                <a:cs typeface="Arial" pitchFamily="34" charset="-120"/>
              </a:rPr>
              <a:t>Tutoring forma a los que vienen con el criterio de los que están.</a:t>
            </a:r>
            <a:endParaRPr lang="en-US" sz="2400" dirty="0"/>
          </a:p>
        </p:txBody>
      </p:sp>
      <p:pic>
        <p:nvPicPr>
          <p:cNvPr id="6" name="Image 2" descr="/tmp/claude-0/-home-claude/d13c7265-f088-5db4-933a-3af5cafd5191/scratchpad/deck/img/logo.png">    </p:cNvPr>
          <p:cNvPicPr>
            <a:picLocks noChangeAspect="1"/>
          </p:cNvPicPr>
          <p:nvPr/>
        </p:nvPicPr>
        <p:blipFill>
          <a:blip r:embed="rId3"/>
          <a:stretch>
            <a:fillRect/>
          </a:stretch>
        </p:blipFill>
        <p:spPr>
          <a:xfrm>
            <a:off x="4800600" y="5440680"/>
            <a:ext cx="502920" cy="502920"/>
          </a:xfrm>
          <a:prstGeom prst="rect">
            <a:avLst/>
          </a:prstGeom>
        </p:spPr>
      </p:pic>
      <p:sp>
        <p:nvSpPr>
          <p:cNvPr id="7" name="Text 2"/>
          <p:cNvSpPr txBox="1"/>
          <p:nvPr/>
        </p:nvSpPr>
        <p:spPr>
          <a:xfrm>
            <a:off x="5468112" y="5394960"/>
            <a:ext cx="3657600" cy="594360"/>
          </a:xfrm>
          <a:prstGeom prst="rect">
            <a:avLst/>
          </a:prstGeom>
          <a:noFill/>
          <a:ln/>
        </p:spPr>
        <p:txBody>
          <a:bodyPr wrap="square" lIns="0" tIns="0" rIns="0" bIns="0" rtlCol="0" anchor="ctr"/>
          <a:lstStyle/>
          <a:p>
            <a:pPr indent="0" marL="0">
              <a:buNone/>
            </a:pPr>
            <a:r>
              <a:rPr lang="en-US" sz="3000" b="1" dirty="0">
                <a:solidFill>
                  <a:srgbClr val="17161B"/>
                </a:solidFill>
                <a:latin typeface="Arial" pitchFamily="34" charset="0"/>
                <a:ea typeface="Arial" pitchFamily="34" charset="-122"/>
                <a:cs typeface="Arial" pitchFamily="34" charset="-120"/>
              </a:rPr>
              <a:t>Tutoring</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Tutoring</dc:title>
  <dc:subject>PptxGenJS Presentation</dc:subject>
  <dc:creator>PptxGenJS</dc:creator>
  <cp:lastModifiedBy>PptxGenJS</cp:lastModifiedBy>
  <cp:revision>1</cp:revision>
  <dcterms:created xsi:type="dcterms:W3CDTF">2026-09-29T16:39:26Z</dcterms:created>
  <dcterms:modified xsi:type="dcterms:W3CDTF">2026-09-29T16:39:26Z</dcterms:modified>
</cp:coreProperties>
</file>