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en 10 segundos. "Somos [nombres]. Vamos a hablar de qué pasa con los juniors ahora que la IA hace su trabajo, y qué construimos para resolverlo."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Arrancar con el dato de la charla: el 80% de las tareas base que antes le llevaban una semana a un junior, hoy la IA las resuelve en minutos, por unos 200 al mes. Pregunta al jurado: ¿qué empresa va a pagar un sueldo junior frente a eso? Resultado: las empresas dejan de contratar juniors.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junior tenía dos valores: producía poco, pero aprendía el oficio. La IA cubre lo productivo, pero lo pedagógico quedó sin resolver. Si hoy nadie forma juniors, ¿de dónde salen los seniors dentro de 10 o 20 años? Es un problema de escala que afecta a cualquier empresa que use tecnología, no solo a las de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actor tiene su versión del problema. La empresa no ve retorno inmediato y contratar sin experiencia es un riesgo; además, si forma a alguien, puede perderlo con la competencia. El estudiante queda afuera porque le piden experiencia. Y el senior, si sigue enseñando tareas que hoy hace un clic, pierde productividad. Nadie rompe el círculo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es una plataforma: el senior (o el dueño, o el encargado) carga una sola vez el contexto de su empresa: cómo trabajan, cómo tratan al cliente, cómo encaran un problema. Con eso, un agente de IA acompaña a la persona en dos momentos: antes de contratarla, con simulaciones por voz que miden sus habilidades blandas; y después, como mentor que le explica cómo se hace cada cosa y por qué. Sirve para una software factory y también para un restaurante.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parte, antes de contratar. El estudiante elige una situación que definió la empresa, por ejemplo una clienta molesta porque sus pacientes reciben dos recordatorios. Habla por voz, como una llamada real: el cliente lo interpreta la IA, se enoja si lo apuran y se calma si lo escuchan, y se lo puede interrumpir. Lo que se pone en juego son las habilidades blandas: escuchar, preguntar, explicar sin tecnicismos, no prometer de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colgar, la IA analiza la conversación con los criterios que definió la empresa y arma un informe para el empleador: un puntaje por criterio, y cada puntaje con una cita textual de lo que dijo el candidato. No es una opinión: es evidencia. Y un punto de uso responsable de la IA: el informe nunca recomienda contratar ni descartar. La decisión la toma una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después de contratar. El junior tiene un mentor entrenado con el contexto de la empresa. Cada respuesta separa lo operativo o técnico, el porqué de negocio y la regla de la casa, y termina con una pregunta para que piense. Si tiene que resolver una tarea, lo ayuda de verdad, paso a paso, sin darle todo servido: aprende sin perder tiempo. Así se recupera el valor pedagógico que la IA había dejado huérfano.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lado de la empresa, el senior o el dueño carga una sola vez su contexto: propósito del negocio, cómo trabajan, cómo tratan al cliente, criterios de calidad, y los contextos propios que quiera agregar, como 'Atención en el salón' en un restaurante. También define los escenarios de simulación y los criterios de evaluación. Deja de repetir lo mismo a cada persona nueva y su criterio queda en la empresa aunque él se vaya.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(cerca de 1:30). 1) Estudiante: escenario 'Recordatorios duplicados', hablar 30-40 segundos con Laura y colgar. 2) Mostrar el informe: puntaje, una cita como evidencia y la frase de que decide una persona. 3) Junior: una pregunta al mentor y mostrar los bloques de colores. 4) Si sobra tiempo: en Empresa, cargar el ejemplo del restaurante para mostrar que sirve para otro rubro. Plan B si falla la conexión: 'npm run demo' o el video grabado.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Herramientas como ChatGPT o Copilot resuelven la tarea: le dan la respuesta al junior. Tutoring hace lo contrario: forma a la persona, con el conocimiento propio de cada empresa y no uno genérico. La empresa contrata con evidencia observable en lugar de solo un CV. Y el senior deja de enseñar lo mismo una y otra vez: lo carga una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¿Cuánto cuesta? USD 39 por junior por mes, y baja a 32 y 25 cuanto más juniors forma la empresa. Tres razones. Uno, se paga solo: un senior cuesta unos 14 dólares la hora (mediana de 3.500.000 pesos brutos). Hoy un junior nuevo le consume unas 20 horas por mes en explicaciones; si el mentor le ahorra la mitad, la empresa ahorra 140 dólares y paga 39. Dos, es poco al lado del sueldo: alrededor del 4% del sueldo de un junior (1.538.500 pesos), un costo chico para que ese sueldo rinda antes y aprenda más rápido. Tres, cuesta menos que la IA que reemplazó al junior, unos 200 por mes según la charla, pero en vez de reemplazarlo, lo forma. Las horas ahorradas son una estimación que validaríamos en el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propuesta: ajustar o sacar según lo que defina el equipo.] El siguiente paso es un piloto con empresas de San Miguel, integrado a las prácticas profesionales de las universidades, para que la formación no la pague una sola empresa. Después, sumar más rubros y escenarios. Es una solución 360: empresas, universidades, estado local y estudiantes.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una frase: la IA puede hacer el trabajo del junior, pero no puede reemplazar el camino que lo convierte en senior. Tutoring forma a los que vienen, con el criterio de los que están. Gracias. Quedamos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d13c7265-f088-5db4-933a-3af5cafd5191/scratchpad/deck/img/bg_center.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claude/d13c7265-f088-5db4-933a-3af5cafd5191/scratchpad/deck/img/orb.png">    </p:cNvPr>
          <p:cNvPicPr>
            <a:picLocks noChangeAspect="1"/>
          </p:cNvPicPr>
          <p:nvPr/>
        </p:nvPicPr>
        <p:blipFill>
          <a:blip r:embed="rId2"/>
          <a:stretch>
            <a:fillRect/>
          </a:stretch>
        </p:blipFill>
        <p:spPr>
          <a:xfrm>
            <a:off x="4312768" y="320040"/>
            <a:ext cx="3566160" cy="3566160"/>
          </a:xfrm>
          <a:prstGeom prst="rect">
            <a:avLst/>
          </a:prstGeom>
        </p:spPr>
      </p:pic>
      <p:pic>
        <p:nvPicPr>
          <p:cNvPr id="4" name="Image 2" descr="/tmp/claude-0/-home-claude/d13c7265-f088-5db4-933a-3af5cafd5191/scratchpad/deck/img/logo.png">    </p:cNvPr>
          <p:cNvPicPr>
            <a:picLocks noChangeAspect="1"/>
          </p:cNvPicPr>
          <p:nvPr/>
        </p:nvPicPr>
        <p:blipFill>
          <a:blip r:embed="rId3"/>
          <a:stretch>
            <a:fillRect/>
          </a:stretch>
        </p:blipFill>
        <p:spPr>
          <a:xfrm>
            <a:off x="4114800" y="3977640"/>
            <a:ext cx="749808" cy="749808"/>
          </a:xfrm>
          <a:prstGeom prst="rect">
            <a:avLst/>
          </a:prstGeom>
        </p:spPr>
      </p:pic>
      <p:sp>
        <p:nvSpPr>
          <p:cNvPr id="5" name="Text 0"/>
          <p:cNvSpPr txBox="1"/>
          <p:nvPr/>
        </p:nvSpPr>
        <p:spPr>
          <a:xfrm>
            <a:off x="5029200" y="3931920"/>
            <a:ext cx="3657600" cy="841248"/>
          </a:xfrm>
          <a:prstGeom prst="rect">
            <a:avLst/>
          </a:prstGeom>
          <a:noFill/>
          <a:ln/>
        </p:spPr>
        <p:txBody>
          <a:bodyPr wrap="square" lIns="0" tIns="0" rIns="0" bIns="0" rtlCol="0" anchor="ctr"/>
          <a:lstStyle/>
          <a:p>
            <a:pPr indent="0" marL="0">
              <a:buNone/>
            </a:pPr>
            <a:r>
              <a:rPr lang="en-US" sz="5400" b="1" dirty="0">
                <a:solidFill>
                  <a:srgbClr val="17161B"/>
                </a:solidFill>
                <a:latin typeface="Arial" pitchFamily="34" charset="0"/>
                <a:ea typeface="Arial" pitchFamily="34" charset="-122"/>
                <a:cs typeface="Arial" pitchFamily="34" charset="-120"/>
              </a:rPr>
              <a:t>Tutoring</a:t>
            </a:r>
            <a:endParaRPr lang="en-US" sz="5400" dirty="0"/>
          </a:p>
        </p:txBody>
      </p:sp>
      <p:sp>
        <p:nvSpPr>
          <p:cNvPr id="6" name="Text 1"/>
          <p:cNvSpPr txBox="1"/>
          <p:nvPr/>
        </p:nvSpPr>
        <p:spPr>
          <a:xfrm>
            <a:off x="0" y="4983480"/>
            <a:ext cx="12191695" cy="457200"/>
          </a:xfrm>
          <a:prstGeom prst="rect">
            <a:avLst/>
          </a:prstGeom>
          <a:noFill/>
          <a:ln/>
        </p:spPr>
        <p:txBody>
          <a:bodyPr wrap="square" lIns="0" tIns="0" rIns="0" bIns="0" rtlCol="0" anchor="t"/>
          <a:lstStyle/>
          <a:p>
            <a:pPr algn="ctr" indent="0" marL="0">
              <a:buNone/>
            </a:pPr>
            <a:r>
              <a:rPr lang="en-US" sz="2200" dirty="0">
                <a:solidFill>
                  <a:srgbClr val="6E52B0"/>
                </a:solidFill>
                <a:latin typeface="Arial" pitchFamily="34" charset="0"/>
                <a:ea typeface="Arial" pitchFamily="34" charset="-122"/>
                <a:cs typeface="Arial" pitchFamily="34" charset="-120"/>
              </a:rPr>
              <a:t>Simulaciones por voz · Mentor de IA</a:t>
            </a:r>
            <a:endParaRPr lang="en-US" sz="2200" dirty="0"/>
          </a:p>
        </p:txBody>
      </p:sp>
      <p:sp>
        <p:nvSpPr>
          <p:cNvPr id="7" name="Text 2"/>
          <p:cNvSpPr txBox="1"/>
          <p:nvPr/>
        </p:nvSpPr>
        <p:spPr>
          <a:xfrm>
            <a:off x="0" y="6172200"/>
            <a:ext cx="12191695" cy="320040"/>
          </a:xfrm>
          <a:prstGeom prst="rect">
            <a:avLst/>
          </a:prstGeom>
          <a:noFill/>
          <a:ln/>
        </p:spPr>
        <p:txBody>
          <a:bodyPr wrap="square" lIns="0" tIns="0" rIns="0" bIns="0" rtlCol="0" anchor="t"/>
          <a:lstStyle/>
          <a:p>
            <a:pPr algn="ctr" indent="0" marL="0">
              <a:buNone/>
            </a:pPr>
            <a:r>
              <a:rPr lang="en-US" sz="1200" dirty="0">
                <a:solidFill>
                  <a:srgbClr val="5F5B6B"/>
                </a:solidFill>
                <a:latin typeface="Arial" pitchFamily="34" charset="0"/>
                <a:ea typeface="Arial" pitchFamily="34" charset="-122"/>
                <a:cs typeface="Arial" pitchFamily="34" charset="-120"/>
              </a:rPr>
              <a:t>Hackathon · Inserción laboral junior · San Miguel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960120"/>
            <a:ext cx="5852160" cy="2103120"/>
          </a:xfrm>
          <a:prstGeom prst="rect">
            <a:avLst/>
          </a:prstGeom>
          <a:noFill/>
          <a:ln/>
        </p:spPr>
        <p:txBody>
          <a:bodyPr wrap="square" lIns="0" tIns="0" rIns="0" bIns="0" rtlCol="0" anchor="t"/>
          <a:lstStyle/>
          <a:p>
            <a:pPr indent="0" marL="0">
              <a:buNone/>
            </a:pPr>
            <a:r>
              <a:rPr lang="en-US" sz="16000" b="1" dirty="0">
                <a:solidFill>
                  <a:srgbClr val="6E52B0"/>
                </a:solidFill>
                <a:latin typeface="Arial" pitchFamily="34" charset="0"/>
                <a:ea typeface="Arial" pitchFamily="34" charset="-122"/>
                <a:cs typeface="Arial" pitchFamily="34" charset="-120"/>
              </a:rPr>
              <a:t>80%</a:t>
            </a:r>
            <a:endParaRPr lang="en-US" sz="16000" dirty="0"/>
          </a:p>
        </p:txBody>
      </p:sp>
      <p:sp>
        <p:nvSpPr>
          <p:cNvPr id="4" name="Text 1"/>
          <p:cNvSpPr txBox="1"/>
          <p:nvPr/>
        </p:nvSpPr>
        <p:spPr>
          <a:xfrm>
            <a:off x="731520" y="3246120"/>
            <a:ext cx="5669280" cy="1280160"/>
          </a:xfrm>
          <a:prstGeom prst="rect">
            <a:avLst/>
          </a:prstGeom>
          <a:noFill/>
          <a:ln/>
        </p:spPr>
        <p:txBody>
          <a:bodyPr wrap="square" lIns="0" tIns="0" rIns="0" bIns="0" rtlCol="0" anchor="t"/>
          <a:lstStyle/>
          <a:p>
            <a:pPr indent="0" marL="0">
              <a:buNone/>
            </a:pPr>
            <a:r>
              <a:rPr lang="en-US" sz="3200" b="1" dirty="0">
                <a:solidFill>
                  <a:srgbClr val="17161B"/>
                </a:solidFill>
                <a:latin typeface="Arial" pitchFamily="34" charset="0"/>
                <a:ea typeface="Arial" pitchFamily="34" charset="-122"/>
                <a:cs typeface="Arial" pitchFamily="34" charset="-120"/>
              </a:rPr>
              <a:t>de las tareas base de un junior hoy las resuelve la IA.</a:t>
            </a:r>
            <a:endParaRPr lang="en-US" sz="3200" dirty="0"/>
          </a:p>
        </p:txBody>
      </p:sp>
      <p:sp>
        <p:nvSpPr>
          <p:cNvPr id="5" name="Text 2"/>
          <p:cNvSpPr txBox="1"/>
          <p:nvPr/>
        </p:nvSpPr>
        <p:spPr>
          <a:xfrm>
            <a:off x="731520" y="4709160"/>
            <a:ext cx="5669280" cy="457200"/>
          </a:xfrm>
          <a:prstGeom prst="rect">
            <a:avLst/>
          </a:prstGeom>
          <a:noFill/>
          <a:ln/>
        </p:spPr>
        <p:txBody>
          <a:bodyPr wrap="square" lIns="0" tIns="0" rIns="0" bIns="0" rtlCol="0" anchor="t"/>
          <a:lstStyle/>
          <a:p>
            <a:pPr indent="0" marL="0">
              <a:buNone/>
            </a:pPr>
            <a:r>
              <a:rPr lang="en-US" sz="2000" dirty="0">
                <a:solidFill>
                  <a:srgbClr val="5F5B6B"/>
                </a:solidFill>
                <a:latin typeface="Arial" pitchFamily="34" charset="0"/>
                <a:ea typeface="Arial" pitchFamily="34" charset="-122"/>
                <a:cs typeface="Arial" pitchFamily="34" charset="-120"/>
              </a:rPr>
              <a:t>En minutos. Por unos $200 al mes.</a:t>
            </a:r>
            <a:endParaRPr lang="en-US" sz="2000" dirty="0"/>
          </a:p>
        </p:txBody>
      </p:sp>
      <p:sp>
        <p:nvSpPr>
          <p:cNvPr id="6" name="Shape 3"/>
          <p:cNvSpPr/>
          <p:nvPr/>
        </p:nvSpPr>
        <p:spPr>
          <a:xfrm>
            <a:off x="7315200" y="1600200"/>
            <a:ext cx="4114800" cy="1600200"/>
          </a:xfrm>
          <a:prstGeom prst="roundRect">
            <a:avLst>
              <a:gd name="adj" fmla="val 914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7" name="Shape 4"/>
          <p:cNvSpPr/>
          <p:nvPr/>
        </p:nvSpPr>
        <p:spPr>
          <a:xfrm>
            <a:off x="7635240" y="2103120"/>
            <a:ext cx="566928" cy="566928"/>
          </a:xfrm>
          <a:prstGeom prst="ellipse">
            <a:avLst/>
          </a:prstGeom>
          <a:solidFill>
            <a:srgbClr val="EFE9FA"/>
          </a:solidFill>
          <a:ln w="12700">
            <a:solidFill>
              <a:srgbClr val="EFE9FA"/>
            </a:solidFill>
            <a:prstDash val="solid"/>
          </a:ln>
        </p:spPr>
      </p:sp>
      <p:pic>
        <p:nvPicPr>
          <p:cNvPr id="8" name="Image 1" descr="preencoded.png">    </p:cNvPr>
          <p:cNvPicPr>
            <a:picLocks noChangeAspect="1"/>
          </p:cNvPicPr>
          <p:nvPr/>
        </p:nvPicPr>
        <p:blipFill>
          <a:blip r:embed="rId2"/>
          <a:stretch>
            <a:fillRect/>
          </a:stretch>
        </p:blipFill>
        <p:spPr>
          <a:xfrm>
            <a:off x="7771303" y="2239183"/>
            <a:ext cx="294803" cy="294803"/>
          </a:xfrm>
          <a:prstGeom prst="rect">
            <a:avLst/>
          </a:prstGeom>
        </p:spPr>
      </p:pic>
      <p:sp>
        <p:nvSpPr>
          <p:cNvPr id="9" name="Text 5"/>
          <p:cNvSpPr txBox="1"/>
          <p:nvPr/>
        </p:nvSpPr>
        <p:spPr>
          <a:xfrm>
            <a:off x="8412480" y="1938528"/>
            <a:ext cx="28346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Un junior</a:t>
            </a:r>
            <a:endParaRPr lang="en-US" sz="1800" dirty="0"/>
          </a:p>
        </p:txBody>
      </p:sp>
      <p:sp>
        <p:nvSpPr>
          <p:cNvPr id="10" name="Text 6"/>
          <p:cNvSpPr txBox="1"/>
          <p:nvPr/>
        </p:nvSpPr>
        <p:spPr>
          <a:xfrm>
            <a:off x="8412480" y="2331720"/>
            <a:ext cx="2834640" cy="640080"/>
          </a:xfrm>
          <a:prstGeom prst="rect">
            <a:avLst/>
          </a:prstGeom>
          <a:noFill/>
          <a:ln/>
        </p:spPr>
        <p:txBody>
          <a:bodyPr wrap="square" lIns="0" tIns="0" rIns="0" bIns="0" rtlCol="0" anchor="t"/>
          <a:lstStyle/>
          <a:p>
            <a:pPr indent="0" marL="0">
              <a:buNone/>
            </a:pPr>
            <a:r>
              <a:rPr lang="en-US" sz="3400" b="1" dirty="0">
                <a:solidFill>
                  <a:srgbClr val="17161B"/>
                </a:solidFill>
                <a:latin typeface="Arial" pitchFamily="34" charset="0"/>
                <a:ea typeface="Arial" pitchFamily="34" charset="-122"/>
                <a:cs typeface="Arial" pitchFamily="34" charset="-120"/>
              </a:rPr>
              <a:t>1 semana</a:t>
            </a:r>
            <a:endParaRPr lang="en-US" sz="3400" dirty="0"/>
          </a:p>
        </p:txBody>
      </p:sp>
      <p:sp>
        <p:nvSpPr>
          <p:cNvPr id="11" name="Shape 7"/>
          <p:cNvSpPr/>
          <p:nvPr/>
        </p:nvSpPr>
        <p:spPr>
          <a:xfrm>
            <a:off x="7315200" y="3520440"/>
            <a:ext cx="4114800" cy="1600200"/>
          </a:xfrm>
          <a:prstGeom prst="roundRect">
            <a:avLst>
              <a:gd name="adj" fmla="val 9143"/>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2" name="Shape 8"/>
          <p:cNvSpPr/>
          <p:nvPr/>
        </p:nvSpPr>
        <p:spPr>
          <a:xfrm>
            <a:off x="7635240" y="4023360"/>
            <a:ext cx="566928" cy="566928"/>
          </a:xfrm>
          <a:prstGeom prst="ellipse">
            <a:avLst/>
          </a:prstGeom>
          <a:solidFill>
            <a:srgbClr val="EFE9FA"/>
          </a:solidFill>
          <a:ln w="12700">
            <a:solidFill>
              <a:srgbClr val="EFE9FA"/>
            </a:solidFill>
            <a:prstDash val="solid"/>
          </a:ln>
        </p:spPr>
      </p:sp>
      <p:pic>
        <p:nvPicPr>
          <p:cNvPr id="13" name="Image 2" descr="preencoded.png">    </p:cNvPr>
          <p:cNvPicPr>
            <a:picLocks noChangeAspect="1"/>
          </p:cNvPicPr>
          <p:nvPr/>
        </p:nvPicPr>
        <p:blipFill>
          <a:blip r:embed="rId3"/>
          <a:stretch>
            <a:fillRect/>
          </a:stretch>
        </p:blipFill>
        <p:spPr>
          <a:xfrm>
            <a:off x="7771303" y="4159423"/>
            <a:ext cx="294803" cy="294803"/>
          </a:xfrm>
          <a:prstGeom prst="rect">
            <a:avLst/>
          </a:prstGeom>
        </p:spPr>
      </p:pic>
      <p:sp>
        <p:nvSpPr>
          <p:cNvPr id="14" name="Text 9"/>
          <p:cNvSpPr txBox="1"/>
          <p:nvPr/>
        </p:nvSpPr>
        <p:spPr>
          <a:xfrm>
            <a:off x="8412480" y="3858768"/>
            <a:ext cx="28346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La IA</a:t>
            </a:r>
            <a:endParaRPr lang="en-US" sz="1800" dirty="0"/>
          </a:p>
        </p:txBody>
      </p:sp>
      <p:sp>
        <p:nvSpPr>
          <p:cNvPr id="15" name="Text 10"/>
          <p:cNvSpPr txBox="1"/>
          <p:nvPr/>
        </p:nvSpPr>
        <p:spPr>
          <a:xfrm>
            <a:off x="8412480" y="4251960"/>
            <a:ext cx="2834640" cy="640080"/>
          </a:xfrm>
          <a:prstGeom prst="rect">
            <a:avLst/>
          </a:prstGeom>
          <a:noFill/>
          <a:ln/>
        </p:spPr>
        <p:txBody>
          <a:bodyPr wrap="square" lIns="0" tIns="0" rIns="0" bIns="0" rtlCol="0" anchor="t"/>
          <a:lstStyle/>
          <a:p>
            <a:pPr indent="0" marL="0">
              <a:buNone/>
            </a:pPr>
            <a:r>
              <a:rPr lang="en-US" sz="3400" b="1" dirty="0">
                <a:solidFill>
                  <a:srgbClr val="6E52B0"/>
                </a:solidFill>
                <a:latin typeface="Arial" pitchFamily="34" charset="0"/>
                <a:ea typeface="Arial" pitchFamily="34" charset="-122"/>
                <a:cs typeface="Arial" pitchFamily="34" charset="-120"/>
              </a:rPr>
              <a:t>minutos</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1188720"/>
            <a:ext cx="10728655" cy="822960"/>
          </a:xfrm>
          <a:prstGeom prst="rect">
            <a:avLst/>
          </a:prstGeom>
          <a:noFill/>
          <a:ln/>
        </p:spPr>
        <p:txBody>
          <a:bodyPr wrap="square" lIns="0" tIns="0" rIns="0" bIns="0" rtlCol="0" anchor="t"/>
          <a:lstStyle/>
          <a:p>
            <a:pPr algn="ctr" indent="0" marL="0">
              <a:buNone/>
            </a:pPr>
            <a:r>
              <a:rPr lang="en-US" sz="4400" b="1" dirty="0">
                <a:solidFill>
                  <a:srgbClr val="17161B"/>
                </a:solidFill>
                <a:latin typeface="Arial" pitchFamily="34" charset="0"/>
                <a:ea typeface="Arial" pitchFamily="34" charset="-122"/>
                <a:cs typeface="Arial" pitchFamily="34" charset="-120"/>
              </a:rPr>
              <a:t>La IA se quedó con el trabajo.</a:t>
            </a:r>
            <a:endParaRPr lang="en-US" sz="4400" dirty="0"/>
          </a:p>
        </p:txBody>
      </p:sp>
      <p:sp>
        <p:nvSpPr>
          <p:cNvPr id="4" name="Text 1"/>
          <p:cNvSpPr txBox="1"/>
          <p:nvPr/>
        </p:nvSpPr>
        <p:spPr>
          <a:xfrm>
            <a:off x="731520" y="2011680"/>
            <a:ext cx="10728655" cy="822960"/>
          </a:xfrm>
          <a:prstGeom prst="rect">
            <a:avLst/>
          </a:prstGeom>
          <a:noFill/>
          <a:ln/>
        </p:spPr>
        <p:txBody>
          <a:bodyPr wrap="square" lIns="0" tIns="0" rIns="0" bIns="0" rtlCol="0" anchor="t"/>
          <a:lstStyle/>
          <a:p>
            <a:pPr algn="ctr" indent="0" marL="0">
              <a:buNone/>
            </a:pPr>
            <a:r>
              <a:rPr lang="en-US" sz="4400" b="1" dirty="0">
                <a:solidFill>
                  <a:srgbClr val="17161B"/>
                </a:solidFill>
                <a:latin typeface="Arial" pitchFamily="34" charset="0"/>
                <a:ea typeface="Arial" pitchFamily="34" charset="-122"/>
                <a:cs typeface="Arial" pitchFamily="34" charset="-120"/>
              </a:rPr>
              <a:t>Nadie se quedó con el </a:t>
            </a:r>
            <a:pPr algn="ctr" indent="0" marL="0">
              <a:buNone/>
            </a:pPr>
            <a:r>
              <a:rPr lang="en-US" sz="4400" b="1" dirty="0">
                <a:solidFill>
                  <a:srgbClr val="6E52B0"/>
                </a:solidFill>
                <a:latin typeface="Arial" pitchFamily="34" charset="0"/>
                <a:ea typeface="Arial" pitchFamily="34" charset="-122"/>
                <a:cs typeface="Arial" pitchFamily="34" charset="-120"/>
              </a:rPr>
              <a:t>aprendizaje.</a:t>
            </a:r>
            <a:endParaRPr lang="en-US" sz="4400" dirty="0"/>
          </a:p>
        </p:txBody>
      </p:sp>
      <p:sp>
        <p:nvSpPr>
          <p:cNvPr id="5" name="Shape 2"/>
          <p:cNvSpPr/>
          <p:nvPr/>
        </p:nvSpPr>
        <p:spPr>
          <a:xfrm>
            <a:off x="3108960" y="4160520"/>
            <a:ext cx="5943600" cy="0"/>
          </a:xfrm>
          <a:prstGeom prst="line">
            <a:avLst/>
          </a:prstGeom>
          <a:noFill/>
          <a:ln w="31750">
            <a:solidFill>
              <a:srgbClr val="9B7FD6"/>
            </a:solidFill>
            <a:prstDash val="solid"/>
            <a:tailEnd type="triangle"/>
          </a:ln>
        </p:spPr>
      </p:sp>
      <p:sp>
        <p:nvSpPr>
          <p:cNvPr id="6" name="Shape 3"/>
          <p:cNvSpPr/>
          <p:nvPr/>
        </p:nvSpPr>
        <p:spPr>
          <a:xfrm>
            <a:off x="2926080" y="3977640"/>
            <a:ext cx="365760" cy="365760"/>
          </a:xfrm>
          <a:prstGeom prst="ellipse">
            <a:avLst/>
          </a:prstGeom>
          <a:solidFill>
            <a:srgbClr val="6E52B0"/>
          </a:solidFill>
          <a:ln w="12700">
            <a:solidFill>
              <a:srgbClr val="6E52B0"/>
            </a:solidFill>
            <a:prstDash val="solid"/>
          </a:ln>
        </p:spPr>
      </p:sp>
      <p:sp>
        <p:nvSpPr>
          <p:cNvPr id="7" name="Shape 4"/>
          <p:cNvSpPr/>
          <p:nvPr/>
        </p:nvSpPr>
        <p:spPr>
          <a:xfrm>
            <a:off x="9052560" y="3977640"/>
            <a:ext cx="365760" cy="365760"/>
          </a:xfrm>
          <a:prstGeom prst="ellipse">
            <a:avLst/>
          </a:prstGeom>
          <a:solidFill>
            <a:srgbClr val="6E52B0"/>
          </a:solidFill>
          <a:ln w="12700">
            <a:solidFill>
              <a:srgbClr val="6E52B0"/>
            </a:solidFill>
            <a:prstDash val="solid"/>
          </a:ln>
        </p:spPr>
      </p:sp>
      <p:sp>
        <p:nvSpPr>
          <p:cNvPr id="8" name="Text 5"/>
          <p:cNvSpPr txBox="1"/>
          <p:nvPr/>
        </p:nvSpPr>
        <p:spPr>
          <a:xfrm>
            <a:off x="1737360" y="4480560"/>
            <a:ext cx="2743200" cy="36576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Hoy</a:t>
            </a:r>
            <a:endParaRPr lang="en-US" sz="1800" dirty="0"/>
          </a:p>
        </p:txBody>
      </p:sp>
      <p:sp>
        <p:nvSpPr>
          <p:cNvPr id="9" name="Text 6"/>
          <p:cNvSpPr txBox="1"/>
          <p:nvPr/>
        </p:nvSpPr>
        <p:spPr>
          <a:xfrm>
            <a:off x="1737360" y="4846320"/>
            <a:ext cx="2743200" cy="457200"/>
          </a:xfrm>
          <a:prstGeom prst="rect">
            <a:avLst/>
          </a:prstGeom>
          <a:noFill/>
          <a:ln/>
        </p:spPr>
        <p:txBody>
          <a:bodyPr wrap="square" lIns="0" tIns="0" rIns="0" bIns="0" rtlCol="0" anchor="t"/>
          <a:lstStyle/>
          <a:p>
            <a:pPr algn="ctr" indent="0" marL="0">
              <a:buNone/>
            </a:pPr>
            <a:r>
              <a:rPr lang="en-US" sz="2200" b="1" dirty="0">
                <a:solidFill>
                  <a:srgbClr val="17161B"/>
                </a:solidFill>
                <a:latin typeface="Arial" pitchFamily="34" charset="0"/>
                <a:ea typeface="Arial" pitchFamily="34" charset="-122"/>
                <a:cs typeface="Arial" pitchFamily="34" charset="-120"/>
              </a:rPr>
              <a:t>Nadie forma juniors</a:t>
            </a:r>
            <a:endParaRPr lang="en-US" sz="2200" dirty="0"/>
          </a:p>
        </p:txBody>
      </p:sp>
      <p:sp>
        <p:nvSpPr>
          <p:cNvPr id="10" name="Text 7"/>
          <p:cNvSpPr txBox="1"/>
          <p:nvPr/>
        </p:nvSpPr>
        <p:spPr>
          <a:xfrm>
            <a:off x="7863840" y="4480560"/>
            <a:ext cx="2743200" cy="36576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En 10 años</a:t>
            </a:r>
            <a:endParaRPr lang="en-US" sz="1800" dirty="0"/>
          </a:p>
        </p:txBody>
      </p:sp>
      <p:sp>
        <p:nvSpPr>
          <p:cNvPr id="11" name="Text 8"/>
          <p:cNvSpPr txBox="1"/>
          <p:nvPr/>
        </p:nvSpPr>
        <p:spPr>
          <a:xfrm>
            <a:off x="7863840" y="4846320"/>
            <a:ext cx="2743200" cy="457200"/>
          </a:xfrm>
          <a:prstGeom prst="rect">
            <a:avLst/>
          </a:prstGeom>
          <a:noFill/>
          <a:ln/>
        </p:spPr>
        <p:txBody>
          <a:bodyPr wrap="square" lIns="0" tIns="0" rIns="0" bIns="0" rtlCol="0" anchor="t"/>
          <a:lstStyle/>
          <a:p>
            <a:pPr algn="ctr" indent="0" marL="0">
              <a:buNone/>
            </a:pPr>
            <a:r>
              <a:rPr lang="en-US" sz="2200" b="1" dirty="0">
                <a:solidFill>
                  <a:srgbClr val="6E52B0"/>
                </a:solidFill>
                <a:latin typeface="Arial" pitchFamily="34" charset="0"/>
                <a:ea typeface="Arial" pitchFamily="34" charset="-122"/>
                <a:cs typeface="Arial" pitchFamily="34" charset="-120"/>
              </a:rPr>
              <a:t>No hay seniors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058400" cy="73152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Un círculo que nadie rompe</a:t>
            </a:r>
            <a:endParaRPr lang="en-US" sz="3800" dirty="0"/>
          </a:p>
        </p:txBody>
      </p:sp>
      <p:sp>
        <p:nvSpPr>
          <p:cNvPr id="4" name="Shape 1"/>
          <p:cNvSpPr/>
          <p:nvPr/>
        </p:nvSpPr>
        <p:spPr>
          <a:xfrm>
            <a:off x="1828800" y="1737360"/>
            <a:ext cx="3566160" cy="1371600"/>
          </a:xfrm>
          <a:prstGeom prst="roundRect">
            <a:avLst>
              <a:gd name="adj" fmla="val 10667"/>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5" name="Text 2"/>
          <p:cNvSpPr txBox="1"/>
          <p:nvPr/>
        </p:nvSpPr>
        <p:spPr>
          <a:xfrm>
            <a:off x="1828800" y="1965960"/>
            <a:ext cx="3566160" cy="457200"/>
          </a:xfrm>
          <a:prstGeom prst="rect">
            <a:avLst/>
          </a:prstGeom>
          <a:noFill/>
          <a:ln/>
        </p:spPr>
        <p:txBody>
          <a:bodyPr wrap="square" lIns="0" tIns="0" rIns="0" bIns="0" rtlCol="0" anchor="t"/>
          <a:lstStyle/>
          <a:p>
            <a:pPr algn="ctr" indent="0" marL="0">
              <a:buNone/>
            </a:pPr>
            <a:r>
              <a:rPr lang="en-US" sz="2400" b="1" dirty="0">
                <a:solidFill>
                  <a:srgbClr val="17161B"/>
                </a:solidFill>
                <a:latin typeface="Arial" pitchFamily="34" charset="0"/>
                <a:ea typeface="Arial" pitchFamily="34" charset="-122"/>
                <a:cs typeface="Arial" pitchFamily="34" charset="-120"/>
              </a:rPr>
              <a:t>Sin experiencia</a:t>
            </a:r>
            <a:endParaRPr lang="en-US" sz="2400" dirty="0"/>
          </a:p>
        </p:txBody>
      </p:sp>
      <p:sp>
        <p:nvSpPr>
          <p:cNvPr id="6" name="Text 3"/>
          <p:cNvSpPr txBox="1"/>
          <p:nvPr/>
        </p:nvSpPr>
        <p:spPr>
          <a:xfrm>
            <a:off x="1828800" y="2423160"/>
            <a:ext cx="3566160" cy="41148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no te contratan</a:t>
            </a:r>
            <a:endParaRPr lang="en-US" sz="1800" dirty="0"/>
          </a:p>
        </p:txBody>
      </p:sp>
      <p:sp>
        <p:nvSpPr>
          <p:cNvPr id="7" name="Shape 4"/>
          <p:cNvSpPr/>
          <p:nvPr/>
        </p:nvSpPr>
        <p:spPr>
          <a:xfrm>
            <a:off x="6793992" y="1737360"/>
            <a:ext cx="3566160" cy="1371600"/>
          </a:xfrm>
          <a:prstGeom prst="roundRect">
            <a:avLst>
              <a:gd name="adj" fmla="val 10667"/>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8" name="Text 5"/>
          <p:cNvSpPr txBox="1"/>
          <p:nvPr/>
        </p:nvSpPr>
        <p:spPr>
          <a:xfrm>
            <a:off x="6793992" y="1965960"/>
            <a:ext cx="3566160" cy="457200"/>
          </a:xfrm>
          <a:prstGeom prst="rect">
            <a:avLst/>
          </a:prstGeom>
          <a:noFill/>
          <a:ln/>
        </p:spPr>
        <p:txBody>
          <a:bodyPr wrap="square" lIns="0" tIns="0" rIns="0" bIns="0" rtlCol="0" anchor="t"/>
          <a:lstStyle/>
          <a:p>
            <a:pPr algn="ctr" indent="0" marL="0">
              <a:buNone/>
            </a:pPr>
            <a:r>
              <a:rPr lang="en-US" sz="2400" b="1" dirty="0">
                <a:solidFill>
                  <a:srgbClr val="17161B"/>
                </a:solidFill>
                <a:latin typeface="Arial" pitchFamily="34" charset="0"/>
                <a:ea typeface="Arial" pitchFamily="34" charset="-122"/>
                <a:cs typeface="Arial" pitchFamily="34" charset="-120"/>
              </a:rPr>
              <a:t>Sin contratación</a:t>
            </a:r>
            <a:endParaRPr lang="en-US" sz="2400" dirty="0"/>
          </a:p>
        </p:txBody>
      </p:sp>
      <p:sp>
        <p:nvSpPr>
          <p:cNvPr id="9" name="Text 6"/>
          <p:cNvSpPr txBox="1"/>
          <p:nvPr/>
        </p:nvSpPr>
        <p:spPr>
          <a:xfrm>
            <a:off x="6793992" y="2423160"/>
            <a:ext cx="3566160" cy="411480"/>
          </a:xfrm>
          <a:prstGeom prst="rect">
            <a:avLst/>
          </a:prstGeom>
          <a:noFill/>
          <a:ln/>
        </p:spPr>
        <p:txBody>
          <a:bodyPr wrap="square" lIns="0" tIns="0" rIns="0" bIns="0" rtlCol="0" anchor="t"/>
          <a:lstStyle/>
          <a:p>
            <a:pPr algn="ctr" indent="0" marL="0">
              <a:buNone/>
            </a:pPr>
            <a:r>
              <a:rPr lang="en-US" sz="1800" dirty="0">
                <a:solidFill>
                  <a:srgbClr val="5F5B6B"/>
                </a:solidFill>
                <a:latin typeface="Arial" pitchFamily="34" charset="0"/>
                <a:ea typeface="Arial" pitchFamily="34" charset="-122"/>
                <a:cs typeface="Arial" pitchFamily="34" charset="-120"/>
              </a:rPr>
              <a:t>no hay experiencia</a:t>
            </a:r>
            <a:endParaRPr lang="en-US" sz="1800" dirty="0"/>
          </a:p>
        </p:txBody>
      </p:sp>
      <p:sp>
        <p:nvSpPr>
          <p:cNvPr id="10" name="Shape 7"/>
          <p:cNvSpPr/>
          <p:nvPr/>
        </p:nvSpPr>
        <p:spPr>
          <a:xfrm>
            <a:off x="5532120" y="2103120"/>
            <a:ext cx="1124712" cy="0"/>
          </a:xfrm>
          <a:prstGeom prst="line">
            <a:avLst/>
          </a:prstGeom>
          <a:noFill/>
          <a:ln w="31750">
            <a:solidFill>
              <a:srgbClr val="6E52B0"/>
            </a:solidFill>
            <a:prstDash val="solid"/>
            <a:tailEnd type="triangle"/>
          </a:ln>
        </p:spPr>
      </p:sp>
      <p:sp>
        <p:nvSpPr>
          <p:cNvPr id="11" name="Shape 8"/>
          <p:cNvSpPr/>
          <p:nvPr/>
        </p:nvSpPr>
        <p:spPr>
          <a:xfrm>
            <a:off x="5532120" y="2743200"/>
            <a:ext cx="1124712" cy="0"/>
          </a:xfrm>
          <a:prstGeom prst="line">
            <a:avLst/>
          </a:prstGeom>
          <a:noFill/>
          <a:ln w="31750">
            <a:solidFill>
              <a:srgbClr val="6E52B0"/>
            </a:solidFill>
            <a:prstDash val="solid"/>
            <a:headEnd type="triangle"/>
          </a:ln>
        </p:spPr>
      </p:sp>
      <p:sp>
        <p:nvSpPr>
          <p:cNvPr id="12" name="Shape 9"/>
          <p:cNvSpPr/>
          <p:nvPr/>
        </p:nvSpPr>
        <p:spPr>
          <a:xfrm>
            <a:off x="731520" y="3931920"/>
            <a:ext cx="3429000" cy="2011680"/>
          </a:xfrm>
          <a:prstGeom prst="roundRect">
            <a:avLst>
              <a:gd name="adj" fmla="val 727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3" name="Shape 10"/>
          <p:cNvSpPr/>
          <p:nvPr/>
        </p:nvSpPr>
        <p:spPr>
          <a:xfrm>
            <a:off x="1051560" y="4206240"/>
            <a:ext cx="566928" cy="566928"/>
          </a:xfrm>
          <a:prstGeom prst="ellipse">
            <a:avLst/>
          </a:prstGeom>
          <a:solidFill>
            <a:srgbClr val="EFE9FA"/>
          </a:solidFill>
          <a:ln w="12700">
            <a:solidFill>
              <a:srgbClr val="EFE9FA"/>
            </a:solidFill>
            <a:prstDash val="solid"/>
          </a:ln>
        </p:spPr>
      </p:sp>
      <p:pic>
        <p:nvPicPr>
          <p:cNvPr id="14" name="Image 1" descr="preencoded.png">    </p:cNvPr>
          <p:cNvPicPr>
            <a:picLocks noChangeAspect="1"/>
          </p:cNvPicPr>
          <p:nvPr/>
        </p:nvPicPr>
        <p:blipFill>
          <a:blip r:embed="rId2"/>
          <a:stretch>
            <a:fillRect/>
          </a:stretch>
        </p:blipFill>
        <p:spPr>
          <a:xfrm>
            <a:off x="1187623" y="4342303"/>
            <a:ext cx="294803" cy="294803"/>
          </a:xfrm>
          <a:prstGeom prst="rect">
            <a:avLst/>
          </a:prstGeom>
        </p:spPr>
      </p:pic>
      <p:sp>
        <p:nvSpPr>
          <p:cNvPr id="15" name="Text 11"/>
          <p:cNvSpPr txBox="1"/>
          <p:nvPr/>
        </p:nvSpPr>
        <p:spPr>
          <a:xfrm>
            <a:off x="1783080" y="4315968"/>
            <a:ext cx="2194560" cy="411480"/>
          </a:xfrm>
          <a:prstGeom prst="rect">
            <a:avLst/>
          </a:prstGeom>
          <a:noFill/>
          <a:ln/>
        </p:spPr>
        <p:txBody>
          <a:bodyPr wrap="square" lIns="0" tIns="0" rIns="0" bIns="0" rtlCol="0" anchor="t"/>
          <a:lstStyle/>
          <a:p>
            <a:pPr indent="0" marL="0">
              <a:buNone/>
            </a:pPr>
            <a:r>
              <a:rPr lang="en-US" sz="2000" b="1" dirty="0">
                <a:solidFill>
                  <a:srgbClr val="17161B"/>
                </a:solidFill>
                <a:latin typeface="Arial" pitchFamily="34" charset="0"/>
                <a:ea typeface="Arial" pitchFamily="34" charset="-122"/>
                <a:cs typeface="Arial" pitchFamily="34" charset="-120"/>
              </a:rPr>
              <a:t>Empresa</a:t>
            </a:r>
            <a:endParaRPr lang="en-US" sz="2000" dirty="0"/>
          </a:p>
        </p:txBody>
      </p:sp>
      <p:sp>
        <p:nvSpPr>
          <p:cNvPr id="16" name="Text 12"/>
          <p:cNvSpPr txBox="1"/>
          <p:nvPr/>
        </p:nvSpPr>
        <p:spPr>
          <a:xfrm>
            <a:off x="1051560" y="4983480"/>
            <a:ext cx="2834640" cy="77724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Contratar sin experiencia es un riesgo.</a:t>
            </a:r>
            <a:endParaRPr lang="en-US" sz="1700" dirty="0"/>
          </a:p>
        </p:txBody>
      </p:sp>
      <p:sp>
        <p:nvSpPr>
          <p:cNvPr id="17" name="Shape 13"/>
          <p:cNvSpPr/>
          <p:nvPr/>
        </p:nvSpPr>
        <p:spPr>
          <a:xfrm>
            <a:off x="4361688" y="3931920"/>
            <a:ext cx="3429000" cy="2011680"/>
          </a:xfrm>
          <a:prstGeom prst="roundRect">
            <a:avLst>
              <a:gd name="adj" fmla="val 727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8" name="Shape 14"/>
          <p:cNvSpPr/>
          <p:nvPr/>
        </p:nvSpPr>
        <p:spPr>
          <a:xfrm>
            <a:off x="4681728" y="4206240"/>
            <a:ext cx="566928" cy="566928"/>
          </a:xfrm>
          <a:prstGeom prst="ellipse">
            <a:avLst/>
          </a:prstGeom>
          <a:solidFill>
            <a:srgbClr val="EFE9FA"/>
          </a:solidFill>
          <a:ln w="12700">
            <a:solidFill>
              <a:srgbClr val="EFE9FA"/>
            </a:solidFill>
            <a:prstDash val="solid"/>
          </a:ln>
        </p:spPr>
      </p:sp>
      <p:pic>
        <p:nvPicPr>
          <p:cNvPr id="19" name="Image 2" descr="preencoded.png">    </p:cNvPr>
          <p:cNvPicPr>
            <a:picLocks noChangeAspect="1"/>
          </p:cNvPicPr>
          <p:nvPr/>
        </p:nvPicPr>
        <p:blipFill>
          <a:blip r:embed="rId3"/>
          <a:stretch>
            <a:fillRect/>
          </a:stretch>
        </p:blipFill>
        <p:spPr>
          <a:xfrm>
            <a:off x="4817791" y="4342303"/>
            <a:ext cx="294803" cy="294803"/>
          </a:xfrm>
          <a:prstGeom prst="rect">
            <a:avLst/>
          </a:prstGeom>
        </p:spPr>
      </p:pic>
      <p:sp>
        <p:nvSpPr>
          <p:cNvPr id="20" name="Text 15"/>
          <p:cNvSpPr txBox="1"/>
          <p:nvPr/>
        </p:nvSpPr>
        <p:spPr>
          <a:xfrm>
            <a:off x="5413248" y="4315968"/>
            <a:ext cx="2194560" cy="411480"/>
          </a:xfrm>
          <a:prstGeom prst="rect">
            <a:avLst/>
          </a:prstGeom>
          <a:noFill/>
          <a:ln/>
        </p:spPr>
        <p:txBody>
          <a:bodyPr wrap="square" lIns="0" tIns="0" rIns="0" bIns="0" rtlCol="0" anchor="t"/>
          <a:lstStyle/>
          <a:p>
            <a:pPr indent="0" marL="0">
              <a:buNone/>
            </a:pPr>
            <a:r>
              <a:rPr lang="en-US" sz="2000" b="1" dirty="0">
                <a:solidFill>
                  <a:srgbClr val="17161B"/>
                </a:solidFill>
                <a:latin typeface="Arial" pitchFamily="34" charset="0"/>
                <a:ea typeface="Arial" pitchFamily="34" charset="-122"/>
                <a:cs typeface="Arial" pitchFamily="34" charset="-120"/>
              </a:rPr>
              <a:t>Estudiante</a:t>
            </a:r>
            <a:endParaRPr lang="en-US" sz="2000" dirty="0"/>
          </a:p>
        </p:txBody>
      </p:sp>
      <p:sp>
        <p:nvSpPr>
          <p:cNvPr id="21" name="Text 16"/>
          <p:cNvSpPr txBox="1"/>
          <p:nvPr/>
        </p:nvSpPr>
        <p:spPr>
          <a:xfrm>
            <a:off x="4681728" y="4983480"/>
            <a:ext cx="2834640" cy="77724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Nadie le da la primera oportunidad.</a:t>
            </a:r>
            <a:endParaRPr lang="en-US" sz="1700" dirty="0"/>
          </a:p>
        </p:txBody>
      </p:sp>
      <p:sp>
        <p:nvSpPr>
          <p:cNvPr id="22" name="Shape 17"/>
          <p:cNvSpPr/>
          <p:nvPr/>
        </p:nvSpPr>
        <p:spPr>
          <a:xfrm>
            <a:off x="7991856" y="3931920"/>
            <a:ext cx="3429000" cy="2011680"/>
          </a:xfrm>
          <a:prstGeom prst="roundRect">
            <a:avLst>
              <a:gd name="adj" fmla="val 7273"/>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3" name="Shape 18"/>
          <p:cNvSpPr/>
          <p:nvPr/>
        </p:nvSpPr>
        <p:spPr>
          <a:xfrm>
            <a:off x="8311896" y="4206240"/>
            <a:ext cx="566928" cy="566928"/>
          </a:xfrm>
          <a:prstGeom prst="ellipse">
            <a:avLst/>
          </a:prstGeom>
          <a:solidFill>
            <a:srgbClr val="EFE9FA"/>
          </a:solidFill>
          <a:ln w="12700">
            <a:solidFill>
              <a:srgbClr val="EFE9FA"/>
            </a:solidFill>
            <a:prstDash val="solid"/>
          </a:ln>
        </p:spPr>
      </p:sp>
      <p:pic>
        <p:nvPicPr>
          <p:cNvPr id="24" name="Image 3" descr="preencoded.png">    </p:cNvPr>
          <p:cNvPicPr>
            <a:picLocks noChangeAspect="1"/>
          </p:cNvPicPr>
          <p:nvPr/>
        </p:nvPicPr>
        <p:blipFill>
          <a:blip r:embed="rId4"/>
          <a:stretch>
            <a:fillRect/>
          </a:stretch>
        </p:blipFill>
        <p:spPr>
          <a:xfrm>
            <a:off x="8447959" y="4342303"/>
            <a:ext cx="294803" cy="294803"/>
          </a:xfrm>
          <a:prstGeom prst="rect">
            <a:avLst/>
          </a:prstGeom>
        </p:spPr>
      </p:pic>
      <p:sp>
        <p:nvSpPr>
          <p:cNvPr id="25" name="Text 19"/>
          <p:cNvSpPr txBox="1"/>
          <p:nvPr/>
        </p:nvSpPr>
        <p:spPr>
          <a:xfrm>
            <a:off x="9043416" y="4315968"/>
            <a:ext cx="2194560" cy="411480"/>
          </a:xfrm>
          <a:prstGeom prst="rect">
            <a:avLst/>
          </a:prstGeom>
          <a:noFill/>
          <a:ln/>
        </p:spPr>
        <p:txBody>
          <a:bodyPr wrap="square" lIns="0" tIns="0" rIns="0" bIns="0" rtlCol="0" anchor="t"/>
          <a:lstStyle/>
          <a:p>
            <a:pPr indent="0" marL="0">
              <a:buNone/>
            </a:pPr>
            <a:r>
              <a:rPr lang="en-US" sz="2000" b="1" dirty="0">
                <a:solidFill>
                  <a:srgbClr val="17161B"/>
                </a:solidFill>
                <a:latin typeface="Arial" pitchFamily="34" charset="0"/>
                <a:ea typeface="Arial" pitchFamily="34" charset="-122"/>
                <a:cs typeface="Arial" pitchFamily="34" charset="-120"/>
              </a:rPr>
              <a:t>Senior</a:t>
            </a:r>
            <a:endParaRPr lang="en-US" sz="2000" dirty="0"/>
          </a:p>
        </p:txBody>
      </p:sp>
      <p:sp>
        <p:nvSpPr>
          <p:cNvPr id="26" name="Text 20"/>
          <p:cNvSpPr txBox="1"/>
          <p:nvPr/>
        </p:nvSpPr>
        <p:spPr>
          <a:xfrm>
            <a:off x="8311896" y="4983480"/>
            <a:ext cx="2834640" cy="77724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Formar le quita tiempo que no tiene.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789920" cy="82296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El criterio del senior, convertido en un </a:t>
            </a:r>
            <a:pPr indent="0" marL="0">
              <a:buNone/>
            </a:pPr>
            <a:r>
              <a:rPr lang="en-US" sz="3800" b="1" dirty="0">
                <a:solidFill>
                  <a:srgbClr val="6E52B0"/>
                </a:solidFill>
                <a:latin typeface="Arial" pitchFamily="34" charset="0"/>
                <a:ea typeface="Arial" pitchFamily="34" charset="-122"/>
                <a:cs typeface="Arial" pitchFamily="34" charset="-120"/>
              </a:rPr>
              <a:t>agente.</a:t>
            </a:r>
            <a:endParaRPr lang="en-US" sz="3800" dirty="0"/>
          </a:p>
        </p:txBody>
      </p:sp>
      <p:sp>
        <p:nvSpPr>
          <p:cNvPr id="4" name="Shape 1"/>
          <p:cNvSpPr/>
          <p:nvPr/>
        </p:nvSpPr>
        <p:spPr>
          <a:xfrm>
            <a:off x="731520" y="2788920"/>
            <a:ext cx="2926080" cy="1737360"/>
          </a:xfrm>
          <a:prstGeom prst="roundRect">
            <a:avLst>
              <a:gd name="adj" fmla="val 8421"/>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5" name="Shape 2"/>
          <p:cNvSpPr/>
          <p:nvPr/>
        </p:nvSpPr>
        <p:spPr>
          <a:xfrm>
            <a:off x="1005840" y="3063240"/>
            <a:ext cx="566928" cy="566928"/>
          </a:xfrm>
          <a:prstGeom prst="ellipse">
            <a:avLst/>
          </a:prstGeom>
          <a:solidFill>
            <a:srgbClr val="EFE9FA"/>
          </a:solidFill>
          <a:ln w="12700">
            <a:solidFill>
              <a:srgbClr val="EFE9FA"/>
            </a:solidFill>
            <a:prstDash val="solid"/>
          </a:ln>
        </p:spPr>
      </p:sp>
      <p:pic>
        <p:nvPicPr>
          <p:cNvPr id="6" name="Image 1" descr="preencoded.png">    </p:cNvPr>
          <p:cNvPicPr>
            <a:picLocks noChangeAspect="1"/>
          </p:cNvPicPr>
          <p:nvPr/>
        </p:nvPicPr>
        <p:blipFill>
          <a:blip r:embed="rId2"/>
          <a:stretch>
            <a:fillRect/>
          </a:stretch>
        </p:blipFill>
        <p:spPr>
          <a:xfrm>
            <a:off x="1141903" y="3199303"/>
            <a:ext cx="294803" cy="294803"/>
          </a:xfrm>
          <a:prstGeom prst="rect">
            <a:avLst/>
          </a:prstGeom>
        </p:spPr>
      </p:pic>
      <p:sp>
        <p:nvSpPr>
          <p:cNvPr id="7" name="Text 3"/>
          <p:cNvSpPr txBox="1"/>
          <p:nvPr/>
        </p:nvSpPr>
        <p:spPr>
          <a:xfrm>
            <a:off x="1737360" y="3154680"/>
            <a:ext cx="1828800" cy="411480"/>
          </a:xfrm>
          <a:prstGeom prst="rect">
            <a:avLst/>
          </a:prstGeom>
          <a:noFill/>
          <a:ln/>
        </p:spPr>
        <p:txBody>
          <a:bodyPr wrap="square" lIns="0" tIns="0" rIns="0" bIns="0" rtlCol="0" anchor="t"/>
          <a:lstStyle/>
          <a:p>
            <a:pPr indent="0" marL="0">
              <a:buNone/>
            </a:pPr>
            <a:r>
              <a:rPr lang="en-US" sz="2200" b="1" dirty="0">
                <a:solidFill>
                  <a:srgbClr val="17161B"/>
                </a:solidFill>
                <a:latin typeface="Arial" pitchFamily="34" charset="0"/>
                <a:ea typeface="Arial" pitchFamily="34" charset="-122"/>
                <a:cs typeface="Arial" pitchFamily="34" charset="-120"/>
              </a:rPr>
              <a:t>Senior</a:t>
            </a:r>
            <a:endParaRPr lang="en-US" sz="2200" dirty="0"/>
          </a:p>
        </p:txBody>
      </p:sp>
      <p:sp>
        <p:nvSpPr>
          <p:cNvPr id="8" name="Text 4"/>
          <p:cNvSpPr txBox="1"/>
          <p:nvPr/>
        </p:nvSpPr>
        <p:spPr>
          <a:xfrm>
            <a:off x="1005840" y="3749040"/>
            <a:ext cx="2468880" cy="640080"/>
          </a:xfrm>
          <a:prstGeom prst="rect">
            <a:avLst/>
          </a:prstGeom>
          <a:noFill/>
          <a:ln/>
        </p:spPr>
        <p:txBody>
          <a:bodyPr wrap="square" lIns="0" tIns="0" rIns="0" bIns="0" rtlCol="0" anchor="t"/>
          <a:lstStyle/>
          <a:p>
            <a:pPr indent="0" marL="0">
              <a:buNone/>
            </a:pPr>
            <a:r>
              <a:rPr lang="en-US" sz="1600" dirty="0">
                <a:solidFill>
                  <a:srgbClr val="5F5B6B"/>
                </a:solidFill>
                <a:latin typeface="Arial" pitchFamily="34" charset="0"/>
                <a:ea typeface="Arial" pitchFamily="34" charset="-122"/>
                <a:cs typeface="Arial" pitchFamily="34" charset="-120"/>
              </a:rPr>
              <a:t>Carga el contexto una sola vez</a:t>
            </a:r>
            <a:endParaRPr lang="en-US" sz="1600" dirty="0"/>
          </a:p>
        </p:txBody>
      </p:sp>
      <p:sp>
        <p:nvSpPr>
          <p:cNvPr id="9" name="Shape 5"/>
          <p:cNvSpPr/>
          <p:nvPr/>
        </p:nvSpPr>
        <p:spPr>
          <a:xfrm>
            <a:off x="3794760" y="3657600"/>
            <a:ext cx="822960" cy="0"/>
          </a:xfrm>
          <a:prstGeom prst="line">
            <a:avLst/>
          </a:prstGeom>
          <a:noFill/>
          <a:ln w="31750">
            <a:solidFill>
              <a:srgbClr val="9B7FD6"/>
            </a:solidFill>
            <a:prstDash val="solid"/>
            <a:tailEnd type="triangle"/>
          </a:ln>
        </p:spPr>
      </p:sp>
      <p:pic>
        <p:nvPicPr>
          <p:cNvPr id="10" name="Image 2" descr="/tmp/claude-0/-home-claude/d13c7265-f088-5db4-933a-3af5cafd5191/scratchpad/deck/img/orb.png">    </p:cNvPr>
          <p:cNvPicPr>
            <a:picLocks noChangeAspect="1"/>
          </p:cNvPicPr>
          <p:nvPr/>
        </p:nvPicPr>
        <p:blipFill>
          <a:blip r:embed="rId3"/>
          <a:stretch>
            <a:fillRect/>
          </a:stretch>
        </p:blipFill>
        <p:spPr>
          <a:xfrm>
            <a:off x="4343400" y="2240280"/>
            <a:ext cx="2834640" cy="2834640"/>
          </a:xfrm>
          <a:prstGeom prst="rect">
            <a:avLst/>
          </a:prstGeom>
        </p:spPr>
      </p:pic>
      <p:sp>
        <p:nvSpPr>
          <p:cNvPr id="11" name="Text 6"/>
          <p:cNvSpPr txBox="1"/>
          <p:nvPr/>
        </p:nvSpPr>
        <p:spPr>
          <a:xfrm>
            <a:off x="4480560" y="4892040"/>
            <a:ext cx="256032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Agente de IA</a:t>
            </a:r>
            <a:endParaRPr lang="en-US" sz="1800" dirty="0"/>
          </a:p>
        </p:txBody>
      </p:sp>
      <p:sp>
        <p:nvSpPr>
          <p:cNvPr id="12" name="Shape 7"/>
          <p:cNvSpPr/>
          <p:nvPr/>
        </p:nvSpPr>
        <p:spPr>
          <a:xfrm flipV="1">
            <a:off x="6949440" y="2560320"/>
            <a:ext cx="914400" cy="822960"/>
          </a:xfrm>
          <a:prstGeom prst="line">
            <a:avLst/>
          </a:prstGeom>
          <a:noFill/>
          <a:ln w="31750">
            <a:solidFill>
              <a:srgbClr val="9B7FD6"/>
            </a:solidFill>
            <a:prstDash val="solid"/>
            <a:tailEnd type="triangle"/>
          </a:ln>
        </p:spPr>
      </p:sp>
      <p:sp>
        <p:nvSpPr>
          <p:cNvPr id="13" name="Shape 8"/>
          <p:cNvSpPr/>
          <p:nvPr/>
        </p:nvSpPr>
        <p:spPr>
          <a:xfrm>
            <a:off x="6949440" y="3931920"/>
            <a:ext cx="914400" cy="822960"/>
          </a:xfrm>
          <a:prstGeom prst="line">
            <a:avLst/>
          </a:prstGeom>
          <a:noFill/>
          <a:ln w="31750">
            <a:solidFill>
              <a:srgbClr val="9B7FD6"/>
            </a:solidFill>
            <a:prstDash val="solid"/>
            <a:tailEnd type="triangle"/>
          </a:ln>
        </p:spPr>
      </p:sp>
      <p:sp>
        <p:nvSpPr>
          <p:cNvPr id="14" name="Shape 9"/>
          <p:cNvSpPr/>
          <p:nvPr/>
        </p:nvSpPr>
        <p:spPr>
          <a:xfrm>
            <a:off x="8001000" y="1783080"/>
            <a:ext cx="3474720" cy="1554480"/>
          </a:xfrm>
          <a:prstGeom prst="roundRect">
            <a:avLst>
              <a:gd name="adj" fmla="val 94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5" name="Shape 10"/>
          <p:cNvSpPr/>
          <p:nvPr/>
        </p:nvSpPr>
        <p:spPr>
          <a:xfrm>
            <a:off x="8275320" y="2057400"/>
            <a:ext cx="566928" cy="566928"/>
          </a:xfrm>
          <a:prstGeom prst="ellipse">
            <a:avLst/>
          </a:prstGeom>
          <a:solidFill>
            <a:srgbClr val="EFE9FA"/>
          </a:solidFill>
          <a:ln w="12700">
            <a:solidFill>
              <a:srgbClr val="EFE9FA"/>
            </a:solidFill>
            <a:prstDash val="solid"/>
          </a:ln>
        </p:spPr>
      </p:sp>
      <p:pic>
        <p:nvPicPr>
          <p:cNvPr id="16" name="Image 3" descr="preencoded.png">    </p:cNvPr>
          <p:cNvPicPr>
            <a:picLocks noChangeAspect="1"/>
          </p:cNvPicPr>
          <p:nvPr/>
        </p:nvPicPr>
        <p:blipFill>
          <a:blip r:embed="rId4"/>
          <a:stretch>
            <a:fillRect/>
          </a:stretch>
        </p:blipFill>
        <p:spPr>
          <a:xfrm>
            <a:off x="8411383" y="2193463"/>
            <a:ext cx="294803" cy="294803"/>
          </a:xfrm>
          <a:prstGeom prst="rect">
            <a:avLst/>
          </a:prstGeom>
        </p:spPr>
      </p:pic>
      <p:sp>
        <p:nvSpPr>
          <p:cNvPr id="17" name="Text 11"/>
          <p:cNvSpPr txBox="1"/>
          <p:nvPr/>
        </p:nvSpPr>
        <p:spPr>
          <a:xfrm>
            <a:off x="9006840" y="2103120"/>
            <a:ext cx="23774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Antes de contratar</a:t>
            </a:r>
            <a:endParaRPr lang="en-US" sz="1800" dirty="0"/>
          </a:p>
        </p:txBody>
      </p:sp>
      <p:sp>
        <p:nvSpPr>
          <p:cNvPr id="18" name="Text 12"/>
          <p:cNvSpPr txBox="1"/>
          <p:nvPr/>
        </p:nvSpPr>
        <p:spPr>
          <a:xfrm>
            <a:off x="8275320" y="2697480"/>
            <a:ext cx="3108960" cy="457200"/>
          </a:xfrm>
          <a:prstGeom prst="rect">
            <a:avLst/>
          </a:prstGeom>
          <a:noFill/>
          <a:ln/>
        </p:spPr>
        <p:txBody>
          <a:bodyPr wrap="square" lIns="0" tIns="0" rIns="0" bIns="0" rtlCol="0" anchor="t"/>
          <a:lstStyle/>
          <a:p>
            <a:pPr indent="0" marL="0">
              <a:buNone/>
            </a:pPr>
            <a:r>
              <a:rPr lang="en-US" sz="1800" b="1" dirty="0">
                <a:solidFill>
                  <a:srgbClr val="17161B"/>
                </a:solidFill>
                <a:latin typeface="Arial" pitchFamily="34" charset="0"/>
                <a:ea typeface="Arial" pitchFamily="34" charset="-122"/>
                <a:cs typeface="Arial" pitchFamily="34" charset="-120"/>
              </a:rPr>
              <a:t>Simulación por voz + informe</a:t>
            </a:r>
            <a:endParaRPr lang="en-US" sz="1800" dirty="0"/>
          </a:p>
        </p:txBody>
      </p:sp>
      <p:sp>
        <p:nvSpPr>
          <p:cNvPr id="19" name="Shape 13"/>
          <p:cNvSpPr/>
          <p:nvPr/>
        </p:nvSpPr>
        <p:spPr>
          <a:xfrm>
            <a:off x="8001000" y="3977640"/>
            <a:ext cx="3474720" cy="1554480"/>
          </a:xfrm>
          <a:prstGeom prst="roundRect">
            <a:avLst>
              <a:gd name="adj" fmla="val 94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0" name="Shape 14"/>
          <p:cNvSpPr/>
          <p:nvPr/>
        </p:nvSpPr>
        <p:spPr>
          <a:xfrm>
            <a:off x="8275320" y="4251960"/>
            <a:ext cx="566928" cy="566928"/>
          </a:xfrm>
          <a:prstGeom prst="ellipse">
            <a:avLst/>
          </a:prstGeom>
          <a:solidFill>
            <a:srgbClr val="EFE9FA"/>
          </a:solidFill>
          <a:ln w="12700">
            <a:solidFill>
              <a:srgbClr val="EFE9FA"/>
            </a:solidFill>
            <a:prstDash val="solid"/>
          </a:ln>
        </p:spPr>
      </p:sp>
      <p:pic>
        <p:nvPicPr>
          <p:cNvPr id="21" name="Image 4" descr="preencoded.png">    </p:cNvPr>
          <p:cNvPicPr>
            <a:picLocks noChangeAspect="1"/>
          </p:cNvPicPr>
          <p:nvPr/>
        </p:nvPicPr>
        <p:blipFill>
          <a:blip r:embed="rId5"/>
          <a:stretch>
            <a:fillRect/>
          </a:stretch>
        </p:blipFill>
        <p:spPr>
          <a:xfrm>
            <a:off x="8411383" y="4388023"/>
            <a:ext cx="294803" cy="294803"/>
          </a:xfrm>
          <a:prstGeom prst="rect">
            <a:avLst/>
          </a:prstGeom>
        </p:spPr>
      </p:pic>
      <p:sp>
        <p:nvSpPr>
          <p:cNvPr id="22" name="Text 15"/>
          <p:cNvSpPr txBox="1"/>
          <p:nvPr/>
        </p:nvSpPr>
        <p:spPr>
          <a:xfrm>
            <a:off x="9006840" y="4297680"/>
            <a:ext cx="2377440" cy="411480"/>
          </a:xfrm>
          <a:prstGeom prst="rect">
            <a:avLst/>
          </a:prstGeom>
          <a:noFill/>
          <a:ln/>
        </p:spPr>
        <p:txBody>
          <a:bodyPr wrap="square" lIns="0" tIns="0" rIns="0" bIns="0" rtlCol="0" anchor="t"/>
          <a:lstStyle/>
          <a:p>
            <a:pPr indent="0" marL="0">
              <a:buNone/>
            </a:pPr>
            <a:r>
              <a:rPr lang="en-US" sz="1800" dirty="0">
                <a:solidFill>
                  <a:srgbClr val="5F5B6B"/>
                </a:solidFill>
                <a:latin typeface="Arial" pitchFamily="34" charset="0"/>
                <a:ea typeface="Arial" pitchFamily="34" charset="-122"/>
                <a:cs typeface="Arial" pitchFamily="34" charset="-120"/>
              </a:rPr>
              <a:t>Después de contratar</a:t>
            </a:r>
            <a:endParaRPr lang="en-US" sz="1800" dirty="0"/>
          </a:p>
        </p:txBody>
      </p:sp>
      <p:sp>
        <p:nvSpPr>
          <p:cNvPr id="23" name="Text 16"/>
          <p:cNvSpPr txBox="1"/>
          <p:nvPr/>
        </p:nvSpPr>
        <p:spPr>
          <a:xfrm>
            <a:off x="8275320" y="4892040"/>
            <a:ext cx="3108960" cy="457200"/>
          </a:xfrm>
          <a:prstGeom prst="rect">
            <a:avLst/>
          </a:prstGeom>
          <a:noFill/>
          <a:ln/>
        </p:spPr>
        <p:txBody>
          <a:bodyPr wrap="square" lIns="0" tIns="0" rIns="0" bIns="0" rtlCol="0" anchor="t"/>
          <a:lstStyle/>
          <a:p>
            <a:pPr indent="0" marL="0">
              <a:buNone/>
            </a:pPr>
            <a:r>
              <a:rPr lang="en-US" sz="1800" b="1" dirty="0">
                <a:solidFill>
                  <a:srgbClr val="17161B"/>
                </a:solidFill>
                <a:latin typeface="Arial" pitchFamily="34" charset="0"/>
                <a:ea typeface="Arial" pitchFamily="34" charset="-122"/>
                <a:cs typeface="Arial" pitchFamily="34" charset="-120"/>
              </a:rPr>
              <a:t>Mentor del equipo</a:t>
            </a:r>
            <a:endParaRPr lang="en-US" sz="1800" dirty="0"/>
          </a:p>
        </p:txBody>
      </p:sp>
      <p:sp>
        <p:nvSpPr>
          <p:cNvPr id="24" name="Shape 17"/>
          <p:cNvSpPr/>
          <p:nvPr/>
        </p:nvSpPr>
        <p:spPr>
          <a:xfrm>
            <a:off x="731520" y="5989320"/>
            <a:ext cx="2926080" cy="420624"/>
          </a:xfrm>
          <a:prstGeom prst="roundRect">
            <a:avLst>
              <a:gd name="adj" fmla="val 50000"/>
            </a:avLst>
          </a:prstGeom>
          <a:solidFill>
            <a:srgbClr val="DCD2F0"/>
          </a:solidFill>
          <a:ln w="12700">
            <a:solidFill>
              <a:srgbClr val="DCD2F0"/>
            </a:solidFill>
            <a:prstDash val="solid"/>
          </a:ln>
        </p:spPr>
      </p:sp>
      <p:sp>
        <p:nvSpPr>
          <p:cNvPr id="25" name="Text 18"/>
          <p:cNvSpPr txBox="1"/>
          <p:nvPr/>
        </p:nvSpPr>
        <p:spPr>
          <a:xfrm>
            <a:off x="731520" y="5989320"/>
            <a:ext cx="292608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CUALQUIER RUBRO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31520" y="914400"/>
            <a:ext cx="2834640" cy="420624"/>
          </a:xfrm>
          <a:prstGeom prst="roundRect">
            <a:avLst>
              <a:gd name="adj" fmla="val 50000"/>
            </a:avLst>
          </a:prstGeom>
          <a:solidFill>
            <a:srgbClr val="DCD2F0"/>
          </a:solidFill>
          <a:ln w="12700">
            <a:solidFill>
              <a:srgbClr val="DCD2F0"/>
            </a:solidFill>
            <a:prstDash val="solid"/>
          </a:ln>
        </p:spPr>
      </p:sp>
      <p:sp>
        <p:nvSpPr>
          <p:cNvPr id="4" name="Text 1"/>
          <p:cNvSpPr txBox="1"/>
          <p:nvPr/>
        </p:nvSpPr>
        <p:spPr>
          <a:xfrm>
            <a:off x="731520" y="914400"/>
            <a:ext cx="283464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EL ESTUDIANTE</a:t>
            </a:r>
            <a:endParaRPr lang="en-US" sz="1300" dirty="0"/>
          </a:p>
        </p:txBody>
      </p:sp>
      <p:sp>
        <p:nvSpPr>
          <p:cNvPr id="5" name="Text 2"/>
          <p:cNvSpPr txBox="1"/>
          <p:nvPr/>
        </p:nvSpPr>
        <p:spPr>
          <a:xfrm>
            <a:off x="731520" y="1600200"/>
            <a:ext cx="4480560" cy="1737360"/>
          </a:xfrm>
          <a:prstGeom prst="rect">
            <a:avLst/>
          </a:prstGeom>
          <a:noFill/>
          <a:ln/>
        </p:spPr>
        <p:txBody>
          <a:bodyPr wrap="square" lIns="0" tIns="0" rIns="0" bIns="0" rtlCol="0" anchor="t"/>
          <a:lstStyle/>
          <a:p>
            <a:pPr indent="0" marL="0">
              <a:buNone/>
            </a:pPr>
            <a:r>
              <a:rPr lang="en-US" sz="4000" b="1" dirty="0">
                <a:solidFill>
                  <a:srgbClr val="17161B"/>
                </a:solidFill>
                <a:latin typeface="Arial" pitchFamily="34" charset="0"/>
                <a:ea typeface="Arial" pitchFamily="34" charset="-122"/>
                <a:cs typeface="Arial" pitchFamily="34" charset="-120"/>
              </a:rPr>
              <a:t>Las habilidades </a:t>
            </a:r>
            <a:pPr indent="0" marL="0">
              <a:buNone/>
            </a:pPr>
            <a:r>
              <a:rPr lang="en-US" sz="4000" b="1" dirty="0">
                <a:solidFill>
                  <a:srgbClr val="6E52B0"/>
                </a:solidFill>
                <a:latin typeface="Arial" pitchFamily="34" charset="0"/>
                <a:ea typeface="Arial" pitchFamily="34" charset="-122"/>
                <a:cs typeface="Arial" pitchFamily="34" charset="-120"/>
              </a:rPr>
              <a:t>blandas</a:t>
            </a:r>
            <a:pPr indent="0" marL="0">
              <a:buNone/>
            </a:pPr>
            <a:r>
              <a:rPr lang="en-US" sz="4000" b="1" dirty="0">
                <a:solidFill>
                  <a:srgbClr val="17161B"/>
                </a:solidFill>
                <a:latin typeface="Arial" pitchFamily="34" charset="0"/>
                <a:ea typeface="Arial" pitchFamily="34" charset="-122"/>
                <a:cs typeface="Arial" pitchFamily="34" charset="-120"/>
              </a:rPr>
              <a:t> se miden.</a:t>
            </a:r>
            <a:endParaRPr lang="en-US" sz="4000" dirty="0"/>
          </a:p>
        </p:txBody>
      </p:sp>
      <p:sp>
        <p:nvSpPr>
          <p:cNvPr id="6" name="Shape 3"/>
          <p:cNvSpPr/>
          <p:nvPr/>
        </p:nvSpPr>
        <p:spPr>
          <a:xfrm>
            <a:off x="731520" y="3703320"/>
            <a:ext cx="457200" cy="457200"/>
          </a:xfrm>
          <a:prstGeom prst="ellipse">
            <a:avLst/>
          </a:prstGeom>
          <a:solidFill>
            <a:srgbClr val="6E52B0"/>
          </a:solidFill>
          <a:ln w="12700">
            <a:solidFill>
              <a:srgbClr val="6E52B0"/>
            </a:solidFill>
            <a:prstDash val="solid"/>
          </a:ln>
        </p:spPr>
      </p:sp>
      <p:sp>
        <p:nvSpPr>
          <p:cNvPr id="7" name="Text 4"/>
          <p:cNvSpPr txBox="1"/>
          <p:nvPr/>
        </p:nvSpPr>
        <p:spPr>
          <a:xfrm>
            <a:off x="731520" y="3703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5"/>
          <p:cNvSpPr txBox="1"/>
          <p:nvPr/>
        </p:nvSpPr>
        <p:spPr>
          <a:xfrm>
            <a:off x="1371600" y="3685032"/>
            <a:ext cx="393192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Elegí una situación real</a:t>
            </a:r>
            <a:endParaRPr lang="en-US" sz="1900" dirty="0"/>
          </a:p>
        </p:txBody>
      </p:sp>
      <p:sp>
        <p:nvSpPr>
          <p:cNvPr id="9" name="Shape 6"/>
          <p:cNvSpPr/>
          <p:nvPr/>
        </p:nvSpPr>
        <p:spPr>
          <a:xfrm>
            <a:off x="731520" y="4480560"/>
            <a:ext cx="457200" cy="457200"/>
          </a:xfrm>
          <a:prstGeom prst="ellipse">
            <a:avLst/>
          </a:prstGeom>
          <a:solidFill>
            <a:srgbClr val="6E52B0"/>
          </a:solidFill>
          <a:ln w="12700">
            <a:solidFill>
              <a:srgbClr val="6E52B0"/>
            </a:solidFill>
            <a:prstDash val="solid"/>
          </a:ln>
        </p:spPr>
      </p:sp>
      <p:sp>
        <p:nvSpPr>
          <p:cNvPr id="10" name="Text 7"/>
          <p:cNvSpPr txBox="1"/>
          <p:nvPr/>
        </p:nvSpPr>
        <p:spPr>
          <a:xfrm>
            <a:off x="731520" y="4480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8"/>
          <p:cNvSpPr txBox="1"/>
          <p:nvPr/>
        </p:nvSpPr>
        <p:spPr>
          <a:xfrm>
            <a:off x="1371600" y="4462272"/>
            <a:ext cx="393192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Hablá por voz con un cliente simulado</a:t>
            </a:r>
            <a:endParaRPr lang="en-US" sz="1900" dirty="0"/>
          </a:p>
        </p:txBody>
      </p:sp>
      <p:sp>
        <p:nvSpPr>
          <p:cNvPr id="12" name="Shape 9"/>
          <p:cNvSpPr/>
          <p:nvPr/>
        </p:nvSpPr>
        <p:spPr>
          <a:xfrm>
            <a:off x="731520" y="5257800"/>
            <a:ext cx="457200" cy="457200"/>
          </a:xfrm>
          <a:prstGeom prst="ellipse">
            <a:avLst/>
          </a:prstGeom>
          <a:solidFill>
            <a:srgbClr val="6E52B0"/>
          </a:solidFill>
          <a:ln w="12700">
            <a:solidFill>
              <a:srgbClr val="6E52B0"/>
            </a:solidFill>
            <a:prstDash val="solid"/>
          </a:ln>
        </p:spPr>
      </p:sp>
      <p:sp>
        <p:nvSpPr>
          <p:cNvPr id="13" name="Text 10"/>
          <p:cNvSpPr txBox="1"/>
          <p:nvPr/>
        </p:nvSpPr>
        <p:spPr>
          <a:xfrm>
            <a:off x="731520" y="5257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1"/>
          <p:cNvSpPr txBox="1"/>
          <p:nvPr/>
        </p:nvSpPr>
        <p:spPr>
          <a:xfrm>
            <a:off x="1371600" y="5239512"/>
            <a:ext cx="393192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Recibí tu informe</a:t>
            </a:r>
            <a:endParaRPr lang="en-US" sz="1900" dirty="0"/>
          </a:p>
        </p:txBody>
      </p:sp>
      <p:sp>
        <p:nvSpPr>
          <p:cNvPr id="15" name="Shape 12"/>
          <p:cNvSpPr/>
          <p:nvPr/>
        </p:nvSpPr>
        <p:spPr>
          <a:xfrm>
            <a:off x="5541264" y="1289304"/>
            <a:ext cx="6062472" cy="3932599"/>
          </a:xfrm>
          <a:prstGeom prst="roundRect">
            <a:avLst>
              <a:gd name="adj" fmla="val 4650"/>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16" name="Image 1" descr="/tmp/claude-0/-home-claude/d13c7265-f088-5db4-933a-3af5cafd5191/scratchpad/deck/img/llamada.png">    </p:cNvPr>
          <p:cNvPicPr>
            <a:picLocks noChangeAspect="1"/>
          </p:cNvPicPr>
          <p:nvPr/>
        </p:nvPicPr>
        <p:blipFill>
          <a:blip r:embed="rId2"/>
          <a:stretch>
            <a:fillRect/>
          </a:stretch>
        </p:blipFill>
        <p:spPr>
          <a:xfrm>
            <a:off x="5669280" y="1417320"/>
            <a:ext cx="5806440" cy="36765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3504" y="1289304"/>
            <a:ext cx="6062472" cy="3924147"/>
          </a:xfrm>
          <a:prstGeom prst="roundRect">
            <a:avLst>
              <a:gd name="adj" fmla="val 4660"/>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4" name="Image 1" descr="/tmp/claude-0/-home-claude/d13c7265-f088-5db4-933a-3af5cafd5191/scratchpad/deck/img/informe.png">    </p:cNvPr>
          <p:cNvPicPr>
            <a:picLocks noChangeAspect="1"/>
          </p:cNvPicPr>
          <p:nvPr/>
        </p:nvPicPr>
        <p:blipFill>
          <a:blip r:embed="rId2"/>
          <a:stretch>
            <a:fillRect/>
          </a:stretch>
        </p:blipFill>
        <p:spPr>
          <a:xfrm>
            <a:off x="731520" y="1417320"/>
            <a:ext cx="5806440" cy="3668115"/>
          </a:xfrm>
          <a:prstGeom prst="rect">
            <a:avLst/>
          </a:prstGeom>
        </p:spPr>
      </p:pic>
      <p:sp>
        <p:nvSpPr>
          <p:cNvPr id="5" name="Shape 1"/>
          <p:cNvSpPr/>
          <p:nvPr/>
        </p:nvSpPr>
        <p:spPr>
          <a:xfrm>
            <a:off x="7086600" y="914400"/>
            <a:ext cx="2560320" cy="420624"/>
          </a:xfrm>
          <a:prstGeom prst="roundRect">
            <a:avLst>
              <a:gd name="adj" fmla="val 50000"/>
            </a:avLst>
          </a:prstGeom>
          <a:solidFill>
            <a:srgbClr val="DCD2F0"/>
          </a:solidFill>
          <a:ln w="12700">
            <a:solidFill>
              <a:srgbClr val="DCD2F0"/>
            </a:solidFill>
            <a:prstDash val="solid"/>
          </a:ln>
        </p:spPr>
      </p:sp>
      <p:sp>
        <p:nvSpPr>
          <p:cNvPr id="6" name="Text 2"/>
          <p:cNvSpPr txBox="1"/>
          <p:nvPr/>
        </p:nvSpPr>
        <p:spPr>
          <a:xfrm>
            <a:off x="7086600" y="914400"/>
            <a:ext cx="256032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LA EMPRESA</a:t>
            </a:r>
            <a:endParaRPr lang="en-US" sz="1300" dirty="0"/>
          </a:p>
        </p:txBody>
      </p:sp>
      <p:sp>
        <p:nvSpPr>
          <p:cNvPr id="7" name="Text 3"/>
          <p:cNvSpPr txBox="1"/>
          <p:nvPr/>
        </p:nvSpPr>
        <p:spPr>
          <a:xfrm>
            <a:off x="7086600" y="1600200"/>
            <a:ext cx="4480560" cy="1371600"/>
          </a:xfrm>
          <a:prstGeom prst="rect">
            <a:avLst/>
          </a:prstGeom>
          <a:noFill/>
          <a:ln/>
        </p:spPr>
        <p:txBody>
          <a:bodyPr wrap="square" lIns="0" tIns="0" rIns="0" bIns="0" rtlCol="0" anchor="t"/>
          <a:lstStyle/>
          <a:p>
            <a:pPr indent="0" marL="0">
              <a:buNone/>
            </a:pPr>
            <a:r>
              <a:rPr lang="en-US" sz="4000" b="1" dirty="0">
                <a:solidFill>
                  <a:srgbClr val="17161B"/>
                </a:solidFill>
                <a:latin typeface="Arial" pitchFamily="34" charset="0"/>
                <a:ea typeface="Arial" pitchFamily="34" charset="-122"/>
                <a:cs typeface="Arial" pitchFamily="34" charset="-120"/>
              </a:rPr>
              <a:t>Evidencia, </a:t>
            </a:r>
            <a:pPr indent="0" marL="0">
              <a:buNone/>
            </a:pPr>
            <a:r>
              <a:rPr lang="en-US" sz="4000" b="1" dirty="0">
                <a:solidFill>
                  <a:srgbClr val="6E52B0"/>
                </a:solidFill>
                <a:latin typeface="Arial" pitchFamily="34" charset="0"/>
                <a:ea typeface="Arial" pitchFamily="34" charset="-122"/>
                <a:cs typeface="Arial" pitchFamily="34" charset="-120"/>
              </a:rPr>
              <a:t>no intuición.</a:t>
            </a:r>
            <a:endParaRPr lang="en-US" sz="4000" dirty="0"/>
          </a:p>
        </p:txBody>
      </p:sp>
      <p:sp>
        <p:nvSpPr>
          <p:cNvPr id="8" name="Shape 4"/>
          <p:cNvSpPr/>
          <p:nvPr/>
        </p:nvSpPr>
        <p:spPr>
          <a:xfrm>
            <a:off x="7086600" y="3246120"/>
            <a:ext cx="502920" cy="502920"/>
          </a:xfrm>
          <a:prstGeom prst="ellipse">
            <a:avLst/>
          </a:prstGeom>
          <a:solidFill>
            <a:srgbClr val="EFE9FA"/>
          </a:solidFill>
          <a:ln w="12700">
            <a:solidFill>
              <a:srgbClr val="EFE9FA"/>
            </a:solidFill>
            <a:prstDash val="solid"/>
          </a:ln>
        </p:spPr>
      </p:sp>
      <p:pic>
        <p:nvPicPr>
          <p:cNvPr id="9" name="Image 2" descr="preencoded.png">    </p:cNvPr>
          <p:cNvPicPr>
            <a:picLocks noChangeAspect="1"/>
          </p:cNvPicPr>
          <p:nvPr/>
        </p:nvPicPr>
        <p:blipFill>
          <a:blip r:embed="rId3"/>
          <a:stretch>
            <a:fillRect/>
          </a:stretch>
        </p:blipFill>
        <p:spPr>
          <a:xfrm>
            <a:off x="7207301" y="3366821"/>
            <a:ext cx="261518" cy="261518"/>
          </a:xfrm>
          <a:prstGeom prst="rect">
            <a:avLst/>
          </a:prstGeom>
        </p:spPr>
      </p:pic>
      <p:sp>
        <p:nvSpPr>
          <p:cNvPr id="10" name="Text 5"/>
          <p:cNvSpPr txBox="1"/>
          <p:nvPr/>
        </p:nvSpPr>
        <p:spPr>
          <a:xfrm>
            <a:off x="7772400" y="3246120"/>
            <a:ext cx="384048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Puntaje por criterio de la empresa</a:t>
            </a:r>
            <a:endParaRPr lang="en-US" sz="1900" dirty="0"/>
          </a:p>
        </p:txBody>
      </p:sp>
      <p:sp>
        <p:nvSpPr>
          <p:cNvPr id="11" name="Shape 6"/>
          <p:cNvSpPr/>
          <p:nvPr/>
        </p:nvSpPr>
        <p:spPr>
          <a:xfrm>
            <a:off x="7086600" y="3931920"/>
            <a:ext cx="502920" cy="502920"/>
          </a:xfrm>
          <a:prstGeom prst="ellipse">
            <a:avLst/>
          </a:prstGeom>
          <a:solidFill>
            <a:srgbClr val="EFE9FA"/>
          </a:solidFill>
          <a:ln w="12700">
            <a:solidFill>
              <a:srgbClr val="EFE9FA"/>
            </a:solidFill>
            <a:prstDash val="solid"/>
          </a:ln>
        </p:spPr>
      </p:sp>
      <p:pic>
        <p:nvPicPr>
          <p:cNvPr id="12" name="Image 3" descr="preencoded.png">    </p:cNvPr>
          <p:cNvPicPr>
            <a:picLocks noChangeAspect="1"/>
          </p:cNvPicPr>
          <p:nvPr/>
        </p:nvPicPr>
        <p:blipFill>
          <a:blip r:embed="rId4"/>
          <a:stretch>
            <a:fillRect/>
          </a:stretch>
        </p:blipFill>
        <p:spPr>
          <a:xfrm>
            <a:off x="7207301" y="4052621"/>
            <a:ext cx="261518" cy="261518"/>
          </a:xfrm>
          <a:prstGeom prst="rect">
            <a:avLst/>
          </a:prstGeom>
        </p:spPr>
      </p:pic>
      <p:sp>
        <p:nvSpPr>
          <p:cNvPr id="13" name="Text 7"/>
          <p:cNvSpPr txBox="1"/>
          <p:nvPr/>
        </p:nvSpPr>
        <p:spPr>
          <a:xfrm>
            <a:off x="7772400" y="3931920"/>
            <a:ext cx="384048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Cita textual como prueba</a:t>
            </a:r>
            <a:endParaRPr lang="en-US" sz="1900" dirty="0"/>
          </a:p>
        </p:txBody>
      </p:sp>
      <p:sp>
        <p:nvSpPr>
          <p:cNvPr id="14" name="Shape 8"/>
          <p:cNvSpPr/>
          <p:nvPr/>
        </p:nvSpPr>
        <p:spPr>
          <a:xfrm>
            <a:off x="7086600" y="4617720"/>
            <a:ext cx="502920" cy="502920"/>
          </a:xfrm>
          <a:prstGeom prst="ellipse">
            <a:avLst/>
          </a:prstGeom>
          <a:solidFill>
            <a:srgbClr val="EFE9FA"/>
          </a:solidFill>
          <a:ln w="12700">
            <a:solidFill>
              <a:srgbClr val="EFE9FA"/>
            </a:solidFill>
            <a:prstDash val="solid"/>
          </a:ln>
        </p:spPr>
      </p:sp>
      <p:pic>
        <p:nvPicPr>
          <p:cNvPr id="15" name="Image 4" descr="preencoded.png">    </p:cNvPr>
          <p:cNvPicPr>
            <a:picLocks noChangeAspect="1"/>
          </p:cNvPicPr>
          <p:nvPr/>
        </p:nvPicPr>
        <p:blipFill>
          <a:blip r:embed="rId5"/>
          <a:stretch>
            <a:fillRect/>
          </a:stretch>
        </p:blipFill>
        <p:spPr>
          <a:xfrm>
            <a:off x="7207301" y="4738421"/>
            <a:ext cx="261518" cy="261518"/>
          </a:xfrm>
          <a:prstGeom prst="rect">
            <a:avLst/>
          </a:prstGeom>
        </p:spPr>
      </p:pic>
      <p:sp>
        <p:nvSpPr>
          <p:cNvPr id="16" name="Text 9"/>
          <p:cNvSpPr txBox="1"/>
          <p:nvPr/>
        </p:nvSpPr>
        <p:spPr>
          <a:xfrm>
            <a:off x="7772400" y="4617720"/>
            <a:ext cx="3840480" cy="502920"/>
          </a:xfrm>
          <a:prstGeom prst="rect">
            <a:avLst/>
          </a:prstGeom>
          <a:noFill/>
          <a:ln/>
        </p:spPr>
        <p:txBody>
          <a:bodyPr wrap="square" lIns="0" tIns="0" rIns="0" bIns="0" rtlCol="0" anchor="ctr"/>
          <a:lstStyle/>
          <a:p>
            <a:pPr indent="0" marL="0">
              <a:buNone/>
            </a:pPr>
            <a:r>
              <a:rPr lang="en-US" sz="1900" dirty="0">
                <a:solidFill>
                  <a:srgbClr val="17161B"/>
                </a:solidFill>
                <a:latin typeface="Arial" pitchFamily="34" charset="0"/>
                <a:ea typeface="Arial" pitchFamily="34" charset="-122"/>
                <a:cs typeface="Arial" pitchFamily="34" charset="-120"/>
              </a:rPr>
              <a:t>Fortalezas y qué mejorar</a:t>
            </a:r>
            <a:endParaRPr lang="en-US" sz="1900" dirty="0"/>
          </a:p>
        </p:txBody>
      </p:sp>
      <p:sp>
        <p:nvSpPr>
          <p:cNvPr id="17" name="Shape 10"/>
          <p:cNvSpPr/>
          <p:nvPr/>
        </p:nvSpPr>
        <p:spPr>
          <a:xfrm>
            <a:off x="7086600" y="5440680"/>
            <a:ext cx="4389120" cy="731520"/>
          </a:xfrm>
          <a:prstGeom prst="roundRect">
            <a:avLst>
              <a:gd name="adj" fmla="val 20000"/>
            </a:avLst>
          </a:prstGeom>
          <a:solidFill>
            <a:srgbClr val="6E52B0"/>
          </a:solidFill>
          <a:ln w="12700">
            <a:solidFill>
              <a:srgbClr val="6E52B0"/>
            </a:solidFill>
            <a:prstDash val="solid"/>
          </a:ln>
        </p:spPr>
      </p:sp>
      <p:sp>
        <p:nvSpPr>
          <p:cNvPr id="18" name="Text 11"/>
          <p:cNvSpPr txBox="1"/>
          <p:nvPr/>
        </p:nvSpPr>
        <p:spPr>
          <a:xfrm>
            <a:off x="7086600" y="5440680"/>
            <a:ext cx="43891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El informe no decide. Decide una persona.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31520" y="914400"/>
            <a:ext cx="2377440" cy="420624"/>
          </a:xfrm>
          <a:prstGeom prst="roundRect">
            <a:avLst>
              <a:gd name="adj" fmla="val 50000"/>
            </a:avLst>
          </a:prstGeom>
          <a:solidFill>
            <a:srgbClr val="DCD2F0"/>
          </a:solidFill>
          <a:ln w="12700">
            <a:solidFill>
              <a:srgbClr val="DCD2F0"/>
            </a:solidFill>
            <a:prstDash val="solid"/>
          </a:ln>
        </p:spPr>
      </p:sp>
      <p:sp>
        <p:nvSpPr>
          <p:cNvPr id="4" name="Text 1"/>
          <p:cNvSpPr txBox="1"/>
          <p:nvPr/>
        </p:nvSpPr>
        <p:spPr>
          <a:xfrm>
            <a:off x="731520" y="914400"/>
            <a:ext cx="237744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EL JUNIOR</a:t>
            </a:r>
            <a:endParaRPr lang="en-US" sz="1300" dirty="0"/>
          </a:p>
        </p:txBody>
      </p:sp>
      <p:sp>
        <p:nvSpPr>
          <p:cNvPr id="5" name="Text 2"/>
          <p:cNvSpPr txBox="1"/>
          <p:nvPr/>
        </p:nvSpPr>
        <p:spPr>
          <a:xfrm>
            <a:off x="731520" y="1600200"/>
            <a:ext cx="4572000" cy="173736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Un mentor que explica el cómo y el </a:t>
            </a:r>
            <a:pPr indent="0" marL="0">
              <a:buNone/>
            </a:pPr>
            <a:r>
              <a:rPr lang="en-US" sz="3800" b="1" dirty="0">
                <a:solidFill>
                  <a:srgbClr val="6E52B0"/>
                </a:solidFill>
                <a:latin typeface="Arial" pitchFamily="34" charset="0"/>
                <a:ea typeface="Arial" pitchFamily="34" charset="-122"/>
                <a:cs typeface="Arial" pitchFamily="34" charset="-120"/>
              </a:rPr>
              <a:t>porqué.</a:t>
            </a:r>
            <a:endParaRPr lang="en-US" sz="3800" dirty="0"/>
          </a:p>
        </p:txBody>
      </p:sp>
      <p:sp>
        <p:nvSpPr>
          <p:cNvPr id="6" name="Shape 3"/>
          <p:cNvSpPr/>
          <p:nvPr/>
        </p:nvSpPr>
        <p:spPr>
          <a:xfrm>
            <a:off x="731520" y="3611880"/>
            <a:ext cx="2194560" cy="475488"/>
          </a:xfrm>
          <a:prstGeom prst="roundRect">
            <a:avLst>
              <a:gd name="adj" fmla="val 23077"/>
            </a:avLst>
          </a:prstGeom>
          <a:solidFill>
            <a:srgbClr val="EAF1FA"/>
          </a:solidFill>
          <a:ln w="12700">
            <a:solidFill>
              <a:srgbClr val="EAF1FA"/>
            </a:solidFill>
            <a:prstDash val="solid"/>
          </a:ln>
        </p:spPr>
      </p:sp>
      <p:sp>
        <p:nvSpPr>
          <p:cNvPr id="7" name="Text 4"/>
          <p:cNvSpPr txBox="1"/>
          <p:nvPr/>
        </p:nvSpPr>
        <p:spPr>
          <a:xfrm>
            <a:off x="731520" y="3611880"/>
            <a:ext cx="2194560" cy="475488"/>
          </a:xfrm>
          <a:prstGeom prst="rect">
            <a:avLst/>
          </a:prstGeom>
          <a:noFill/>
          <a:ln/>
        </p:spPr>
        <p:txBody>
          <a:bodyPr wrap="square" lIns="0" tIns="0" rIns="0" bIns="0" rtlCol="0" anchor="ctr"/>
          <a:lstStyle/>
          <a:p>
            <a:pPr algn="ctr" indent="0" marL="0">
              <a:buNone/>
            </a:pPr>
            <a:r>
              <a:rPr lang="en-US" sz="1500" b="1" dirty="0">
                <a:solidFill>
                  <a:srgbClr val="3F6FB5"/>
                </a:solidFill>
                <a:latin typeface="Arial" pitchFamily="34" charset="0"/>
                <a:ea typeface="Arial" pitchFamily="34" charset="-122"/>
                <a:cs typeface="Arial" pitchFamily="34" charset="-120"/>
              </a:rPr>
              <a:t>Cómo se hace</a:t>
            </a:r>
            <a:endParaRPr lang="en-US" sz="1500" dirty="0"/>
          </a:p>
        </p:txBody>
      </p:sp>
      <p:sp>
        <p:nvSpPr>
          <p:cNvPr id="8" name="Shape 5"/>
          <p:cNvSpPr/>
          <p:nvPr/>
        </p:nvSpPr>
        <p:spPr>
          <a:xfrm>
            <a:off x="3063240" y="3611880"/>
            <a:ext cx="2194560" cy="475488"/>
          </a:xfrm>
          <a:prstGeom prst="roundRect">
            <a:avLst>
              <a:gd name="adj" fmla="val 23077"/>
            </a:avLst>
          </a:prstGeom>
          <a:solidFill>
            <a:srgbClr val="E7F5EE"/>
          </a:solidFill>
          <a:ln w="12700">
            <a:solidFill>
              <a:srgbClr val="E7F5EE"/>
            </a:solidFill>
            <a:prstDash val="solid"/>
          </a:ln>
        </p:spPr>
      </p:sp>
      <p:sp>
        <p:nvSpPr>
          <p:cNvPr id="9" name="Text 6"/>
          <p:cNvSpPr txBox="1"/>
          <p:nvPr/>
        </p:nvSpPr>
        <p:spPr>
          <a:xfrm>
            <a:off x="3063240" y="3611880"/>
            <a:ext cx="2194560" cy="475488"/>
          </a:xfrm>
          <a:prstGeom prst="rect">
            <a:avLst/>
          </a:prstGeom>
          <a:noFill/>
          <a:ln/>
        </p:spPr>
        <p:txBody>
          <a:bodyPr wrap="square" lIns="0" tIns="0" rIns="0" bIns="0" rtlCol="0" anchor="ctr"/>
          <a:lstStyle/>
          <a:p>
            <a:pPr algn="ctr" indent="0" marL="0">
              <a:buNone/>
            </a:pPr>
            <a:r>
              <a:rPr lang="en-US" sz="1500" b="1" dirty="0">
                <a:solidFill>
                  <a:srgbClr val="2F7A52"/>
                </a:solidFill>
                <a:latin typeface="Arial" pitchFamily="34" charset="0"/>
                <a:ea typeface="Arial" pitchFamily="34" charset="-122"/>
                <a:cs typeface="Arial" pitchFamily="34" charset="-120"/>
              </a:rPr>
              <a:t>Por qué importa</a:t>
            </a:r>
            <a:endParaRPr lang="en-US" sz="1500" dirty="0"/>
          </a:p>
        </p:txBody>
      </p:sp>
      <p:sp>
        <p:nvSpPr>
          <p:cNvPr id="10" name="Shape 7"/>
          <p:cNvSpPr/>
          <p:nvPr/>
        </p:nvSpPr>
        <p:spPr>
          <a:xfrm>
            <a:off x="731520" y="4251960"/>
            <a:ext cx="2194560" cy="475488"/>
          </a:xfrm>
          <a:prstGeom prst="roundRect">
            <a:avLst>
              <a:gd name="adj" fmla="val 23077"/>
            </a:avLst>
          </a:prstGeom>
          <a:solidFill>
            <a:srgbClr val="F1ECFB"/>
          </a:solidFill>
          <a:ln w="12700">
            <a:solidFill>
              <a:srgbClr val="F1ECFB"/>
            </a:solidFill>
            <a:prstDash val="solid"/>
          </a:ln>
        </p:spPr>
      </p:sp>
      <p:sp>
        <p:nvSpPr>
          <p:cNvPr id="11" name="Text 8"/>
          <p:cNvSpPr txBox="1"/>
          <p:nvPr/>
        </p:nvSpPr>
        <p:spPr>
          <a:xfrm>
            <a:off x="731520" y="4251960"/>
            <a:ext cx="2194560" cy="475488"/>
          </a:xfrm>
          <a:prstGeom prst="rect">
            <a:avLst/>
          </a:prstGeom>
          <a:noFill/>
          <a:ln/>
        </p:spPr>
        <p:txBody>
          <a:bodyPr wrap="square" lIns="0" tIns="0" rIns="0" bIns="0" rtlCol="0" anchor="ctr"/>
          <a:lstStyle/>
          <a:p>
            <a:pPr algn="ctr" indent="0" marL="0">
              <a:buNone/>
            </a:pPr>
            <a:r>
              <a:rPr lang="en-US" sz="1500" b="1" dirty="0">
                <a:solidFill>
                  <a:srgbClr val="6E52B0"/>
                </a:solidFill>
                <a:latin typeface="Arial" pitchFamily="34" charset="0"/>
                <a:ea typeface="Arial" pitchFamily="34" charset="-122"/>
                <a:cs typeface="Arial" pitchFamily="34" charset="-120"/>
              </a:rPr>
              <a:t>Cómo lo hacemos acá</a:t>
            </a:r>
            <a:endParaRPr lang="en-US" sz="1500" dirty="0"/>
          </a:p>
        </p:txBody>
      </p:sp>
      <p:sp>
        <p:nvSpPr>
          <p:cNvPr id="12" name="Shape 9"/>
          <p:cNvSpPr/>
          <p:nvPr/>
        </p:nvSpPr>
        <p:spPr>
          <a:xfrm>
            <a:off x="3063240" y="4251960"/>
            <a:ext cx="2194560" cy="475488"/>
          </a:xfrm>
          <a:prstGeom prst="roundRect">
            <a:avLst>
              <a:gd name="adj" fmla="val 23077"/>
            </a:avLst>
          </a:prstGeom>
          <a:solidFill>
            <a:srgbClr val="FCF1E2"/>
          </a:solidFill>
          <a:ln w="12700">
            <a:solidFill>
              <a:srgbClr val="FCF1E2"/>
            </a:solidFill>
            <a:prstDash val="solid"/>
          </a:ln>
        </p:spPr>
      </p:sp>
      <p:sp>
        <p:nvSpPr>
          <p:cNvPr id="13" name="Text 10"/>
          <p:cNvSpPr txBox="1"/>
          <p:nvPr/>
        </p:nvSpPr>
        <p:spPr>
          <a:xfrm>
            <a:off x="3063240" y="4251960"/>
            <a:ext cx="2194560" cy="475488"/>
          </a:xfrm>
          <a:prstGeom prst="rect">
            <a:avLst/>
          </a:prstGeom>
          <a:noFill/>
          <a:ln/>
        </p:spPr>
        <p:txBody>
          <a:bodyPr wrap="square" lIns="0" tIns="0" rIns="0" bIns="0" rtlCol="0" anchor="ctr"/>
          <a:lstStyle/>
          <a:p>
            <a:pPr algn="ctr" indent="0" marL="0">
              <a:buNone/>
            </a:pPr>
            <a:r>
              <a:rPr lang="en-US" sz="1500" b="1" dirty="0">
                <a:solidFill>
                  <a:srgbClr val="94590C"/>
                </a:solidFill>
                <a:latin typeface="Arial" pitchFamily="34" charset="0"/>
                <a:ea typeface="Arial" pitchFamily="34" charset="-122"/>
                <a:cs typeface="Arial" pitchFamily="34" charset="-120"/>
              </a:rPr>
              <a:t>Tu turno</a:t>
            </a:r>
            <a:endParaRPr lang="en-US" sz="1500" dirty="0"/>
          </a:p>
        </p:txBody>
      </p:sp>
      <p:sp>
        <p:nvSpPr>
          <p:cNvPr id="14" name="Text 11"/>
          <p:cNvSpPr txBox="1"/>
          <p:nvPr/>
        </p:nvSpPr>
        <p:spPr>
          <a:xfrm>
            <a:off x="731520" y="5120640"/>
            <a:ext cx="4572000" cy="822960"/>
          </a:xfrm>
          <a:prstGeom prst="rect">
            <a:avLst/>
          </a:prstGeom>
          <a:noFill/>
          <a:ln/>
        </p:spPr>
        <p:txBody>
          <a:bodyPr wrap="square" lIns="0" tIns="0" rIns="0" bIns="0" rtlCol="0" anchor="t"/>
          <a:lstStyle/>
          <a:p>
            <a:pPr indent="0" marL="0">
              <a:buNone/>
            </a:pPr>
            <a:r>
              <a:rPr lang="en-US" sz="2000" dirty="0">
                <a:solidFill>
                  <a:srgbClr val="5F5B6B"/>
                </a:solidFill>
                <a:latin typeface="Arial" pitchFamily="34" charset="0"/>
                <a:ea typeface="Arial" pitchFamily="34" charset="-122"/>
                <a:cs typeface="Arial" pitchFamily="34" charset="-120"/>
              </a:rPr>
              <a:t>Te ayuda a resolver. No te da todo servido.</a:t>
            </a:r>
            <a:endParaRPr lang="en-US" sz="2000" dirty="0"/>
          </a:p>
        </p:txBody>
      </p:sp>
      <p:sp>
        <p:nvSpPr>
          <p:cNvPr id="15" name="Shape 12"/>
          <p:cNvSpPr/>
          <p:nvPr/>
        </p:nvSpPr>
        <p:spPr>
          <a:xfrm>
            <a:off x="5541264" y="1289304"/>
            <a:ext cx="6062472" cy="3932599"/>
          </a:xfrm>
          <a:prstGeom prst="roundRect">
            <a:avLst>
              <a:gd name="adj" fmla="val 4650"/>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16" name="Image 1" descr="/tmp/claude-0/-home-claude/d13c7265-f088-5db4-933a-3af5cafd5191/scratchpad/deck/img/mentor.png">    </p:cNvPr>
          <p:cNvPicPr>
            <a:picLocks noChangeAspect="1"/>
          </p:cNvPicPr>
          <p:nvPr/>
        </p:nvPicPr>
        <p:blipFill>
          <a:blip r:embed="rId2"/>
          <a:stretch>
            <a:fillRect/>
          </a:stretch>
        </p:blipFill>
        <p:spPr>
          <a:xfrm>
            <a:off x="5669280" y="1417320"/>
            <a:ext cx="5806440" cy="36765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31520" y="914400"/>
            <a:ext cx="2377440" cy="420624"/>
          </a:xfrm>
          <a:prstGeom prst="roundRect">
            <a:avLst>
              <a:gd name="adj" fmla="val 50000"/>
            </a:avLst>
          </a:prstGeom>
          <a:solidFill>
            <a:srgbClr val="DCD2F0"/>
          </a:solidFill>
          <a:ln w="12700">
            <a:solidFill>
              <a:srgbClr val="DCD2F0"/>
            </a:solidFill>
            <a:prstDash val="solid"/>
          </a:ln>
        </p:spPr>
      </p:sp>
      <p:sp>
        <p:nvSpPr>
          <p:cNvPr id="4" name="Text 1"/>
          <p:cNvSpPr txBox="1"/>
          <p:nvPr/>
        </p:nvSpPr>
        <p:spPr>
          <a:xfrm>
            <a:off x="731520" y="914400"/>
            <a:ext cx="2377440" cy="420624"/>
          </a:xfrm>
          <a:prstGeom prst="rect">
            <a:avLst/>
          </a:prstGeom>
          <a:noFill/>
          <a:ln/>
        </p:spPr>
        <p:txBody>
          <a:bodyPr wrap="square" lIns="0" tIns="0" rIns="0" bIns="0" rtlCol="0" anchor="ctr"/>
          <a:lstStyle/>
          <a:p>
            <a:pPr algn="ctr" indent="0" marL="0">
              <a:buNone/>
            </a:pPr>
            <a:r>
              <a:rPr lang="en-US" sz="1300" b="1" spc="300" kern="0" dirty="0">
                <a:solidFill>
                  <a:srgbClr val="6E52B0"/>
                </a:solidFill>
                <a:latin typeface="Arial" pitchFamily="34" charset="0"/>
                <a:ea typeface="Arial" pitchFamily="34" charset="-122"/>
                <a:cs typeface="Arial" pitchFamily="34" charset="-120"/>
              </a:rPr>
              <a:t>PARA EL SENIOR</a:t>
            </a:r>
            <a:endParaRPr lang="en-US" sz="1300" dirty="0"/>
          </a:p>
        </p:txBody>
      </p:sp>
      <p:sp>
        <p:nvSpPr>
          <p:cNvPr id="5" name="Text 2"/>
          <p:cNvSpPr txBox="1"/>
          <p:nvPr/>
        </p:nvSpPr>
        <p:spPr>
          <a:xfrm>
            <a:off x="731520" y="1600200"/>
            <a:ext cx="4389120" cy="2011680"/>
          </a:xfrm>
          <a:prstGeom prst="rect">
            <a:avLst/>
          </a:prstGeom>
          <a:noFill/>
          <a:ln/>
        </p:spPr>
        <p:txBody>
          <a:bodyPr wrap="square" lIns="0" tIns="0" rIns="0" bIns="0" rtlCol="0" anchor="t"/>
          <a:lstStyle/>
          <a:p>
            <a:pPr indent="0" marL="0">
              <a:buNone/>
            </a:pPr>
            <a:r>
              <a:rPr lang="en-US" sz="4400" b="1" dirty="0">
                <a:solidFill>
                  <a:srgbClr val="17161B"/>
                </a:solidFill>
                <a:latin typeface="Arial" pitchFamily="34" charset="0"/>
                <a:ea typeface="Arial" pitchFamily="34" charset="-122"/>
                <a:cs typeface="Arial" pitchFamily="34" charset="-120"/>
              </a:rPr>
              <a:t>Cargá el contexto una sola vez</a:t>
            </a:r>
            <a:endParaRPr lang="en-US" sz="4400" dirty="0"/>
          </a:p>
        </p:txBody>
      </p:sp>
      <p:sp>
        <p:nvSpPr>
          <p:cNvPr id="6" name="Text 3"/>
          <p:cNvSpPr txBox="1"/>
          <p:nvPr/>
        </p:nvSpPr>
        <p:spPr>
          <a:xfrm>
            <a:off x="731520" y="3749040"/>
            <a:ext cx="4389120" cy="731520"/>
          </a:xfrm>
          <a:prstGeom prst="rect">
            <a:avLst/>
          </a:prstGeom>
          <a:noFill/>
          <a:ln/>
        </p:spPr>
        <p:txBody>
          <a:bodyPr wrap="square" lIns="0" tIns="0" rIns="0" bIns="0" rtlCol="0" anchor="t"/>
          <a:lstStyle/>
          <a:p>
            <a:pPr indent="0" marL="0">
              <a:buNone/>
            </a:pPr>
            <a:r>
              <a:rPr lang="en-US" sz="1900" dirty="0">
                <a:solidFill>
                  <a:srgbClr val="5F5B6B"/>
                </a:solidFill>
                <a:latin typeface="Arial" pitchFamily="34" charset="0"/>
                <a:ea typeface="Arial" pitchFamily="34" charset="-122"/>
                <a:cs typeface="Arial" pitchFamily="34" charset="-120"/>
              </a:rPr>
              <a:t>Contexto, escenarios y criterios a medida.</a:t>
            </a:r>
            <a:endParaRPr lang="en-US" sz="1900" dirty="0"/>
          </a:p>
        </p:txBody>
      </p:sp>
      <p:sp>
        <p:nvSpPr>
          <p:cNvPr id="7" name="Shape 4"/>
          <p:cNvSpPr/>
          <p:nvPr/>
        </p:nvSpPr>
        <p:spPr>
          <a:xfrm>
            <a:off x="731520" y="4663440"/>
            <a:ext cx="1371600" cy="420624"/>
          </a:xfrm>
          <a:prstGeom prst="roundRect">
            <a:avLst>
              <a:gd name="adj" fmla="val 50000"/>
            </a:avLst>
          </a:prstGeom>
          <a:solidFill>
            <a:srgbClr val="FFFFFF"/>
          </a:solidFill>
          <a:ln w="12700">
            <a:solidFill>
              <a:srgbClr val="CFC6E3"/>
            </a:solidFill>
            <a:prstDash val="solid"/>
          </a:ln>
        </p:spPr>
      </p:sp>
      <p:sp>
        <p:nvSpPr>
          <p:cNvPr id="8" name="Text 5"/>
          <p:cNvSpPr txBox="1"/>
          <p:nvPr/>
        </p:nvSpPr>
        <p:spPr>
          <a:xfrm>
            <a:off x="731520" y="4663440"/>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Software</a:t>
            </a:r>
            <a:endParaRPr lang="en-US" sz="1300" dirty="0"/>
          </a:p>
        </p:txBody>
      </p:sp>
      <p:sp>
        <p:nvSpPr>
          <p:cNvPr id="9" name="Shape 6"/>
          <p:cNvSpPr/>
          <p:nvPr/>
        </p:nvSpPr>
        <p:spPr>
          <a:xfrm>
            <a:off x="2212848" y="4663440"/>
            <a:ext cx="1371600" cy="420624"/>
          </a:xfrm>
          <a:prstGeom prst="roundRect">
            <a:avLst>
              <a:gd name="adj" fmla="val 50000"/>
            </a:avLst>
          </a:prstGeom>
          <a:solidFill>
            <a:srgbClr val="FFFFFF"/>
          </a:solidFill>
          <a:ln w="12700">
            <a:solidFill>
              <a:srgbClr val="CFC6E3"/>
            </a:solidFill>
            <a:prstDash val="solid"/>
          </a:ln>
        </p:spPr>
      </p:sp>
      <p:sp>
        <p:nvSpPr>
          <p:cNvPr id="10" name="Text 7"/>
          <p:cNvSpPr txBox="1"/>
          <p:nvPr/>
        </p:nvSpPr>
        <p:spPr>
          <a:xfrm>
            <a:off x="2212848" y="4663440"/>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Gastronomía</a:t>
            </a:r>
            <a:endParaRPr lang="en-US" sz="1300" dirty="0"/>
          </a:p>
        </p:txBody>
      </p:sp>
      <p:sp>
        <p:nvSpPr>
          <p:cNvPr id="11" name="Shape 8"/>
          <p:cNvSpPr/>
          <p:nvPr/>
        </p:nvSpPr>
        <p:spPr>
          <a:xfrm>
            <a:off x="3694176" y="4663440"/>
            <a:ext cx="1371600" cy="420624"/>
          </a:xfrm>
          <a:prstGeom prst="roundRect">
            <a:avLst>
              <a:gd name="adj" fmla="val 50000"/>
            </a:avLst>
          </a:prstGeom>
          <a:solidFill>
            <a:srgbClr val="FFFFFF"/>
          </a:solidFill>
          <a:ln w="12700">
            <a:solidFill>
              <a:srgbClr val="CFC6E3"/>
            </a:solidFill>
            <a:prstDash val="solid"/>
          </a:ln>
        </p:spPr>
      </p:sp>
      <p:sp>
        <p:nvSpPr>
          <p:cNvPr id="12" name="Text 9"/>
          <p:cNvSpPr txBox="1"/>
          <p:nvPr/>
        </p:nvSpPr>
        <p:spPr>
          <a:xfrm>
            <a:off x="3694176" y="4663440"/>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Comercio</a:t>
            </a:r>
            <a:endParaRPr lang="en-US" sz="1300" dirty="0"/>
          </a:p>
        </p:txBody>
      </p:sp>
      <p:sp>
        <p:nvSpPr>
          <p:cNvPr id="13" name="Shape 10"/>
          <p:cNvSpPr/>
          <p:nvPr/>
        </p:nvSpPr>
        <p:spPr>
          <a:xfrm>
            <a:off x="731520" y="5230368"/>
            <a:ext cx="1371600" cy="420624"/>
          </a:xfrm>
          <a:prstGeom prst="roundRect">
            <a:avLst>
              <a:gd name="adj" fmla="val 50000"/>
            </a:avLst>
          </a:prstGeom>
          <a:solidFill>
            <a:srgbClr val="FFFFFF"/>
          </a:solidFill>
          <a:ln w="12700">
            <a:solidFill>
              <a:srgbClr val="CFC6E3"/>
            </a:solidFill>
            <a:prstDash val="solid"/>
          </a:ln>
        </p:spPr>
      </p:sp>
      <p:sp>
        <p:nvSpPr>
          <p:cNvPr id="14" name="Text 11"/>
          <p:cNvSpPr txBox="1"/>
          <p:nvPr/>
        </p:nvSpPr>
        <p:spPr>
          <a:xfrm>
            <a:off x="731520" y="5230368"/>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Salud</a:t>
            </a:r>
            <a:endParaRPr lang="en-US" sz="1300" dirty="0"/>
          </a:p>
        </p:txBody>
      </p:sp>
      <p:sp>
        <p:nvSpPr>
          <p:cNvPr id="15" name="Shape 12"/>
          <p:cNvSpPr/>
          <p:nvPr/>
        </p:nvSpPr>
        <p:spPr>
          <a:xfrm>
            <a:off x="2212848" y="5230368"/>
            <a:ext cx="1371600" cy="420624"/>
          </a:xfrm>
          <a:prstGeom prst="roundRect">
            <a:avLst>
              <a:gd name="adj" fmla="val 50000"/>
            </a:avLst>
          </a:prstGeom>
          <a:solidFill>
            <a:srgbClr val="FFFFFF"/>
          </a:solidFill>
          <a:ln w="12700">
            <a:solidFill>
              <a:srgbClr val="CFC6E3"/>
            </a:solidFill>
            <a:prstDash val="solid"/>
          </a:ln>
        </p:spPr>
      </p:sp>
      <p:sp>
        <p:nvSpPr>
          <p:cNvPr id="16" name="Text 13"/>
          <p:cNvSpPr txBox="1"/>
          <p:nvPr/>
        </p:nvSpPr>
        <p:spPr>
          <a:xfrm>
            <a:off x="2212848" y="5230368"/>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Industria</a:t>
            </a:r>
            <a:endParaRPr lang="en-US" sz="1300" dirty="0"/>
          </a:p>
        </p:txBody>
      </p:sp>
      <p:sp>
        <p:nvSpPr>
          <p:cNvPr id="17" name="Shape 14"/>
          <p:cNvSpPr/>
          <p:nvPr/>
        </p:nvSpPr>
        <p:spPr>
          <a:xfrm>
            <a:off x="3694176" y="5230368"/>
            <a:ext cx="1371600" cy="420624"/>
          </a:xfrm>
          <a:prstGeom prst="roundRect">
            <a:avLst>
              <a:gd name="adj" fmla="val 50000"/>
            </a:avLst>
          </a:prstGeom>
          <a:solidFill>
            <a:srgbClr val="FFFFFF"/>
          </a:solidFill>
          <a:ln w="12700">
            <a:solidFill>
              <a:srgbClr val="CFC6E3"/>
            </a:solidFill>
            <a:prstDash val="solid"/>
          </a:ln>
        </p:spPr>
      </p:sp>
      <p:sp>
        <p:nvSpPr>
          <p:cNvPr id="18" name="Text 15"/>
          <p:cNvSpPr txBox="1"/>
          <p:nvPr/>
        </p:nvSpPr>
        <p:spPr>
          <a:xfrm>
            <a:off x="3694176" y="5230368"/>
            <a:ext cx="1371600" cy="420624"/>
          </a:xfrm>
          <a:prstGeom prst="rect">
            <a:avLst/>
          </a:prstGeom>
          <a:noFill/>
          <a:ln/>
        </p:spPr>
        <p:txBody>
          <a:bodyPr wrap="square" lIns="0" tIns="0" rIns="0" bIns="0" rtlCol="0" anchor="ctr"/>
          <a:lstStyle/>
          <a:p>
            <a:pPr algn="ctr" indent="0" marL="0">
              <a:buNone/>
            </a:pPr>
            <a:r>
              <a:rPr lang="en-US" sz="1300" dirty="0">
                <a:solidFill>
                  <a:srgbClr val="17161B"/>
                </a:solidFill>
                <a:latin typeface="Arial" pitchFamily="34" charset="0"/>
                <a:ea typeface="Arial" pitchFamily="34" charset="-122"/>
                <a:cs typeface="Arial" pitchFamily="34" charset="-120"/>
              </a:rPr>
              <a:t>Servicios</a:t>
            </a:r>
            <a:endParaRPr lang="en-US" sz="1300" dirty="0"/>
          </a:p>
        </p:txBody>
      </p:sp>
      <p:sp>
        <p:nvSpPr>
          <p:cNvPr id="19" name="Shape 16"/>
          <p:cNvSpPr/>
          <p:nvPr/>
        </p:nvSpPr>
        <p:spPr>
          <a:xfrm>
            <a:off x="5541264" y="1152144"/>
            <a:ext cx="6062472" cy="4089771"/>
          </a:xfrm>
          <a:prstGeom prst="roundRect">
            <a:avLst>
              <a:gd name="adj" fmla="val 4472"/>
            </a:avLst>
          </a:prstGeom>
          <a:solidFill>
            <a:srgbClr val="FFFFFF">
              <a:alpha val="55000"/>
            </a:srgbClr>
          </a:solidFill>
          <a:ln w="12700">
            <a:solidFill>
              <a:srgbClr val="FFFFFF">
                <a:alpha val="80000"/>
              </a:srgbClr>
            </a:solidFill>
            <a:prstDash val="solid"/>
          </a:ln>
          <a:effectLst>
            <a:outerShdw sx="100000" sy="100000" kx="0" ky="0" algn="bl" rotWithShape="0" blurRad="228600" dist="50800" dir="5400000">
              <a:srgbClr val="5B4A8A">
                <a:alpha val="18000"/>
              </a:srgbClr>
            </a:outerShdw>
          </a:effectLst>
        </p:spPr>
      </p:sp>
      <p:pic>
        <p:nvPicPr>
          <p:cNvPr id="20" name="Image 1" descr="/tmp/claude-0/-home-claude/d13c7265-f088-5db4-933a-3af5cafd5191/scratchpad/deck/img/empresa.png">    </p:cNvPr>
          <p:cNvPicPr>
            <a:picLocks noChangeAspect="1"/>
          </p:cNvPicPr>
          <p:nvPr/>
        </p:nvPicPr>
        <p:blipFill>
          <a:blip r:embed="rId2"/>
          <a:stretch>
            <a:fillRect/>
          </a:stretch>
        </p:blipFill>
        <p:spPr>
          <a:xfrm>
            <a:off x="5669280" y="1280160"/>
            <a:ext cx="5806440" cy="38337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claude-0/-home-claude/d13c7265-f088-5db4-933a-3af5cafd5191/scratchpad/deck/img/bg_center.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claude/d13c7265-f088-5db4-933a-3af5cafd5191/scratchpad/deck/img/orb.png">    </p:cNvPr>
          <p:cNvPicPr>
            <a:picLocks noChangeAspect="1"/>
          </p:cNvPicPr>
          <p:nvPr/>
        </p:nvPicPr>
        <p:blipFill>
          <a:blip r:embed="rId2"/>
          <a:stretch>
            <a:fillRect/>
          </a:stretch>
        </p:blipFill>
        <p:spPr>
          <a:xfrm>
            <a:off x="4541368" y="502920"/>
            <a:ext cx="3108960" cy="3108960"/>
          </a:xfrm>
          <a:prstGeom prst="rect">
            <a:avLst/>
          </a:prstGeom>
        </p:spPr>
      </p:pic>
      <p:sp>
        <p:nvSpPr>
          <p:cNvPr id="4" name="Text 0"/>
          <p:cNvSpPr txBox="1"/>
          <p:nvPr/>
        </p:nvSpPr>
        <p:spPr>
          <a:xfrm>
            <a:off x="0" y="3611880"/>
            <a:ext cx="12191695" cy="914400"/>
          </a:xfrm>
          <a:prstGeom prst="rect">
            <a:avLst/>
          </a:prstGeom>
          <a:noFill/>
          <a:ln/>
        </p:spPr>
        <p:txBody>
          <a:bodyPr wrap="square" lIns="0" tIns="0" rIns="0" bIns="0" rtlCol="0" anchor="t"/>
          <a:lstStyle/>
          <a:p>
            <a:pPr algn="ctr" indent="0" marL="0">
              <a:buNone/>
            </a:pPr>
            <a:r>
              <a:rPr lang="en-US" sz="5400" b="1" dirty="0">
                <a:solidFill>
                  <a:srgbClr val="17161B"/>
                </a:solidFill>
                <a:latin typeface="Arial" pitchFamily="34" charset="0"/>
                <a:ea typeface="Arial" pitchFamily="34" charset="-122"/>
                <a:cs typeface="Arial" pitchFamily="34" charset="-120"/>
              </a:rPr>
              <a:t>Veámoslo en vivo</a:t>
            </a:r>
            <a:endParaRPr lang="en-US" sz="5400" dirty="0"/>
          </a:p>
        </p:txBody>
      </p:sp>
      <p:sp>
        <p:nvSpPr>
          <p:cNvPr id="5" name="Text 1"/>
          <p:cNvSpPr txBox="1"/>
          <p:nvPr/>
        </p:nvSpPr>
        <p:spPr>
          <a:xfrm>
            <a:off x="0" y="4663440"/>
            <a:ext cx="12191695" cy="457200"/>
          </a:xfrm>
          <a:prstGeom prst="rect">
            <a:avLst/>
          </a:prstGeom>
          <a:noFill/>
          <a:ln/>
        </p:spPr>
        <p:txBody>
          <a:bodyPr wrap="square" lIns="0" tIns="0" rIns="0" bIns="0" rtlCol="0" anchor="t"/>
          <a:lstStyle/>
          <a:p>
            <a:pPr algn="ctr" indent="0" marL="0">
              <a:buNone/>
            </a:pPr>
            <a:r>
              <a:rPr lang="en-US" sz="2200" dirty="0">
                <a:solidFill>
                  <a:srgbClr val="6E52B0"/>
                </a:solidFill>
                <a:latin typeface="Arial" pitchFamily="34" charset="0"/>
                <a:ea typeface="Arial" pitchFamily="34" charset="-122"/>
                <a:cs typeface="Arial" pitchFamily="34" charset="-120"/>
              </a:rPr>
              <a:t>Simulación por voz  →  Informe  →  Mentor</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058400" cy="73152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Por qué es distinto</a:t>
            </a:r>
            <a:endParaRPr lang="en-US" sz="3800" dirty="0"/>
          </a:p>
        </p:txBody>
      </p:sp>
      <p:sp>
        <p:nvSpPr>
          <p:cNvPr id="4" name="Text 1"/>
          <p:cNvSpPr txBox="1"/>
          <p:nvPr/>
        </p:nvSpPr>
        <p:spPr>
          <a:xfrm>
            <a:off x="1097280" y="1691640"/>
            <a:ext cx="4572000" cy="411480"/>
          </a:xfrm>
          <a:prstGeom prst="rect">
            <a:avLst/>
          </a:prstGeom>
          <a:noFill/>
          <a:ln/>
        </p:spPr>
        <p:txBody>
          <a:bodyPr wrap="square" lIns="0" tIns="0" rIns="0" bIns="0" rtlCol="0" anchor="t"/>
          <a:lstStyle/>
          <a:p>
            <a:pPr indent="0" marL="0">
              <a:buNone/>
            </a:pPr>
            <a:r>
              <a:rPr lang="en-US" sz="1800" b="1" dirty="0">
                <a:solidFill>
                  <a:srgbClr val="5F5B6B"/>
                </a:solidFill>
                <a:latin typeface="Arial" pitchFamily="34" charset="0"/>
                <a:ea typeface="Arial" pitchFamily="34" charset="-122"/>
                <a:cs typeface="Arial" pitchFamily="34" charset="-120"/>
              </a:rPr>
              <a:t>Hoy</a:t>
            </a:r>
            <a:endParaRPr lang="en-US" sz="1800" dirty="0"/>
          </a:p>
        </p:txBody>
      </p:sp>
      <p:sp>
        <p:nvSpPr>
          <p:cNvPr id="5" name="Text 2"/>
          <p:cNvSpPr txBox="1"/>
          <p:nvPr/>
        </p:nvSpPr>
        <p:spPr>
          <a:xfrm>
            <a:off x="6537960" y="1691640"/>
            <a:ext cx="4572000" cy="411480"/>
          </a:xfrm>
          <a:prstGeom prst="rect">
            <a:avLst/>
          </a:prstGeom>
          <a:noFill/>
          <a:ln/>
        </p:spPr>
        <p:txBody>
          <a:bodyPr wrap="square" lIns="0" tIns="0" rIns="0" bIns="0" rtlCol="0" anchor="t"/>
          <a:lstStyle/>
          <a:p>
            <a:pPr indent="0" marL="0">
              <a:buNone/>
            </a:pPr>
            <a:r>
              <a:rPr lang="en-US" sz="1800" b="1" dirty="0">
                <a:solidFill>
                  <a:srgbClr val="6E52B0"/>
                </a:solidFill>
                <a:latin typeface="Arial" pitchFamily="34" charset="0"/>
                <a:ea typeface="Arial" pitchFamily="34" charset="-122"/>
                <a:cs typeface="Arial" pitchFamily="34" charset="-120"/>
              </a:rPr>
              <a:t>Con Tutoring</a:t>
            </a:r>
            <a:endParaRPr lang="en-US" sz="1800" dirty="0"/>
          </a:p>
        </p:txBody>
      </p:sp>
      <p:sp>
        <p:nvSpPr>
          <p:cNvPr id="6" name="Shape 3"/>
          <p:cNvSpPr/>
          <p:nvPr/>
        </p:nvSpPr>
        <p:spPr>
          <a:xfrm>
            <a:off x="731520" y="2240280"/>
            <a:ext cx="4937760" cy="749808"/>
          </a:xfrm>
          <a:prstGeom prst="roundRect">
            <a:avLst>
              <a:gd name="adj" fmla="val 17073"/>
            </a:avLst>
          </a:prstGeom>
          <a:solidFill>
            <a:srgbClr val="DDD6EA"/>
          </a:solidFill>
          <a:ln w="12700">
            <a:solidFill>
              <a:srgbClr val="DDD6EA"/>
            </a:solidFill>
            <a:prstDash val="solid"/>
          </a:ln>
        </p:spPr>
      </p:sp>
      <p:sp>
        <p:nvSpPr>
          <p:cNvPr id="7" name="Text 4"/>
          <p:cNvSpPr txBox="1"/>
          <p:nvPr/>
        </p:nvSpPr>
        <p:spPr>
          <a:xfrm>
            <a:off x="1097280" y="2240280"/>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La IA resuelve la tarea</a:t>
            </a:r>
            <a:endParaRPr lang="en-US" sz="2000" dirty="0"/>
          </a:p>
        </p:txBody>
      </p:sp>
      <p:sp>
        <p:nvSpPr>
          <p:cNvPr id="8" name="Shape 5"/>
          <p:cNvSpPr/>
          <p:nvPr/>
        </p:nvSpPr>
        <p:spPr>
          <a:xfrm>
            <a:off x="5760720" y="2615184"/>
            <a:ext cx="502920" cy="0"/>
          </a:xfrm>
          <a:prstGeom prst="line">
            <a:avLst/>
          </a:prstGeom>
          <a:noFill/>
          <a:ln w="25400">
            <a:solidFill>
              <a:srgbClr val="9B7FD6"/>
            </a:solidFill>
            <a:prstDash val="solid"/>
            <a:tailEnd type="triangle"/>
          </a:ln>
        </p:spPr>
      </p:sp>
      <p:sp>
        <p:nvSpPr>
          <p:cNvPr id="9" name="Shape 6"/>
          <p:cNvSpPr/>
          <p:nvPr/>
        </p:nvSpPr>
        <p:spPr>
          <a:xfrm>
            <a:off x="6355080" y="2240280"/>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0" name="Text 7"/>
          <p:cNvSpPr txBox="1"/>
          <p:nvPr/>
        </p:nvSpPr>
        <p:spPr>
          <a:xfrm>
            <a:off x="6675120" y="2240280"/>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El agente forma a la persona</a:t>
            </a:r>
            <a:endParaRPr lang="en-US" sz="2000" dirty="0"/>
          </a:p>
        </p:txBody>
      </p:sp>
      <p:sp>
        <p:nvSpPr>
          <p:cNvPr id="11" name="Shape 8"/>
          <p:cNvSpPr/>
          <p:nvPr/>
        </p:nvSpPr>
        <p:spPr>
          <a:xfrm>
            <a:off x="731520" y="3172968"/>
            <a:ext cx="4937760" cy="749808"/>
          </a:xfrm>
          <a:prstGeom prst="roundRect">
            <a:avLst>
              <a:gd name="adj" fmla="val 17073"/>
            </a:avLst>
          </a:prstGeom>
          <a:solidFill>
            <a:srgbClr val="DDD6EA"/>
          </a:solidFill>
          <a:ln w="12700">
            <a:solidFill>
              <a:srgbClr val="DDD6EA"/>
            </a:solidFill>
            <a:prstDash val="solid"/>
          </a:ln>
        </p:spPr>
      </p:sp>
      <p:sp>
        <p:nvSpPr>
          <p:cNvPr id="12" name="Text 9"/>
          <p:cNvSpPr txBox="1"/>
          <p:nvPr/>
        </p:nvSpPr>
        <p:spPr>
          <a:xfrm>
            <a:off x="1097280" y="3172968"/>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Conocimiento genérico</a:t>
            </a:r>
            <a:endParaRPr lang="en-US" sz="2000" dirty="0"/>
          </a:p>
        </p:txBody>
      </p:sp>
      <p:sp>
        <p:nvSpPr>
          <p:cNvPr id="13" name="Shape 10"/>
          <p:cNvSpPr/>
          <p:nvPr/>
        </p:nvSpPr>
        <p:spPr>
          <a:xfrm>
            <a:off x="5760720" y="3547872"/>
            <a:ext cx="502920" cy="0"/>
          </a:xfrm>
          <a:prstGeom prst="line">
            <a:avLst/>
          </a:prstGeom>
          <a:noFill/>
          <a:ln w="25400">
            <a:solidFill>
              <a:srgbClr val="9B7FD6"/>
            </a:solidFill>
            <a:prstDash val="solid"/>
            <a:tailEnd type="triangle"/>
          </a:ln>
        </p:spPr>
      </p:sp>
      <p:sp>
        <p:nvSpPr>
          <p:cNvPr id="14" name="Shape 11"/>
          <p:cNvSpPr/>
          <p:nvPr/>
        </p:nvSpPr>
        <p:spPr>
          <a:xfrm>
            <a:off x="6355080" y="3172968"/>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5" name="Text 12"/>
          <p:cNvSpPr txBox="1"/>
          <p:nvPr/>
        </p:nvSpPr>
        <p:spPr>
          <a:xfrm>
            <a:off x="6675120" y="3172968"/>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El contexto de tu empresa</a:t>
            </a:r>
            <a:endParaRPr lang="en-US" sz="2000" dirty="0"/>
          </a:p>
        </p:txBody>
      </p:sp>
      <p:sp>
        <p:nvSpPr>
          <p:cNvPr id="16" name="Shape 13"/>
          <p:cNvSpPr/>
          <p:nvPr/>
        </p:nvSpPr>
        <p:spPr>
          <a:xfrm>
            <a:off x="731520" y="4105656"/>
            <a:ext cx="4937760" cy="749808"/>
          </a:xfrm>
          <a:prstGeom prst="roundRect">
            <a:avLst>
              <a:gd name="adj" fmla="val 17073"/>
            </a:avLst>
          </a:prstGeom>
          <a:solidFill>
            <a:srgbClr val="DDD6EA"/>
          </a:solidFill>
          <a:ln w="12700">
            <a:solidFill>
              <a:srgbClr val="DDD6EA"/>
            </a:solidFill>
            <a:prstDash val="solid"/>
          </a:ln>
        </p:spPr>
      </p:sp>
      <p:sp>
        <p:nvSpPr>
          <p:cNvPr id="17" name="Text 14"/>
          <p:cNvSpPr txBox="1"/>
          <p:nvPr/>
        </p:nvSpPr>
        <p:spPr>
          <a:xfrm>
            <a:off x="1097280" y="4105656"/>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Contratar por CV y entrevista</a:t>
            </a:r>
            <a:endParaRPr lang="en-US" sz="2000" dirty="0"/>
          </a:p>
        </p:txBody>
      </p:sp>
      <p:sp>
        <p:nvSpPr>
          <p:cNvPr id="18" name="Shape 15"/>
          <p:cNvSpPr/>
          <p:nvPr/>
        </p:nvSpPr>
        <p:spPr>
          <a:xfrm>
            <a:off x="5760720" y="4480560"/>
            <a:ext cx="502920" cy="0"/>
          </a:xfrm>
          <a:prstGeom prst="line">
            <a:avLst/>
          </a:prstGeom>
          <a:noFill/>
          <a:ln w="25400">
            <a:solidFill>
              <a:srgbClr val="9B7FD6"/>
            </a:solidFill>
            <a:prstDash val="solid"/>
            <a:tailEnd type="triangle"/>
          </a:ln>
        </p:spPr>
      </p:sp>
      <p:sp>
        <p:nvSpPr>
          <p:cNvPr id="19" name="Shape 16"/>
          <p:cNvSpPr/>
          <p:nvPr/>
        </p:nvSpPr>
        <p:spPr>
          <a:xfrm>
            <a:off x="6355080" y="4105656"/>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0" name="Text 17"/>
          <p:cNvSpPr txBox="1"/>
          <p:nvPr/>
        </p:nvSpPr>
        <p:spPr>
          <a:xfrm>
            <a:off x="6675120" y="4105656"/>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Contratar con evidencia</a:t>
            </a:r>
            <a:endParaRPr lang="en-US" sz="2000" dirty="0"/>
          </a:p>
        </p:txBody>
      </p:sp>
      <p:sp>
        <p:nvSpPr>
          <p:cNvPr id="21" name="Shape 18"/>
          <p:cNvSpPr/>
          <p:nvPr/>
        </p:nvSpPr>
        <p:spPr>
          <a:xfrm>
            <a:off x="731520" y="5038344"/>
            <a:ext cx="4937760" cy="749808"/>
          </a:xfrm>
          <a:prstGeom prst="roundRect">
            <a:avLst>
              <a:gd name="adj" fmla="val 17073"/>
            </a:avLst>
          </a:prstGeom>
          <a:solidFill>
            <a:srgbClr val="DDD6EA"/>
          </a:solidFill>
          <a:ln w="12700">
            <a:solidFill>
              <a:srgbClr val="DDD6EA"/>
            </a:solidFill>
            <a:prstDash val="solid"/>
          </a:ln>
        </p:spPr>
      </p:sp>
      <p:sp>
        <p:nvSpPr>
          <p:cNvPr id="22" name="Text 19"/>
          <p:cNvSpPr txBox="1"/>
          <p:nvPr/>
        </p:nvSpPr>
        <p:spPr>
          <a:xfrm>
            <a:off x="1097280" y="5038344"/>
            <a:ext cx="4389120" cy="749808"/>
          </a:xfrm>
          <a:prstGeom prst="rect">
            <a:avLst/>
          </a:prstGeom>
          <a:noFill/>
          <a:ln/>
        </p:spPr>
        <p:txBody>
          <a:bodyPr wrap="square" lIns="0" tIns="0" rIns="0" bIns="0" rtlCol="0" anchor="ctr"/>
          <a:lstStyle/>
          <a:p>
            <a:pPr indent="0" marL="0">
              <a:buNone/>
            </a:pPr>
            <a:r>
              <a:rPr lang="en-US" sz="2000" dirty="0">
                <a:solidFill>
                  <a:srgbClr val="5F5B6B"/>
                </a:solidFill>
                <a:latin typeface="Arial" pitchFamily="34" charset="0"/>
                <a:ea typeface="Arial" pitchFamily="34" charset="-122"/>
                <a:cs typeface="Arial" pitchFamily="34" charset="-120"/>
              </a:rPr>
              <a:t>El senior repite lo mismo</a:t>
            </a:r>
            <a:endParaRPr lang="en-US" sz="2000" dirty="0"/>
          </a:p>
        </p:txBody>
      </p:sp>
      <p:sp>
        <p:nvSpPr>
          <p:cNvPr id="23" name="Shape 20"/>
          <p:cNvSpPr/>
          <p:nvPr/>
        </p:nvSpPr>
        <p:spPr>
          <a:xfrm>
            <a:off x="5760720" y="5413248"/>
            <a:ext cx="502920" cy="0"/>
          </a:xfrm>
          <a:prstGeom prst="line">
            <a:avLst/>
          </a:prstGeom>
          <a:noFill/>
          <a:ln w="25400">
            <a:solidFill>
              <a:srgbClr val="9B7FD6"/>
            </a:solidFill>
            <a:prstDash val="solid"/>
            <a:tailEnd type="triangle"/>
          </a:ln>
        </p:spPr>
      </p:sp>
      <p:sp>
        <p:nvSpPr>
          <p:cNvPr id="24" name="Shape 21"/>
          <p:cNvSpPr/>
          <p:nvPr/>
        </p:nvSpPr>
        <p:spPr>
          <a:xfrm>
            <a:off x="6355080" y="5038344"/>
            <a:ext cx="5120640" cy="749808"/>
          </a:xfrm>
          <a:prstGeom prst="roundRect">
            <a:avLst>
              <a:gd name="adj" fmla="val 19512"/>
            </a:avLst>
          </a:prstGeom>
          <a:solidFill>
            <a:srgbClr val="FFFFFF"/>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25" name="Text 22"/>
          <p:cNvSpPr txBox="1"/>
          <p:nvPr/>
        </p:nvSpPr>
        <p:spPr>
          <a:xfrm>
            <a:off x="6675120" y="5038344"/>
            <a:ext cx="4663440" cy="749808"/>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El senior lo carga una vez</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789920" cy="731520"/>
          </a:xfrm>
          <a:prstGeom prst="rect">
            <a:avLst/>
          </a:prstGeom>
          <a:noFill/>
          <a:ln/>
        </p:spPr>
        <p:txBody>
          <a:bodyPr wrap="square" lIns="0" tIns="0" rIns="0" bIns="0" rtlCol="0" anchor="t"/>
          <a:lstStyle/>
          <a:p>
            <a:pPr indent="0" marL="0">
              <a:buNone/>
            </a:pPr>
            <a:r>
              <a:rPr lang="en-US" sz="3800" b="1" dirty="0">
                <a:solidFill>
                  <a:srgbClr val="6E52B0"/>
                </a:solidFill>
                <a:latin typeface="Arial" pitchFamily="34" charset="0"/>
                <a:ea typeface="Arial" pitchFamily="34" charset="-122"/>
                <a:cs typeface="Arial" pitchFamily="34" charset="-120"/>
              </a:rPr>
              <a:t>USD 39</a:t>
            </a:r>
            <a:pPr indent="0" marL="0">
              <a:buNone/>
            </a:pPr>
            <a:r>
              <a:rPr lang="en-US" sz="3800" b="1" dirty="0">
                <a:solidFill>
                  <a:srgbClr val="17161B"/>
                </a:solidFill>
                <a:latin typeface="Arial" pitchFamily="34" charset="0"/>
                <a:ea typeface="Arial" pitchFamily="34" charset="-122"/>
                <a:cs typeface="Arial" pitchFamily="34" charset="-120"/>
              </a:rPr>
              <a:t> por junior por mes</a:t>
            </a:r>
            <a:endParaRPr lang="en-US" sz="3800" dirty="0"/>
          </a:p>
        </p:txBody>
      </p:sp>
      <p:sp>
        <p:nvSpPr>
          <p:cNvPr id="4" name="Shape 1"/>
          <p:cNvSpPr/>
          <p:nvPr/>
        </p:nvSpPr>
        <p:spPr>
          <a:xfrm>
            <a:off x="731520" y="1737360"/>
            <a:ext cx="3429000" cy="3017520"/>
          </a:xfrm>
          <a:prstGeom prst="roundRect">
            <a:avLst>
              <a:gd name="adj" fmla="val 4848"/>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5" name="Shape 2"/>
          <p:cNvSpPr/>
          <p:nvPr/>
        </p:nvSpPr>
        <p:spPr>
          <a:xfrm>
            <a:off x="1051560" y="2057400"/>
            <a:ext cx="566928" cy="566928"/>
          </a:xfrm>
          <a:prstGeom prst="ellipse">
            <a:avLst/>
          </a:prstGeom>
          <a:solidFill>
            <a:srgbClr val="EFE9FA"/>
          </a:solidFill>
          <a:ln w="12700">
            <a:solidFill>
              <a:srgbClr val="EFE9FA"/>
            </a:solidFill>
            <a:prstDash val="solid"/>
          </a:ln>
        </p:spPr>
      </p:sp>
      <p:pic>
        <p:nvPicPr>
          <p:cNvPr id="6" name="Image 1" descr="preencoded.png">    </p:cNvPr>
          <p:cNvPicPr>
            <a:picLocks noChangeAspect="1"/>
          </p:cNvPicPr>
          <p:nvPr/>
        </p:nvPicPr>
        <p:blipFill>
          <a:blip r:embed="rId2"/>
          <a:stretch>
            <a:fillRect/>
          </a:stretch>
        </p:blipFill>
        <p:spPr>
          <a:xfrm>
            <a:off x="1187623" y="2193463"/>
            <a:ext cx="294803" cy="294803"/>
          </a:xfrm>
          <a:prstGeom prst="rect">
            <a:avLst/>
          </a:prstGeom>
        </p:spPr>
      </p:pic>
      <p:sp>
        <p:nvSpPr>
          <p:cNvPr id="7" name="Text 3"/>
          <p:cNvSpPr txBox="1"/>
          <p:nvPr/>
        </p:nvSpPr>
        <p:spPr>
          <a:xfrm>
            <a:off x="1783080" y="2121408"/>
            <a:ext cx="2240280" cy="457200"/>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Se paga solo</a:t>
            </a:r>
            <a:endParaRPr lang="en-US" sz="2000" dirty="0"/>
          </a:p>
        </p:txBody>
      </p:sp>
      <p:sp>
        <p:nvSpPr>
          <p:cNvPr id="8" name="Text 4"/>
          <p:cNvSpPr txBox="1"/>
          <p:nvPr/>
        </p:nvSpPr>
        <p:spPr>
          <a:xfrm>
            <a:off x="1051560" y="2926080"/>
            <a:ext cx="2834640" cy="822960"/>
          </a:xfrm>
          <a:prstGeom prst="rect">
            <a:avLst/>
          </a:prstGeom>
          <a:noFill/>
          <a:ln/>
        </p:spPr>
        <p:txBody>
          <a:bodyPr wrap="square" lIns="0" tIns="0" rIns="0" bIns="0" rtlCol="0" anchor="t"/>
          <a:lstStyle/>
          <a:p>
            <a:pPr indent="0" marL="0">
              <a:buNone/>
            </a:pPr>
            <a:r>
              <a:rPr lang="en-US" sz="4800" b="1" dirty="0">
                <a:solidFill>
                  <a:srgbClr val="6E52B0"/>
                </a:solidFill>
                <a:latin typeface="Arial" pitchFamily="34" charset="0"/>
                <a:ea typeface="Arial" pitchFamily="34" charset="-122"/>
                <a:cs typeface="Arial" pitchFamily="34" charset="-120"/>
              </a:rPr>
              <a:t>USD 140</a:t>
            </a:r>
            <a:endParaRPr lang="en-US" sz="4800" dirty="0"/>
          </a:p>
        </p:txBody>
      </p:sp>
      <p:sp>
        <p:nvSpPr>
          <p:cNvPr id="9" name="Text 5"/>
          <p:cNvSpPr txBox="1"/>
          <p:nvPr/>
        </p:nvSpPr>
        <p:spPr>
          <a:xfrm>
            <a:off x="1051560" y="3840480"/>
            <a:ext cx="2834640" cy="68580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de ahorro contra USD 39 de costo</a:t>
            </a:r>
            <a:endParaRPr lang="en-US" sz="1700" dirty="0"/>
          </a:p>
        </p:txBody>
      </p:sp>
      <p:sp>
        <p:nvSpPr>
          <p:cNvPr id="10" name="Shape 6"/>
          <p:cNvSpPr/>
          <p:nvPr/>
        </p:nvSpPr>
        <p:spPr>
          <a:xfrm>
            <a:off x="4361688" y="1737360"/>
            <a:ext cx="3429000" cy="3017520"/>
          </a:xfrm>
          <a:prstGeom prst="roundRect">
            <a:avLst>
              <a:gd name="adj" fmla="val 4848"/>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1" name="Shape 7"/>
          <p:cNvSpPr/>
          <p:nvPr/>
        </p:nvSpPr>
        <p:spPr>
          <a:xfrm>
            <a:off x="4681728" y="2057400"/>
            <a:ext cx="566928" cy="566928"/>
          </a:xfrm>
          <a:prstGeom prst="ellipse">
            <a:avLst/>
          </a:prstGeom>
          <a:solidFill>
            <a:srgbClr val="EFE9FA"/>
          </a:solidFill>
          <a:ln w="12700">
            <a:solidFill>
              <a:srgbClr val="EFE9FA"/>
            </a:solidFill>
            <a:prstDash val="solid"/>
          </a:ln>
        </p:spPr>
      </p:sp>
      <p:pic>
        <p:nvPicPr>
          <p:cNvPr id="12" name="Image 2" descr="preencoded.png">    </p:cNvPr>
          <p:cNvPicPr>
            <a:picLocks noChangeAspect="1"/>
          </p:cNvPicPr>
          <p:nvPr/>
        </p:nvPicPr>
        <p:blipFill>
          <a:blip r:embed="rId3"/>
          <a:stretch>
            <a:fillRect/>
          </a:stretch>
        </p:blipFill>
        <p:spPr>
          <a:xfrm>
            <a:off x="4817791" y="2193463"/>
            <a:ext cx="294803" cy="294803"/>
          </a:xfrm>
          <a:prstGeom prst="rect">
            <a:avLst/>
          </a:prstGeom>
        </p:spPr>
      </p:pic>
      <p:sp>
        <p:nvSpPr>
          <p:cNvPr id="13" name="Text 8"/>
          <p:cNvSpPr txBox="1"/>
          <p:nvPr/>
        </p:nvSpPr>
        <p:spPr>
          <a:xfrm>
            <a:off x="5413248" y="2121408"/>
            <a:ext cx="2240280" cy="457200"/>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Poco al lado del sueldo</a:t>
            </a:r>
            <a:endParaRPr lang="en-US" sz="2000" dirty="0"/>
          </a:p>
        </p:txBody>
      </p:sp>
      <p:sp>
        <p:nvSpPr>
          <p:cNvPr id="14" name="Text 9"/>
          <p:cNvSpPr txBox="1"/>
          <p:nvPr/>
        </p:nvSpPr>
        <p:spPr>
          <a:xfrm>
            <a:off x="4681728" y="2926080"/>
            <a:ext cx="2834640" cy="822960"/>
          </a:xfrm>
          <a:prstGeom prst="rect">
            <a:avLst/>
          </a:prstGeom>
          <a:noFill/>
          <a:ln/>
        </p:spPr>
        <p:txBody>
          <a:bodyPr wrap="square" lIns="0" tIns="0" rIns="0" bIns="0" rtlCol="0" anchor="t"/>
          <a:lstStyle/>
          <a:p>
            <a:pPr indent="0" marL="0">
              <a:buNone/>
            </a:pPr>
            <a:r>
              <a:rPr lang="en-US" sz="4800" b="1" dirty="0">
                <a:solidFill>
                  <a:srgbClr val="6E52B0"/>
                </a:solidFill>
                <a:latin typeface="Arial" pitchFamily="34" charset="0"/>
                <a:ea typeface="Arial" pitchFamily="34" charset="-122"/>
                <a:cs typeface="Arial" pitchFamily="34" charset="-120"/>
              </a:rPr>
              <a:t>~4%</a:t>
            </a:r>
            <a:endParaRPr lang="en-US" sz="4800" dirty="0"/>
          </a:p>
        </p:txBody>
      </p:sp>
      <p:sp>
        <p:nvSpPr>
          <p:cNvPr id="15" name="Text 10"/>
          <p:cNvSpPr txBox="1"/>
          <p:nvPr/>
        </p:nvSpPr>
        <p:spPr>
          <a:xfrm>
            <a:off x="4681728" y="3840480"/>
            <a:ext cx="2834640" cy="68580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del sueldo de un junior</a:t>
            </a:r>
            <a:endParaRPr lang="en-US" sz="1700" dirty="0"/>
          </a:p>
        </p:txBody>
      </p:sp>
      <p:sp>
        <p:nvSpPr>
          <p:cNvPr id="16" name="Shape 11"/>
          <p:cNvSpPr/>
          <p:nvPr/>
        </p:nvSpPr>
        <p:spPr>
          <a:xfrm>
            <a:off x="7991856" y="1737360"/>
            <a:ext cx="3429000" cy="3017520"/>
          </a:xfrm>
          <a:prstGeom prst="roundRect">
            <a:avLst>
              <a:gd name="adj" fmla="val 4848"/>
            </a:avLst>
          </a:prstGeom>
          <a:solidFill>
            <a:srgbClr val="FBFAFD"/>
          </a:solidFill>
          <a:ln w="12700">
            <a:solidFill>
              <a:srgbClr val="E2DCEE"/>
            </a:solidFill>
            <a:prstDash val="solid"/>
          </a:ln>
          <a:effectLst>
            <a:outerShdw sx="100000" sy="100000" kx="0" ky="0" algn="bl" rotWithShape="0" blurRad="152400" dist="25400" dir="5400000">
              <a:srgbClr val="5B4A8A">
                <a:alpha val="10000"/>
              </a:srgbClr>
            </a:outerShdw>
          </a:effectLst>
        </p:spPr>
      </p:sp>
      <p:sp>
        <p:nvSpPr>
          <p:cNvPr id="17" name="Shape 12"/>
          <p:cNvSpPr/>
          <p:nvPr/>
        </p:nvSpPr>
        <p:spPr>
          <a:xfrm>
            <a:off x="8311896" y="2057400"/>
            <a:ext cx="566928" cy="566928"/>
          </a:xfrm>
          <a:prstGeom prst="ellipse">
            <a:avLst/>
          </a:prstGeom>
          <a:solidFill>
            <a:srgbClr val="EFE9FA"/>
          </a:solidFill>
          <a:ln w="12700">
            <a:solidFill>
              <a:srgbClr val="EFE9FA"/>
            </a:solidFill>
            <a:prstDash val="solid"/>
          </a:ln>
        </p:spPr>
      </p:sp>
      <p:pic>
        <p:nvPicPr>
          <p:cNvPr id="18" name="Image 3" descr="preencoded.png">    </p:cNvPr>
          <p:cNvPicPr>
            <a:picLocks noChangeAspect="1"/>
          </p:cNvPicPr>
          <p:nvPr/>
        </p:nvPicPr>
        <p:blipFill>
          <a:blip r:embed="rId4"/>
          <a:stretch>
            <a:fillRect/>
          </a:stretch>
        </p:blipFill>
        <p:spPr>
          <a:xfrm>
            <a:off x="8447959" y="2193463"/>
            <a:ext cx="294803" cy="294803"/>
          </a:xfrm>
          <a:prstGeom prst="rect">
            <a:avLst/>
          </a:prstGeom>
        </p:spPr>
      </p:pic>
      <p:sp>
        <p:nvSpPr>
          <p:cNvPr id="19" name="Text 13"/>
          <p:cNvSpPr txBox="1"/>
          <p:nvPr/>
        </p:nvSpPr>
        <p:spPr>
          <a:xfrm>
            <a:off x="9043416" y="2121408"/>
            <a:ext cx="2240280" cy="457200"/>
          </a:xfrm>
          <a:prstGeom prst="rect">
            <a:avLst/>
          </a:prstGeom>
          <a:noFill/>
          <a:ln/>
        </p:spPr>
        <p:txBody>
          <a:bodyPr wrap="square" lIns="0" tIns="0" rIns="0" bIns="0" rtlCol="0" anchor="ctr"/>
          <a:lstStyle/>
          <a:p>
            <a:pPr indent="0" marL="0">
              <a:buNone/>
            </a:pPr>
            <a:r>
              <a:rPr lang="en-US" sz="2000" b="1" dirty="0">
                <a:solidFill>
                  <a:srgbClr val="17161B"/>
                </a:solidFill>
                <a:latin typeface="Arial" pitchFamily="34" charset="0"/>
                <a:ea typeface="Arial" pitchFamily="34" charset="-122"/>
                <a:cs typeface="Arial" pitchFamily="34" charset="-120"/>
              </a:rPr>
              <a:t>Menos que la IA</a:t>
            </a:r>
            <a:endParaRPr lang="en-US" sz="2000" dirty="0"/>
          </a:p>
        </p:txBody>
      </p:sp>
      <p:sp>
        <p:nvSpPr>
          <p:cNvPr id="20" name="Text 14"/>
          <p:cNvSpPr txBox="1"/>
          <p:nvPr/>
        </p:nvSpPr>
        <p:spPr>
          <a:xfrm>
            <a:off x="8311896" y="2926080"/>
            <a:ext cx="2834640" cy="822960"/>
          </a:xfrm>
          <a:prstGeom prst="rect">
            <a:avLst/>
          </a:prstGeom>
          <a:noFill/>
          <a:ln/>
        </p:spPr>
        <p:txBody>
          <a:bodyPr wrap="square" lIns="0" tIns="0" rIns="0" bIns="0" rtlCol="0" anchor="t"/>
          <a:lstStyle/>
          <a:p>
            <a:pPr indent="0" marL="0">
              <a:buNone/>
            </a:pPr>
            <a:r>
              <a:rPr lang="en-US" sz="4800" b="1" dirty="0">
                <a:solidFill>
                  <a:srgbClr val="6E52B0"/>
                </a:solidFill>
                <a:latin typeface="Arial" pitchFamily="34" charset="0"/>
                <a:ea typeface="Arial" pitchFamily="34" charset="-122"/>
                <a:cs typeface="Arial" pitchFamily="34" charset="-120"/>
              </a:rPr>
              <a:t>&lt; $200</a:t>
            </a:r>
            <a:endParaRPr lang="en-US" sz="4800" dirty="0"/>
          </a:p>
        </p:txBody>
      </p:sp>
      <p:sp>
        <p:nvSpPr>
          <p:cNvPr id="21" name="Text 15"/>
          <p:cNvSpPr txBox="1"/>
          <p:nvPr/>
        </p:nvSpPr>
        <p:spPr>
          <a:xfrm>
            <a:off x="8311896" y="3840480"/>
            <a:ext cx="2834640" cy="685800"/>
          </a:xfrm>
          <a:prstGeom prst="rect">
            <a:avLst/>
          </a:prstGeom>
          <a:noFill/>
          <a:ln/>
        </p:spPr>
        <p:txBody>
          <a:bodyPr wrap="square" lIns="0" tIns="0" rIns="0" bIns="0" rtlCol="0" anchor="t"/>
          <a:lstStyle/>
          <a:p>
            <a:pPr indent="0" marL="0">
              <a:buNone/>
            </a:pPr>
            <a:r>
              <a:rPr lang="en-US" sz="1700" dirty="0">
                <a:solidFill>
                  <a:srgbClr val="5F5B6B"/>
                </a:solidFill>
                <a:latin typeface="Arial" pitchFamily="34" charset="0"/>
                <a:ea typeface="Arial" pitchFamily="34" charset="-122"/>
                <a:cs typeface="Arial" pitchFamily="34" charset="-120"/>
              </a:rPr>
              <a:t>lo que cuesta la IA que lo reemplazó</a:t>
            </a:r>
            <a:endParaRPr lang="en-US" sz="1700" dirty="0"/>
          </a:p>
        </p:txBody>
      </p:sp>
      <p:sp>
        <p:nvSpPr>
          <p:cNvPr id="22" name="Shape 16"/>
          <p:cNvSpPr/>
          <p:nvPr/>
        </p:nvSpPr>
        <p:spPr>
          <a:xfrm>
            <a:off x="731520" y="5120640"/>
            <a:ext cx="2331720" cy="502920"/>
          </a:xfrm>
          <a:prstGeom prst="roundRect">
            <a:avLst>
              <a:gd name="adj" fmla="val 49091"/>
            </a:avLst>
          </a:prstGeom>
          <a:solidFill>
            <a:srgbClr val="FFFFFF"/>
          </a:solidFill>
          <a:ln w="12700">
            <a:solidFill>
              <a:srgbClr val="CFC6E3"/>
            </a:solidFill>
            <a:prstDash val="solid"/>
          </a:ln>
        </p:spPr>
      </p:sp>
      <p:sp>
        <p:nvSpPr>
          <p:cNvPr id="23" name="Text 17"/>
          <p:cNvSpPr txBox="1"/>
          <p:nvPr/>
        </p:nvSpPr>
        <p:spPr>
          <a:xfrm>
            <a:off x="731520" y="5120640"/>
            <a:ext cx="2331720" cy="502920"/>
          </a:xfrm>
          <a:prstGeom prst="rect">
            <a:avLst/>
          </a:prstGeom>
          <a:noFill/>
          <a:ln/>
        </p:spPr>
        <p:txBody>
          <a:bodyPr wrap="square" lIns="0" tIns="0" rIns="0" bIns="0" rtlCol="0" anchor="ctr"/>
          <a:lstStyle/>
          <a:p>
            <a:pPr algn="ctr" indent="0" marL="0">
              <a:buNone/>
            </a:pPr>
            <a:r>
              <a:rPr lang="en-US" sz="1500" dirty="0">
                <a:solidFill>
                  <a:srgbClr val="17161B"/>
                </a:solidFill>
                <a:latin typeface="Arial" pitchFamily="34" charset="0"/>
                <a:ea typeface="Arial" pitchFamily="34" charset="-122"/>
                <a:cs typeface="Arial" pitchFamily="34" charset="-120"/>
              </a:rPr>
              <a:t>1 a 5 juniors  </a:t>
            </a:r>
            <a:pPr algn="ctr" indent="0" marL="0">
              <a:buNone/>
            </a:pPr>
            <a:r>
              <a:rPr lang="en-US" sz="1500" b="1" dirty="0">
                <a:solidFill>
                  <a:srgbClr val="6E52B0"/>
                </a:solidFill>
                <a:latin typeface="Arial" pitchFamily="34" charset="0"/>
                <a:ea typeface="Arial" pitchFamily="34" charset="-122"/>
                <a:cs typeface="Arial" pitchFamily="34" charset="-120"/>
              </a:rPr>
              <a:t>USD 39</a:t>
            </a:r>
            <a:endParaRPr lang="en-US" sz="1500" dirty="0"/>
          </a:p>
        </p:txBody>
      </p:sp>
      <p:sp>
        <p:nvSpPr>
          <p:cNvPr id="24" name="Shape 18"/>
          <p:cNvSpPr/>
          <p:nvPr/>
        </p:nvSpPr>
        <p:spPr>
          <a:xfrm>
            <a:off x="3246120" y="5120640"/>
            <a:ext cx="2331720" cy="502920"/>
          </a:xfrm>
          <a:prstGeom prst="roundRect">
            <a:avLst>
              <a:gd name="adj" fmla="val 49091"/>
            </a:avLst>
          </a:prstGeom>
          <a:solidFill>
            <a:srgbClr val="FFFFFF"/>
          </a:solidFill>
          <a:ln w="12700">
            <a:solidFill>
              <a:srgbClr val="CFC6E3"/>
            </a:solidFill>
            <a:prstDash val="solid"/>
          </a:ln>
        </p:spPr>
      </p:sp>
      <p:sp>
        <p:nvSpPr>
          <p:cNvPr id="25" name="Text 19"/>
          <p:cNvSpPr txBox="1"/>
          <p:nvPr/>
        </p:nvSpPr>
        <p:spPr>
          <a:xfrm>
            <a:off x="3246120" y="5120640"/>
            <a:ext cx="2331720" cy="502920"/>
          </a:xfrm>
          <a:prstGeom prst="rect">
            <a:avLst/>
          </a:prstGeom>
          <a:noFill/>
          <a:ln/>
        </p:spPr>
        <p:txBody>
          <a:bodyPr wrap="square" lIns="0" tIns="0" rIns="0" bIns="0" rtlCol="0" anchor="ctr"/>
          <a:lstStyle/>
          <a:p>
            <a:pPr algn="ctr" indent="0" marL="0">
              <a:buNone/>
            </a:pPr>
            <a:r>
              <a:rPr lang="en-US" sz="1500" dirty="0">
                <a:solidFill>
                  <a:srgbClr val="17161B"/>
                </a:solidFill>
                <a:latin typeface="Arial" pitchFamily="34" charset="0"/>
                <a:ea typeface="Arial" pitchFamily="34" charset="-122"/>
                <a:cs typeface="Arial" pitchFamily="34" charset="-120"/>
              </a:rPr>
              <a:t>6 a 20  </a:t>
            </a:r>
            <a:pPr algn="ctr" indent="0" marL="0">
              <a:buNone/>
            </a:pPr>
            <a:r>
              <a:rPr lang="en-US" sz="1500" b="1" dirty="0">
                <a:solidFill>
                  <a:srgbClr val="6E52B0"/>
                </a:solidFill>
                <a:latin typeface="Arial" pitchFamily="34" charset="0"/>
                <a:ea typeface="Arial" pitchFamily="34" charset="-122"/>
                <a:cs typeface="Arial" pitchFamily="34" charset="-120"/>
              </a:rPr>
              <a:t>USD 32</a:t>
            </a:r>
            <a:endParaRPr lang="en-US" sz="1500" dirty="0"/>
          </a:p>
        </p:txBody>
      </p:sp>
      <p:sp>
        <p:nvSpPr>
          <p:cNvPr id="26" name="Shape 20"/>
          <p:cNvSpPr/>
          <p:nvPr/>
        </p:nvSpPr>
        <p:spPr>
          <a:xfrm>
            <a:off x="5760720" y="5120640"/>
            <a:ext cx="2331720" cy="502920"/>
          </a:xfrm>
          <a:prstGeom prst="roundRect">
            <a:avLst>
              <a:gd name="adj" fmla="val 49091"/>
            </a:avLst>
          </a:prstGeom>
          <a:solidFill>
            <a:srgbClr val="FFFFFF"/>
          </a:solidFill>
          <a:ln w="12700">
            <a:solidFill>
              <a:srgbClr val="CFC6E3"/>
            </a:solidFill>
            <a:prstDash val="solid"/>
          </a:ln>
        </p:spPr>
      </p:sp>
      <p:sp>
        <p:nvSpPr>
          <p:cNvPr id="27" name="Text 21"/>
          <p:cNvSpPr txBox="1"/>
          <p:nvPr/>
        </p:nvSpPr>
        <p:spPr>
          <a:xfrm>
            <a:off x="5760720" y="5120640"/>
            <a:ext cx="2331720" cy="502920"/>
          </a:xfrm>
          <a:prstGeom prst="rect">
            <a:avLst/>
          </a:prstGeom>
          <a:noFill/>
          <a:ln/>
        </p:spPr>
        <p:txBody>
          <a:bodyPr wrap="square" lIns="0" tIns="0" rIns="0" bIns="0" rtlCol="0" anchor="ctr"/>
          <a:lstStyle/>
          <a:p>
            <a:pPr algn="ctr" indent="0" marL="0">
              <a:buNone/>
            </a:pPr>
            <a:r>
              <a:rPr lang="en-US" sz="1500" dirty="0">
                <a:solidFill>
                  <a:srgbClr val="17161B"/>
                </a:solidFill>
                <a:latin typeface="Arial" pitchFamily="34" charset="0"/>
                <a:ea typeface="Arial" pitchFamily="34" charset="-122"/>
                <a:cs typeface="Arial" pitchFamily="34" charset="-120"/>
              </a:rPr>
              <a:t>Más de 20  </a:t>
            </a:r>
            <a:pPr algn="ctr" indent="0" marL="0">
              <a:buNone/>
            </a:pPr>
            <a:r>
              <a:rPr lang="en-US" sz="1500" b="1" dirty="0">
                <a:solidFill>
                  <a:srgbClr val="6E52B0"/>
                </a:solidFill>
                <a:latin typeface="Arial" pitchFamily="34" charset="0"/>
                <a:ea typeface="Arial" pitchFamily="34" charset="-122"/>
                <a:cs typeface="Arial" pitchFamily="34" charset="-120"/>
              </a:rPr>
              <a:t>USD 25</a:t>
            </a:r>
            <a:endParaRPr lang="en-US" sz="1500" dirty="0"/>
          </a:p>
        </p:txBody>
      </p:sp>
      <p:sp>
        <p:nvSpPr>
          <p:cNvPr id="28" name="Text 22"/>
          <p:cNvSpPr txBox="1"/>
          <p:nvPr/>
        </p:nvSpPr>
        <p:spPr>
          <a:xfrm>
            <a:off x="731520" y="6080760"/>
            <a:ext cx="10789920" cy="320040"/>
          </a:xfrm>
          <a:prstGeom prst="rect">
            <a:avLst/>
          </a:prstGeom>
          <a:noFill/>
          <a:ln/>
        </p:spPr>
        <p:txBody>
          <a:bodyPr wrap="square" lIns="0" tIns="0" rIns="0" bIns="0" rtlCol="0" anchor="t"/>
          <a:lstStyle/>
          <a:p>
            <a:pPr indent="0" marL="0">
              <a:buNone/>
            </a:pPr>
            <a:r>
              <a:rPr lang="en-US" sz="1200" dirty="0">
                <a:solidFill>
                  <a:srgbClr val="5F5B6B"/>
                </a:solidFill>
                <a:latin typeface="Arial" pitchFamily="34" charset="0"/>
                <a:ea typeface="Arial" pitchFamily="34" charset="-122"/>
                <a:cs typeface="Arial" pitchFamily="34" charset="-120"/>
              </a:rPr>
              <a:t>Sueldos: medianas Sysarmy 2026.1 (senior $3.500.000 y junior $1.538.500 bruto por mes). Dólar oficial $1.545.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claude-0/-home-claude/d13c7265-f088-5db4-933a-3af5cafd5191/scratchpad/deck/img/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640080"/>
            <a:ext cx="10058400" cy="731520"/>
          </a:xfrm>
          <a:prstGeom prst="rect">
            <a:avLst/>
          </a:prstGeom>
          <a:noFill/>
          <a:ln/>
        </p:spPr>
        <p:txBody>
          <a:bodyPr wrap="square" lIns="0" tIns="0" rIns="0" bIns="0" rtlCol="0" anchor="t"/>
          <a:lstStyle/>
          <a:p>
            <a:pPr indent="0" marL="0">
              <a:buNone/>
            </a:pPr>
            <a:r>
              <a:rPr lang="en-US" sz="3800" b="1" dirty="0">
                <a:solidFill>
                  <a:srgbClr val="17161B"/>
                </a:solidFill>
                <a:latin typeface="Arial" pitchFamily="34" charset="0"/>
                <a:ea typeface="Arial" pitchFamily="34" charset="-122"/>
                <a:cs typeface="Arial" pitchFamily="34" charset="-120"/>
              </a:rPr>
              <a:t>Próximos pasos</a:t>
            </a:r>
            <a:endParaRPr lang="en-US" sz="3800" dirty="0"/>
          </a:p>
        </p:txBody>
      </p:sp>
      <p:sp>
        <p:nvSpPr>
          <p:cNvPr id="4" name="Shape 1"/>
          <p:cNvSpPr/>
          <p:nvPr/>
        </p:nvSpPr>
        <p:spPr>
          <a:xfrm>
            <a:off x="2011680" y="3017520"/>
            <a:ext cx="8138160" cy="0"/>
          </a:xfrm>
          <a:prstGeom prst="line">
            <a:avLst/>
          </a:prstGeom>
          <a:noFill/>
          <a:ln w="31750">
            <a:solidFill>
              <a:srgbClr val="9B7FD6"/>
            </a:solidFill>
            <a:prstDash val="dash"/>
          </a:ln>
        </p:spPr>
      </p:sp>
      <p:sp>
        <p:nvSpPr>
          <p:cNvPr id="5" name="Shape 2"/>
          <p:cNvSpPr/>
          <p:nvPr/>
        </p:nvSpPr>
        <p:spPr>
          <a:xfrm>
            <a:off x="1508760" y="2514600"/>
            <a:ext cx="1005840" cy="1005840"/>
          </a:xfrm>
          <a:prstGeom prst="ellipse">
            <a:avLst/>
          </a:prstGeom>
          <a:solidFill>
            <a:srgbClr val="FFFFFF"/>
          </a:solidFill>
          <a:ln w="25400">
            <a:solidFill>
              <a:srgbClr val="9B7FD6"/>
            </a:solidFill>
            <a:prstDash val="solid"/>
          </a:ln>
        </p:spPr>
      </p:sp>
      <p:pic>
        <p:nvPicPr>
          <p:cNvPr id="6" name="Image 1" descr="preencoded.png">    </p:cNvPr>
          <p:cNvPicPr>
            <a:picLocks noChangeAspect="1"/>
          </p:cNvPicPr>
          <p:nvPr/>
        </p:nvPicPr>
        <p:blipFill>
          <a:blip r:embed="rId2"/>
          <a:stretch>
            <a:fillRect/>
          </a:stretch>
        </p:blipFill>
        <p:spPr>
          <a:xfrm>
            <a:off x="1755648" y="2761488"/>
            <a:ext cx="512064" cy="512064"/>
          </a:xfrm>
          <a:prstGeom prst="rect">
            <a:avLst/>
          </a:prstGeom>
        </p:spPr>
      </p:pic>
      <p:sp>
        <p:nvSpPr>
          <p:cNvPr id="7" name="Text 3"/>
          <p:cNvSpPr txBox="1"/>
          <p:nvPr/>
        </p:nvSpPr>
        <p:spPr>
          <a:xfrm>
            <a:off x="365760" y="3794760"/>
            <a:ext cx="329184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1</a:t>
            </a:r>
            <a:endParaRPr lang="en-US" sz="1800" dirty="0"/>
          </a:p>
        </p:txBody>
      </p:sp>
      <p:sp>
        <p:nvSpPr>
          <p:cNvPr id="8" name="Text 4"/>
          <p:cNvSpPr txBox="1"/>
          <p:nvPr/>
        </p:nvSpPr>
        <p:spPr>
          <a:xfrm>
            <a:off x="365760" y="4206240"/>
            <a:ext cx="3291840" cy="1005840"/>
          </a:xfrm>
          <a:prstGeom prst="rect">
            <a:avLst/>
          </a:prstGeom>
          <a:noFill/>
          <a:ln/>
        </p:spPr>
        <p:txBody>
          <a:bodyPr wrap="square" lIns="0" tIns="0" rIns="0" bIns="0" rtlCol="0" anchor="t"/>
          <a:lstStyle/>
          <a:p>
            <a:pPr algn="ctr" indent="0" marL="0">
              <a:buNone/>
            </a:pPr>
            <a:r>
              <a:rPr lang="en-US" sz="2000" b="1" dirty="0">
                <a:solidFill>
                  <a:srgbClr val="17161B"/>
                </a:solidFill>
                <a:latin typeface="Arial" pitchFamily="34" charset="0"/>
                <a:ea typeface="Arial" pitchFamily="34" charset="-122"/>
                <a:cs typeface="Arial" pitchFamily="34" charset="-120"/>
              </a:rPr>
              <a:t>Piloto con empresas de San Miguel</a:t>
            </a:r>
            <a:endParaRPr lang="en-US" sz="2000" dirty="0"/>
          </a:p>
        </p:txBody>
      </p:sp>
      <p:sp>
        <p:nvSpPr>
          <p:cNvPr id="9" name="Shape 5"/>
          <p:cNvSpPr/>
          <p:nvPr/>
        </p:nvSpPr>
        <p:spPr>
          <a:xfrm>
            <a:off x="5577840" y="2514600"/>
            <a:ext cx="1005840" cy="1005840"/>
          </a:xfrm>
          <a:prstGeom prst="ellipse">
            <a:avLst/>
          </a:prstGeom>
          <a:solidFill>
            <a:srgbClr val="FFFFFF"/>
          </a:solidFill>
          <a:ln w="25400">
            <a:solidFill>
              <a:srgbClr val="9B7FD6"/>
            </a:solidFill>
            <a:prstDash val="solid"/>
          </a:ln>
        </p:spPr>
      </p:sp>
      <p:pic>
        <p:nvPicPr>
          <p:cNvPr id="10" name="Image 2" descr="preencoded.png">    </p:cNvPr>
          <p:cNvPicPr>
            <a:picLocks noChangeAspect="1"/>
          </p:cNvPicPr>
          <p:nvPr/>
        </p:nvPicPr>
        <p:blipFill>
          <a:blip r:embed="rId3"/>
          <a:stretch>
            <a:fillRect/>
          </a:stretch>
        </p:blipFill>
        <p:spPr>
          <a:xfrm>
            <a:off x="5824728" y="2761488"/>
            <a:ext cx="512064" cy="512064"/>
          </a:xfrm>
          <a:prstGeom prst="rect">
            <a:avLst/>
          </a:prstGeom>
        </p:spPr>
      </p:pic>
      <p:sp>
        <p:nvSpPr>
          <p:cNvPr id="11" name="Text 6"/>
          <p:cNvSpPr txBox="1"/>
          <p:nvPr/>
        </p:nvSpPr>
        <p:spPr>
          <a:xfrm>
            <a:off x="4434840" y="3794760"/>
            <a:ext cx="329184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2</a:t>
            </a:r>
            <a:endParaRPr lang="en-US" sz="1800" dirty="0"/>
          </a:p>
        </p:txBody>
      </p:sp>
      <p:sp>
        <p:nvSpPr>
          <p:cNvPr id="12" name="Text 7"/>
          <p:cNvSpPr txBox="1"/>
          <p:nvPr/>
        </p:nvSpPr>
        <p:spPr>
          <a:xfrm>
            <a:off x="4434840" y="4206240"/>
            <a:ext cx="3291840" cy="1005840"/>
          </a:xfrm>
          <a:prstGeom prst="rect">
            <a:avLst/>
          </a:prstGeom>
          <a:noFill/>
          <a:ln/>
        </p:spPr>
        <p:txBody>
          <a:bodyPr wrap="square" lIns="0" tIns="0" rIns="0" bIns="0" rtlCol="0" anchor="t"/>
          <a:lstStyle/>
          <a:p>
            <a:pPr algn="ctr" indent="0" marL="0">
              <a:buNone/>
            </a:pPr>
            <a:r>
              <a:rPr lang="en-US" sz="2000" b="1" dirty="0">
                <a:solidFill>
                  <a:srgbClr val="17161B"/>
                </a:solidFill>
                <a:latin typeface="Arial" pitchFamily="34" charset="0"/>
                <a:ea typeface="Arial" pitchFamily="34" charset="-122"/>
                <a:cs typeface="Arial" pitchFamily="34" charset="-120"/>
              </a:rPr>
              <a:t>Prácticas profesionales con UTN y UTEC</a:t>
            </a:r>
            <a:endParaRPr lang="en-US" sz="2000" dirty="0"/>
          </a:p>
        </p:txBody>
      </p:sp>
      <p:sp>
        <p:nvSpPr>
          <p:cNvPr id="13" name="Shape 8"/>
          <p:cNvSpPr/>
          <p:nvPr/>
        </p:nvSpPr>
        <p:spPr>
          <a:xfrm>
            <a:off x="9646920" y="2514600"/>
            <a:ext cx="1005840" cy="1005840"/>
          </a:xfrm>
          <a:prstGeom prst="ellipse">
            <a:avLst/>
          </a:prstGeom>
          <a:solidFill>
            <a:srgbClr val="FFFFFF"/>
          </a:solidFill>
          <a:ln w="25400">
            <a:solidFill>
              <a:srgbClr val="9B7FD6"/>
            </a:solidFill>
            <a:prstDash val="solid"/>
          </a:ln>
        </p:spPr>
      </p:sp>
      <p:pic>
        <p:nvPicPr>
          <p:cNvPr id="14" name="Image 3" descr="preencoded.png">    </p:cNvPr>
          <p:cNvPicPr>
            <a:picLocks noChangeAspect="1"/>
          </p:cNvPicPr>
          <p:nvPr/>
        </p:nvPicPr>
        <p:blipFill>
          <a:blip r:embed="rId4"/>
          <a:stretch>
            <a:fillRect/>
          </a:stretch>
        </p:blipFill>
        <p:spPr>
          <a:xfrm>
            <a:off x="9893808" y="2761488"/>
            <a:ext cx="512064" cy="512064"/>
          </a:xfrm>
          <a:prstGeom prst="rect">
            <a:avLst/>
          </a:prstGeom>
        </p:spPr>
      </p:pic>
      <p:sp>
        <p:nvSpPr>
          <p:cNvPr id="15" name="Text 9"/>
          <p:cNvSpPr txBox="1"/>
          <p:nvPr/>
        </p:nvSpPr>
        <p:spPr>
          <a:xfrm>
            <a:off x="8503920" y="3794760"/>
            <a:ext cx="3291840" cy="411480"/>
          </a:xfrm>
          <a:prstGeom prst="rect">
            <a:avLst/>
          </a:prstGeom>
          <a:noFill/>
          <a:ln/>
        </p:spPr>
        <p:txBody>
          <a:bodyPr wrap="square" lIns="0" tIns="0" rIns="0" bIns="0" rtlCol="0" anchor="t"/>
          <a:lstStyle/>
          <a:p>
            <a:pPr algn="ctr" indent="0" marL="0">
              <a:buNone/>
            </a:pPr>
            <a:r>
              <a:rPr lang="en-US" sz="1800" b="1" dirty="0">
                <a:solidFill>
                  <a:srgbClr val="6E52B0"/>
                </a:solidFill>
                <a:latin typeface="Arial" pitchFamily="34" charset="0"/>
                <a:ea typeface="Arial" pitchFamily="34" charset="-122"/>
                <a:cs typeface="Arial" pitchFamily="34" charset="-120"/>
              </a:rPr>
              <a:t>3</a:t>
            </a:r>
            <a:endParaRPr lang="en-US" sz="1800" dirty="0"/>
          </a:p>
        </p:txBody>
      </p:sp>
      <p:sp>
        <p:nvSpPr>
          <p:cNvPr id="16" name="Text 10"/>
          <p:cNvSpPr txBox="1"/>
          <p:nvPr/>
        </p:nvSpPr>
        <p:spPr>
          <a:xfrm>
            <a:off x="8503920" y="4206240"/>
            <a:ext cx="3291840" cy="1005840"/>
          </a:xfrm>
          <a:prstGeom prst="rect">
            <a:avLst/>
          </a:prstGeom>
          <a:noFill/>
          <a:ln/>
        </p:spPr>
        <p:txBody>
          <a:bodyPr wrap="square" lIns="0" tIns="0" rIns="0" bIns="0" rtlCol="0" anchor="t"/>
          <a:lstStyle/>
          <a:p>
            <a:pPr algn="ctr" indent="0" marL="0">
              <a:buNone/>
            </a:pPr>
            <a:r>
              <a:rPr lang="en-US" sz="2000" b="1" dirty="0">
                <a:solidFill>
                  <a:srgbClr val="17161B"/>
                </a:solidFill>
                <a:latin typeface="Arial" pitchFamily="34" charset="0"/>
                <a:ea typeface="Arial" pitchFamily="34" charset="-122"/>
                <a:cs typeface="Arial" pitchFamily="34" charset="-120"/>
              </a:rPr>
              <a:t>Más rubros y escenarios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claude-0/-home-claude/d13c7265-f088-5db4-933a-3af5cafd5191/scratchpad/deck/img/bg_center.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claude/d13c7265-f088-5db4-933a-3af5cafd5191/scratchpad/deck/img/orb.png">    </p:cNvPr>
          <p:cNvPicPr>
            <a:picLocks noChangeAspect="1"/>
          </p:cNvPicPr>
          <p:nvPr/>
        </p:nvPicPr>
        <p:blipFill>
          <a:blip r:embed="rId2"/>
          <a:stretch>
            <a:fillRect/>
          </a:stretch>
        </p:blipFill>
        <p:spPr>
          <a:xfrm>
            <a:off x="5090008" y="365760"/>
            <a:ext cx="2011680" cy="2011680"/>
          </a:xfrm>
          <a:prstGeom prst="rect">
            <a:avLst/>
          </a:prstGeom>
        </p:spPr>
      </p:pic>
      <p:sp>
        <p:nvSpPr>
          <p:cNvPr id="4" name="Text 0"/>
          <p:cNvSpPr txBox="1"/>
          <p:nvPr/>
        </p:nvSpPr>
        <p:spPr>
          <a:xfrm>
            <a:off x="457200" y="2514600"/>
            <a:ext cx="11277295" cy="1097280"/>
          </a:xfrm>
          <a:prstGeom prst="rect">
            <a:avLst/>
          </a:prstGeom>
          <a:noFill/>
          <a:ln/>
        </p:spPr>
        <p:txBody>
          <a:bodyPr wrap="square" lIns="0" tIns="0" rIns="0" bIns="0" rtlCol="0" anchor="t"/>
          <a:lstStyle/>
          <a:p>
            <a:pPr algn="ctr" indent="0" marL="0">
              <a:buNone/>
            </a:pPr>
            <a:r>
              <a:rPr lang="en-US" sz="6000" b="1" dirty="0">
                <a:solidFill>
                  <a:srgbClr val="17161B"/>
                </a:solidFill>
                <a:latin typeface="Arial" pitchFamily="34" charset="0"/>
                <a:ea typeface="Arial" pitchFamily="34" charset="-122"/>
                <a:cs typeface="Arial" pitchFamily="34" charset="-120"/>
              </a:rPr>
              <a:t>No hay senior sin </a:t>
            </a:r>
            <a:pPr algn="ctr" indent="0" marL="0">
              <a:buNone/>
            </a:pPr>
            <a:r>
              <a:rPr lang="en-US" sz="6000" b="1" dirty="0">
                <a:solidFill>
                  <a:srgbClr val="6E52B0"/>
                </a:solidFill>
                <a:latin typeface="Arial" pitchFamily="34" charset="0"/>
                <a:ea typeface="Arial" pitchFamily="34" charset="-122"/>
                <a:cs typeface="Arial" pitchFamily="34" charset="-120"/>
              </a:rPr>
              <a:t>junior.</a:t>
            </a:r>
            <a:endParaRPr lang="en-US" sz="6000" dirty="0"/>
          </a:p>
        </p:txBody>
      </p:sp>
      <p:sp>
        <p:nvSpPr>
          <p:cNvPr id="5" name="Text 1"/>
          <p:cNvSpPr txBox="1"/>
          <p:nvPr/>
        </p:nvSpPr>
        <p:spPr>
          <a:xfrm>
            <a:off x="1371600" y="3794760"/>
            <a:ext cx="9448495" cy="822960"/>
          </a:xfrm>
          <a:prstGeom prst="rect">
            <a:avLst/>
          </a:prstGeom>
          <a:noFill/>
          <a:ln/>
        </p:spPr>
        <p:txBody>
          <a:bodyPr wrap="square" lIns="0" tIns="0" rIns="0" bIns="0" rtlCol="0" anchor="t"/>
          <a:lstStyle/>
          <a:p>
            <a:pPr algn="ctr" indent="0" marL="0">
              <a:buNone/>
            </a:pPr>
            <a:r>
              <a:rPr lang="en-US" sz="2400" dirty="0">
                <a:solidFill>
                  <a:srgbClr val="5F5B6B"/>
                </a:solidFill>
                <a:latin typeface="Arial" pitchFamily="34" charset="0"/>
                <a:ea typeface="Arial" pitchFamily="34" charset="-122"/>
                <a:cs typeface="Arial" pitchFamily="34" charset="-120"/>
              </a:rPr>
              <a:t>Tutoring forma a los que vienen con el criterio de los que están.</a:t>
            </a:r>
            <a:endParaRPr lang="en-US" sz="2400" dirty="0"/>
          </a:p>
        </p:txBody>
      </p:sp>
      <p:pic>
        <p:nvPicPr>
          <p:cNvPr id="6" name="Image 2" descr="/tmp/claude-0/-home-claude/d13c7265-f088-5db4-933a-3af5cafd5191/scratchpad/deck/img/logo.png">    </p:cNvPr>
          <p:cNvPicPr>
            <a:picLocks noChangeAspect="1"/>
          </p:cNvPicPr>
          <p:nvPr/>
        </p:nvPicPr>
        <p:blipFill>
          <a:blip r:embed="rId3"/>
          <a:stretch>
            <a:fillRect/>
          </a:stretch>
        </p:blipFill>
        <p:spPr>
          <a:xfrm>
            <a:off x="4800600" y="5440680"/>
            <a:ext cx="502920" cy="502920"/>
          </a:xfrm>
          <a:prstGeom prst="rect">
            <a:avLst/>
          </a:prstGeom>
        </p:spPr>
      </p:pic>
      <p:sp>
        <p:nvSpPr>
          <p:cNvPr id="7" name="Text 2"/>
          <p:cNvSpPr txBox="1"/>
          <p:nvPr/>
        </p:nvSpPr>
        <p:spPr>
          <a:xfrm>
            <a:off x="5468112" y="5394960"/>
            <a:ext cx="3657600" cy="594360"/>
          </a:xfrm>
          <a:prstGeom prst="rect">
            <a:avLst/>
          </a:prstGeom>
          <a:noFill/>
          <a:ln/>
        </p:spPr>
        <p:txBody>
          <a:bodyPr wrap="square" lIns="0" tIns="0" rIns="0" bIns="0" rtlCol="0" anchor="ctr"/>
          <a:lstStyle/>
          <a:p>
            <a:pPr indent="0" marL="0">
              <a:buNone/>
            </a:pPr>
            <a:r>
              <a:rPr lang="en-US" sz="3000" b="1" dirty="0">
                <a:solidFill>
                  <a:srgbClr val="17161B"/>
                </a:solidFill>
                <a:latin typeface="Arial" pitchFamily="34" charset="0"/>
                <a:ea typeface="Arial" pitchFamily="34" charset="-122"/>
                <a:cs typeface="Arial" pitchFamily="34" charset="-120"/>
              </a:rPr>
              <a:t>Tutoring</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Tutoring</dc:title>
  <dc:subject>PptxGenJS Presentation</dc:subject>
  <dc:creator>PptxGenJS</dc:creator>
  <cp:lastModifiedBy>PptxGenJS</cp:lastModifiedBy>
  <cp:revision>1</cp:revision>
  <dcterms:created xsi:type="dcterms:W3CDTF">2026-09-30T02:40:09Z</dcterms:created>
  <dcterms:modified xsi:type="dcterms:W3CDTF">2026-09-30T02:40:09Z</dcterms:modified>
</cp:coreProperties>
</file>